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2"/>
  </p:notesMasterIdLst>
  <p:sldIdLst>
    <p:sldId id="256" r:id="rId2"/>
    <p:sldId id="451" r:id="rId3"/>
    <p:sldId id="492" r:id="rId4"/>
    <p:sldId id="453" r:id="rId5"/>
    <p:sldId id="454" r:id="rId6"/>
    <p:sldId id="455" r:id="rId7"/>
    <p:sldId id="493" r:id="rId8"/>
    <p:sldId id="494" r:id="rId9"/>
    <p:sldId id="461" r:id="rId10"/>
    <p:sldId id="462" r:id="rId11"/>
    <p:sldId id="463" r:id="rId12"/>
    <p:sldId id="464" r:id="rId13"/>
    <p:sldId id="465" r:id="rId14"/>
    <p:sldId id="487" r:id="rId15"/>
    <p:sldId id="467" r:id="rId16"/>
    <p:sldId id="468" r:id="rId17"/>
    <p:sldId id="488" r:id="rId18"/>
    <p:sldId id="469" r:id="rId19"/>
    <p:sldId id="470" r:id="rId20"/>
    <p:sldId id="471" r:id="rId21"/>
    <p:sldId id="472" r:id="rId22"/>
    <p:sldId id="495" r:id="rId23"/>
    <p:sldId id="474" r:id="rId24"/>
    <p:sldId id="475" r:id="rId25"/>
    <p:sldId id="477" r:id="rId26"/>
    <p:sldId id="480" r:id="rId27"/>
    <p:sldId id="481" r:id="rId28"/>
    <p:sldId id="265" r:id="rId29"/>
    <p:sldId id="269" r:id="rId30"/>
    <p:sldId id="270" r:id="rId31"/>
    <p:sldId id="272" r:id="rId32"/>
    <p:sldId id="273" r:id="rId33"/>
    <p:sldId id="275" r:id="rId34"/>
    <p:sldId id="276" r:id="rId35"/>
    <p:sldId id="278" r:id="rId36"/>
    <p:sldId id="280" r:id="rId37"/>
    <p:sldId id="281" r:id="rId38"/>
    <p:sldId id="282" r:id="rId39"/>
    <p:sldId id="284" r:id="rId40"/>
    <p:sldId id="285" r:id="rId41"/>
    <p:sldId id="286" r:id="rId42"/>
    <p:sldId id="290" r:id="rId43"/>
    <p:sldId id="291" r:id="rId44"/>
    <p:sldId id="292" r:id="rId45"/>
    <p:sldId id="294" r:id="rId46"/>
    <p:sldId id="296" r:id="rId47"/>
    <p:sldId id="298" r:id="rId48"/>
    <p:sldId id="299" r:id="rId49"/>
    <p:sldId id="300" r:id="rId50"/>
    <p:sldId id="301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58F944C-56E9-522C-8C15-A02ACC21C1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9B2C583-B19D-B4BD-7D98-9F2C6F04C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CE5BEB5-327B-63BB-48B4-5FA3F4ECF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B060D27-69B8-4000-8660-106B8A0E2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93AD1A9-989A-F1C3-D2B7-CC7545C886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40F4B50-5BD5-2F52-BD53-A5B8CC12C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42E27E6-04A2-5CBE-2E80-E1097B7F40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5D7C643-CF6B-C64A-A4D1-F2E321C56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81180AA-7D1D-F811-6283-306EB811B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3FDBDE6-A0DA-BE0D-231E-C0C1B58EB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DD677C0-52D3-63EF-0CE7-6104E3FF0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06A90BE-9C5B-F833-FD44-214878207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9825C15-A6CD-5B78-EFCD-4730FB6DA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10E7E5F-D971-D226-5AC8-E6AD8B6CE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DB1FA9D-27DE-0E58-5529-5A24E37F7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A984EEF-90AC-F8EA-7C67-67E41529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6D6A18C-32BB-AE9D-3D67-114484473C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E00741A-BFA2-E4A8-F4B1-56BDF2924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5291482-1771-7BC7-A3F0-8F95A6CD7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DD6E105-FB00-4844-95BA-95D50137D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2351FD3-8BE9-376D-4D03-46BFE6C6C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ACA33CE-DC48-F293-DEC6-01E2E29E1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65ACD61-C8CA-EA80-E223-E251E47BD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8AAFA8A-55C9-07C4-A888-3B1FC3BA0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61296B3-FE0C-759F-921F-106AD57EB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703CA7C-9B02-755C-DC99-84BD44CC9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9050ACD3-9AA4-7E68-A155-A159FAAF1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F9FF90F2-1369-1D86-11D6-5F28FA8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A4E68577-A048-261D-7CA7-8A2196661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19CA2B-56F1-493D-B88E-8802AC538AF1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15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80B32AD-D62A-2CE9-C27E-FEA3C9A62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96BA42C-D98B-C586-9C71-430B812C4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A25A6D7-E714-ADDE-9086-230A5C856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E632C40-C5CF-8893-090E-1906636C0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34BEA1D-BCF2-94D0-524A-A47763E68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0AF3349-6A0D-4AF2-CB7F-5839F8A7B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B853F36-2997-AE36-3729-B43D120DE9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2D59244-9C46-CB40-0859-9DB451CC5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FD73EF5-8FA3-2A93-BE8B-ACB7A67470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BBACE1C-D228-227C-E8C0-1774DCA38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7869159-368C-B769-DFB8-59625BD22B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E97BBD6-934F-9BCD-0CF0-69CE32F359E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7869159-368C-B769-DFB8-59625BD22B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E97BBD6-934F-9BCD-0CF0-69CE32F359E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20660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BAFFA2F-7993-632B-30D5-A6928B3FF9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23B0F6C-0547-B4D3-D504-0EFB6C26858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EB3D75A-BE2D-27F1-EEEA-8B1808BE8B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B788434-BF88-AD36-19DD-77D5FF0FB98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1017D780-725A-E419-86B1-947340D84E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31BDD82F-A897-D936-91A0-CD19D8CD4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2334FE4-457B-0F91-D091-BD8DE473C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27D3CA-9982-41A4-A072-6C0461B9AECC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25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BE1BB3A-EC01-C58E-1BCB-81942F3311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CCEEDE5-54CB-69F2-BB7D-6347220877C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CAC25E45-CE79-D00F-34C2-5BED9F24F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D64EF7CC-53D6-AA26-8367-253C024DB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18EBF640-F3A8-5CF3-C775-162BD8407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9F1A02C-103F-4527-A6E8-C9D1715CB6D6}" type="slidenum">
              <a:rPr kumimoji="0" lang="zh-TW" altLang="en-US">
                <a:latin typeface="Lucida Sans" panose="020B0602030504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27</a:t>
            </a:fld>
            <a:endParaRPr kumimoji="0" lang="en-US" altLang="zh-TW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E0CF830-C280-E8F3-877B-6923FAC4D9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EE73B35-587B-9F39-136A-332D0269A20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BE79FC1-0822-4BEC-E80D-7425C079A2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59FEE89-55E8-7567-366B-606C9D2276D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F6FA374-06F3-ADD9-C135-BD87FE9A67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453C993-544F-AD29-3E1B-A3B9AC4076B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B03CC53-DD10-22AD-A221-EEE154AD9B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392A98E-A1D9-46E4-6B39-4332BAD25AA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EC035CB-8C02-01FB-5544-B4EE50FA47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2818D37-D1BA-AC71-D5CF-307F05B662C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A0C6D9A-444F-D9BD-5C43-9E2093BF85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11F5AA7-E18C-2B31-D625-E8E70092271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BBC55B3-2B7E-29D5-18E9-BAD0E7FCF5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80DA064-5794-336D-35CF-134088A0751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C60A847-2DEB-02AA-D564-C400D899ED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3E7FC37-D4A8-D965-2C7F-C2689CD8E83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2DA662E-920A-CB03-D0C6-97F502F7A0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1C2A2DB-E992-8957-CBF1-520258A06F4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3A72C8F-3C1E-E7CB-2B6C-921EAC2319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53EF833-F0D7-2D9E-B1ED-0CD19B34ED8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E16333A-C7C4-E8D8-0240-116091EBA2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8133FBA-F4D4-BFA3-57D2-3673B57A72F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5C755DE-B18A-B67F-C0E6-3B508EE203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FC36ABAF-D7A3-602C-0A12-6EE17E4CFCA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796094D-F156-5CD1-9CFC-C8AD88FC16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0457943-9828-911C-05C2-E30C2180B83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DCC6485-DC54-DF8B-B06E-3339BADA0C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115A2F8-9D96-8AAA-786B-67D1377FC0E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B44CFB0-6F81-D4D8-A7F2-5024B1B139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1CEBC46-A232-48F3-2F24-D2C90B0E1C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241760B-1D47-B326-3927-513ADF05F5B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1551766-4CBA-E91E-52C1-71CCC27FDAC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639E718-F9CD-337F-0DA8-EAFE0A206D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62577C8B-D8A1-8FBE-D684-4329EDEBB68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88F2C11-A138-61C7-6E92-531B4D06A7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7430BAA-E18B-E7A1-1141-E6AA4E1F39B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D9B57C9-4685-CA3A-3286-965B635539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E0EE01D-4F82-37BC-3673-FE35F4673E2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E942BC0-3222-A971-42C8-035EC84744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544ED23-4112-7ABC-7D5E-9E2CE759EE5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F880857-046E-D704-0466-0B53D4F5F4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943B66DF-02E0-5840-0805-9429135D092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50CBD91-264A-7E8F-2293-766F7B3C8C8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4BE824AA-8DD6-1226-1A84-4AA82FBC5B6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D6E017F-4555-B6E4-7E9C-93D596F499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01EBA39-B8F6-F4C4-E273-4AB380A6185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15/01/2024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15/01/2024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15/01/2024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15/01/2024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15/01/2024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15/01/2024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15/01/2024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377248" cy="6273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4 – </a:t>
            </a:r>
            <a:r>
              <a:rPr lang="en-GB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space model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CFFD858-79F5-551D-3B30-E4929FDC2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Ranked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2902-49DB-4D24-C521-71F5D630F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0281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Thus far, our queries have all been Boolean.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Documents either match or don’t.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 Good for expert users with precise understanding of their needs and the collection.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Not good for the majority of users.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Most users incapable of writing Boolean queries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Most users don’t want to wade through 1000s of results.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BEE066BE-068E-A8E8-7A9F-F150AB4DB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Ch.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F1D0740-4FE5-D86B-8922-47058A3E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Ranked retrieval models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97D9229-AC89-ADEC-E88E-D85CA5830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390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ranked retrieval models</a:t>
            </a:r>
            <a:r>
              <a:rPr lang="en-US" altLang="zh-TW" dirty="0">
                <a:ea typeface="ＭＳ Ｐゴシック" panose="020B0600070205080204" pitchFamily="34" charset="-128"/>
              </a:rPr>
              <a:t>, the system returns an </a:t>
            </a:r>
            <a:r>
              <a:rPr lang="en-US" altLang="zh-TW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ordering</a:t>
            </a:r>
            <a:r>
              <a:rPr lang="en-US" altLang="zh-TW" dirty="0">
                <a:ea typeface="ＭＳ Ｐゴシック" panose="020B0600070205080204" pitchFamily="34" charset="-128"/>
              </a:rPr>
              <a:t> over the (top) documents in the collection with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respect to a query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 Free text queries</a:t>
            </a:r>
            <a:r>
              <a:rPr lang="en-US" altLang="zh-TW" dirty="0">
                <a:ea typeface="ＭＳ Ｐゴシック" panose="020B0600070205080204" pitchFamily="34" charset="-128"/>
              </a:rPr>
              <a:t>: the user’s query is just one or more words in a </a:t>
            </a:r>
            <a:r>
              <a:rPr lang="en-US" altLang="zh-TW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human language.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 principle, there are two separate choices here, but in practice, ranked retrieval models have normally been associated with free text queries and vice versa.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38861E1C-89A2-E0EA-9523-83BC9BDC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E65D84-A011-48E3-AAD7-BAF723B5E8DE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0D765AA-6EAB-ECC0-A8C8-74057EA1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Scoring as the basis of ranked retrieval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39DDAD62-8F8F-1E79-972F-2FD06855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wish to return in order the documents most likely to be useful to the searcher.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How can we rank-order the documents in the collection with respect to a query?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Assign a score – say in [0, 1] – to each document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This score measures how well document and query “match”.</a:t>
            </a:r>
          </a:p>
        </p:txBody>
      </p:sp>
      <p:sp>
        <p:nvSpPr>
          <p:cNvPr id="22532" name="TextBox 4">
            <a:extLst>
              <a:ext uri="{FF2B5EF4-FFF2-40B4-BE49-F238E27FC236}">
                <a16:creationId xmlns:a16="http://schemas.microsoft.com/office/drawing/2014/main" id="{9B3C5997-F795-8164-C8F8-13F5C1156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Ch.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D8A232B-E789-485F-E4F2-4DA4E184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- document matching scores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2ED53B02-865D-574D-77A4-3F3BFFD1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need a way of assigning a score to a query/document pair.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Let’s start with a one-term query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If the query term does not occur in the document: score should be 0.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The more frequent the query term in the document, the higher the score (should be).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will look at a number of alternatives for this.</a:t>
            </a:r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6EBB0512-BA9D-B54E-9D52-B7846A48A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Ch.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28765AC-D9A8-9661-FEA1-983D466D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Take 1: Jaccard coefficient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B935A72-52B7-EDCD-7D2E-34E7FB71F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7921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commonly used measure of overlap of two sets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B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(A,B) =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∩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B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 / |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∪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B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(A,A) =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(A,B) =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if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∩ B =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 A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B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don’t have to be the same size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Always assigns a number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between 0 and 1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26628" name="TextBox 4">
            <a:extLst>
              <a:ext uri="{FF2B5EF4-FFF2-40B4-BE49-F238E27FC236}">
                <a16:creationId xmlns:a16="http://schemas.microsoft.com/office/drawing/2014/main" id="{EE9B3233-C20E-7027-F7E1-D656FD529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Ch.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0CD79E3-529C-8BEC-8E77-375AD1E255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Issues with Jaccard for scoring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409ECFD-983B-CC80-C9F6-48AD98ED90C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97280" y="1845733"/>
            <a:ext cx="10058400" cy="427128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It doesn’t consider </a:t>
            </a:r>
            <a:r>
              <a:rPr lang="en-US" altLang="zh-TW" sz="2800" i="1" dirty="0">
                <a:solidFill>
                  <a:srgbClr val="357E6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term frequency </a:t>
            </a: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(how many times a term occurs in a document).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Rare terms in a collection are more informative than frequent terms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Jaccard doesn’t consider this information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We need a more sophisticated way of normalizing for length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We’ll use 			instead of |A ∩ B|/|A ∪ B|.</a:t>
            </a:r>
            <a:endParaRPr lang="zh-TW" altLang="en-US" sz="24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30724" name="Object 2">
            <a:extLst>
              <a:ext uri="{FF2B5EF4-FFF2-40B4-BE49-F238E27FC236}">
                <a16:creationId xmlns:a16="http://schemas.microsoft.com/office/drawing/2014/main" id="{905370F1-8259-8785-2DCD-D52F4025F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974898"/>
              </p:ext>
            </p:extLst>
          </p:nvPr>
        </p:nvGraphicFramePr>
        <p:xfrm>
          <a:off x="2643353" y="5079124"/>
          <a:ext cx="2096813" cy="41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800" imgH="254000" progId="Equation.3">
                  <p:embed/>
                </p:oleObj>
              </mc:Choice>
              <mc:Fallback>
                <p:oleObj name="Equation" r:id="rId3" imgW="1193800" imgH="254000" progId="Equation.3">
                  <p:embed/>
                  <p:pic>
                    <p:nvPicPr>
                      <p:cNvPr id="30724" name="Object 2">
                        <a:extLst>
                          <a:ext uri="{FF2B5EF4-FFF2-40B4-BE49-F238E27FC236}">
                            <a16:creationId xmlns:a16="http://schemas.microsoft.com/office/drawing/2014/main" id="{905370F1-8259-8785-2DCD-D52F4025F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353" y="5079124"/>
                        <a:ext cx="2096813" cy="411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189E08D-59DD-E88D-0298-30ACD4192C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4"/>
            <a:ext cx="10058400" cy="901066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Bag of words model (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BoW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5E6D4D9-CF10-9D85-01AF-315F21AE396D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Vector representation doesn’t consider the ordering of words in a document.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i="1" dirty="0">
                <a:solidFill>
                  <a:srgbClr val="357E6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John is quicker than Mary</a:t>
            </a:r>
            <a:r>
              <a:rPr lang="en-US" altLang="zh-TW" sz="2400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and </a:t>
            </a:r>
            <a:r>
              <a:rPr lang="en-US" altLang="zh-TW" sz="2400" i="1" dirty="0">
                <a:solidFill>
                  <a:srgbClr val="357E6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Mary is quicker than John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have the same vectors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This is called the </a:t>
            </a:r>
            <a:r>
              <a:rPr lang="en-US" altLang="zh-TW" sz="2800" u="sng" dirty="0">
                <a:solidFill>
                  <a:schemeClr val="hlink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bag of words</a:t>
            </a:r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model.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 a sense, this is a step back: The positional index was able to distinguish these two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9663DADF-5C81-5CE0-DE13-18A9CBB3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Term frequency 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tf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33066-0087-C305-4A1D-5ABE79946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term frequency </a:t>
            </a:r>
            <a:r>
              <a:rPr lang="en-US" altLang="zh-TW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tf</a:t>
            </a:r>
            <a:r>
              <a:rPr lang="en-US" altLang="zh-TW" i="1" baseline="-25000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t,d</a:t>
            </a:r>
            <a:r>
              <a:rPr lang="en-US" altLang="zh-TW" dirty="0">
                <a:ea typeface="ＭＳ Ｐゴシック" panose="020B0600070205080204" pitchFamily="34" charset="-128"/>
              </a:rPr>
              <a:t> of term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in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document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ea typeface="ＭＳ Ｐゴシック" panose="020B0600070205080204" pitchFamily="34" charset="-128"/>
              </a:rPr>
              <a:t> is defined as the number of times that </a:t>
            </a:r>
            <a:r>
              <a:rPr lang="en-US" altLang="zh-TW" i="1" dirty="0">
                <a:ea typeface="ＭＳ Ｐゴシック" panose="020B0600070205080204" pitchFamily="34" charset="-128"/>
              </a:rPr>
              <a:t>t </a:t>
            </a:r>
            <a:r>
              <a:rPr lang="en-US" altLang="zh-TW" dirty="0">
                <a:ea typeface="ＭＳ Ｐゴシック" panose="020B0600070205080204" pitchFamily="34" charset="-128"/>
              </a:rPr>
              <a:t>occurs in </a:t>
            </a:r>
            <a:r>
              <a:rPr lang="en-US" altLang="zh-TW" i="1" dirty="0"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We want to use 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tf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when computing query-document match scores. But how?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Raw term frequency is not what we want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 document with 10 occurrences of the term is more relevant than a document with 1 occurrence of the term butut not 10 times more relevant.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Relevance does not increase proportionally with term frequency.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8C4EE1E-6DD3-1EE5-9357-DD9020F1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Log-frequency weighting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3778E9B7-099B-AD9F-ECCB-61E94473F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log frequency weight of term t in d is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0 → 0, 1 → 1, 2 → 1.3, 10 → 2, 1000 → 4, etc.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Score for a document-query pair: sum over terms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in both </a:t>
            </a:r>
            <a:r>
              <a:rPr lang="en-US" altLang="zh-TW" i="1" dirty="0">
                <a:ea typeface="ＭＳ Ｐゴシック" panose="020B0600070205080204" pitchFamily="34" charset="-128"/>
              </a:rPr>
              <a:t>q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ea typeface="ＭＳ Ｐゴシック" panose="020B0600070205080204" pitchFamily="34" charset="-128"/>
              </a:rPr>
              <a:t>: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marL="201168" lvl="1" indent="0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3300" dirty="0">
                <a:ea typeface="ＭＳ Ｐゴシック" panose="020B0600070205080204" pitchFamily="34" charset="-128"/>
              </a:rPr>
              <a:t>score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>
                <a:ea typeface="ＭＳ Ｐゴシック" panose="020B0600070205080204" pitchFamily="34" charset="-128"/>
              </a:rPr>
              <a:t>The </a:t>
            </a:r>
            <a:r>
              <a:rPr lang="en-US" altLang="zh-TW" dirty="0">
                <a:ea typeface="ＭＳ Ｐゴシック" panose="020B0600070205080204" pitchFamily="34" charset="-128"/>
              </a:rPr>
              <a:t>score is 0 if none of the query terms is present in the document.</a:t>
            </a:r>
          </a:p>
        </p:txBody>
      </p:sp>
      <p:graphicFrame>
        <p:nvGraphicFramePr>
          <p:cNvPr id="40964" name="Object 2">
            <a:extLst>
              <a:ext uri="{FF2B5EF4-FFF2-40B4-BE49-F238E27FC236}">
                <a16:creationId xmlns:a16="http://schemas.microsoft.com/office/drawing/2014/main" id="{F59557EB-F2FA-D78A-B31C-7161AF2BB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753355"/>
              </p:ext>
            </p:extLst>
          </p:nvPr>
        </p:nvGraphicFramePr>
        <p:xfrm>
          <a:off x="1605017" y="2514600"/>
          <a:ext cx="5321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200" imgH="457200" progId="Equation.3">
                  <p:embed/>
                </p:oleObj>
              </mc:Choice>
              <mc:Fallback>
                <p:oleObj name="Equation" r:id="rId3" imgW="2108200" imgH="457200" progId="Equation.3">
                  <p:embed/>
                  <p:pic>
                    <p:nvPicPr>
                      <p:cNvPr id="40964" name="Object 2">
                        <a:extLst>
                          <a:ext uri="{FF2B5EF4-FFF2-40B4-BE49-F238E27FC236}">
                            <a16:creationId xmlns:a16="http://schemas.microsoft.com/office/drawing/2014/main" id="{F59557EB-F2FA-D78A-B31C-7161AF2BB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017" y="2514600"/>
                        <a:ext cx="5321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3">
            <a:extLst>
              <a:ext uri="{FF2B5EF4-FFF2-40B4-BE49-F238E27FC236}">
                <a16:creationId xmlns:a16="http://schemas.microsoft.com/office/drawing/2014/main" id="{998B766D-8B58-94AB-B810-9D284D5E5C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886830"/>
              </p:ext>
            </p:extLst>
          </p:nvPr>
        </p:nvGraphicFramePr>
        <p:xfrm>
          <a:off x="2212428" y="4539648"/>
          <a:ext cx="3538538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900" imgH="279400" progId="Equation.3">
                  <p:embed/>
                </p:oleObj>
              </mc:Choice>
              <mc:Fallback>
                <p:oleObj name="Equation" r:id="rId5" imgW="1358900" imgH="279400" progId="Equation.3">
                  <p:embed/>
                  <p:pic>
                    <p:nvPicPr>
                      <p:cNvPr id="40965" name="Object 3">
                        <a:extLst>
                          <a:ext uri="{FF2B5EF4-FFF2-40B4-BE49-F238E27FC236}">
                            <a16:creationId xmlns:a16="http://schemas.microsoft.com/office/drawing/2014/main" id="{998B766D-8B58-94AB-B810-9D284D5E5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428" y="4539648"/>
                        <a:ext cx="3538538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Box 4">
            <a:extLst>
              <a:ext uri="{FF2B5EF4-FFF2-40B4-BE49-F238E27FC236}">
                <a16:creationId xmlns:a16="http://schemas.microsoft.com/office/drawing/2014/main" id="{71AF4AA7-9FA1-9C0A-FB42-089F2B06D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FD7DBBB0-CCC6-8C27-66F4-381E9C41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118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Document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4758-E1E8-C24B-1054-6DFFA4B5C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52600"/>
            <a:ext cx="9936480" cy="4416972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Rare terms are more informative than frequent terms.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Consider a term in the query that is rare in the collection (e.g., 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arachnocentric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)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 document containing this term is very likely to be relevant to the query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arachnocentric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We want a high weight for rare terms like </a:t>
            </a:r>
            <a:r>
              <a:rPr lang="en-US" altLang="zh-TW" i="1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arachnocentric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43012" name="TextBox 4">
            <a:extLst>
              <a:ext uri="{FF2B5EF4-FFF2-40B4-BE49-F238E27FC236}">
                <a16:creationId xmlns:a16="http://schemas.microsoft.com/office/drawing/2014/main" id="{BB6D39D3-AE6C-423B-17BA-BCC25FEBA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53C11CA-C83D-4907-51EB-2E805EFA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Document frequency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5FC70BC-DA8F-BE3E-D241-479A87093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1332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Consider a query term that is frequent in the collection (e.g., </a:t>
            </a:r>
            <a:r>
              <a:rPr lang="en-US" altLang="zh-TW" i="1" dirty="0">
                <a:ea typeface="ＭＳ Ｐゴシック" panose="020B0600070205080204" pitchFamily="34" charset="-128"/>
              </a:rPr>
              <a:t>high, increase, line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 document containing such a term is more likely to be relevant than a document that doesn’t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But it’s not a sure indicator of relevance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For frequent terms, we want high positive weights for words like </a:t>
            </a:r>
            <a:r>
              <a:rPr lang="en-US" altLang="zh-TW" i="1" dirty="0">
                <a:ea typeface="ＭＳ Ｐゴシック" panose="020B0600070205080204" pitchFamily="34" charset="-128"/>
              </a:rPr>
              <a:t>high, increase, and line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But lower weights than for rare terms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will use document frequency (</a:t>
            </a:r>
            <a:r>
              <a:rPr lang="en-US" altLang="zh-TW" dirty="0" err="1">
                <a:ea typeface="ＭＳ Ｐゴシック" panose="020B0600070205080204" pitchFamily="34" charset="-128"/>
              </a:rPr>
              <a:t>df</a:t>
            </a:r>
            <a:r>
              <a:rPr lang="en-US" altLang="zh-TW" dirty="0">
                <a:ea typeface="ＭＳ Ｐゴシック" panose="020B0600070205080204" pitchFamily="34" charset="-128"/>
              </a:rPr>
              <a:t>) to capture this.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5060" name="TextBox 4">
            <a:extLst>
              <a:ext uri="{FF2B5EF4-FFF2-40B4-BE49-F238E27FC236}">
                <a16:creationId xmlns:a16="http://schemas.microsoft.com/office/drawing/2014/main" id="{EDD37200-A5DA-9B51-5C56-D822ADAA1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3D293AD-E4DF-107B-BED1-F9BF62D1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weight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93A61B34-7E73-D7DA-9370-8E47BBB3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 err="1">
                <a:ea typeface="ＭＳ Ｐゴシック" panose="020B0600070205080204" pitchFamily="34" charset="-128"/>
              </a:rPr>
              <a:t>df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is the </a:t>
            </a:r>
            <a:r>
              <a:rPr lang="en-US" altLang="zh-TW" u="sng" dirty="0">
                <a:ea typeface="ＭＳ Ｐゴシック" panose="020B0600070205080204" pitchFamily="34" charset="-128"/>
              </a:rPr>
              <a:t>document frequency</a:t>
            </a:r>
            <a:r>
              <a:rPr lang="en-US" altLang="zh-TW" dirty="0">
                <a:ea typeface="ＭＳ Ｐゴシック" panose="020B0600070205080204" pitchFamily="34" charset="-128"/>
              </a:rPr>
              <a:t> of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: the number of documents that contain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ea typeface="ＭＳ Ｐゴシック" panose="020B0600070205080204" pitchFamily="34" charset="-128"/>
              </a:rPr>
              <a:t>df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is an inverse measure of the informativeness of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ea typeface="ＭＳ Ｐゴシック" panose="020B0600070205080204" pitchFamily="34" charset="-128"/>
              </a:rPr>
              <a:t>df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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define the </a:t>
            </a:r>
            <a:r>
              <a:rPr lang="en-US" altLang="zh-TW" dirty="0" err="1"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ea typeface="ＭＳ Ｐゴシック" panose="020B0600070205080204" pitchFamily="34" charset="-128"/>
              </a:rPr>
              <a:t> (inverse document frequency) of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by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7108" name="Object 2">
            <a:extLst>
              <a:ext uri="{FF2B5EF4-FFF2-40B4-BE49-F238E27FC236}">
                <a16:creationId xmlns:a16="http://schemas.microsoft.com/office/drawing/2014/main" id="{1B055259-0213-A8E2-C969-F5F700E66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987056"/>
              </p:ext>
            </p:extLst>
          </p:nvPr>
        </p:nvGraphicFramePr>
        <p:xfrm>
          <a:off x="1324303" y="4944143"/>
          <a:ext cx="2782284" cy="550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700" imgH="228600" progId="Equation.3">
                  <p:embed/>
                </p:oleObj>
              </mc:Choice>
              <mc:Fallback>
                <p:oleObj name="Equation" r:id="rId3" imgW="1155700" imgH="228600" progId="Equation.3">
                  <p:embed/>
                  <p:pic>
                    <p:nvPicPr>
                      <p:cNvPr id="47108" name="Object 2">
                        <a:extLst>
                          <a:ext uri="{FF2B5EF4-FFF2-40B4-BE49-F238E27FC236}">
                            <a16:creationId xmlns:a16="http://schemas.microsoft.com/office/drawing/2014/main" id="{1B055259-0213-A8E2-C969-F5F700E66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303" y="4944143"/>
                        <a:ext cx="2782284" cy="550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TextBox 4">
            <a:extLst>
              <a:ext uri="{FF2B5EF4-FFF2-40B4-BE49-F238E27FC236}">
                <a16:creationId xmlns:a16="http://schemas.microsoft.com/office/drawing/2014/main" id="{96435347-4DB3-BDA8-4974-00F328913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41542F3F-9A8E-7B93-2081-4806089B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Effect of 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on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079E-7A52-A6C5-3D6F-AE7A5FD2C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Does </a:t>
            </a:r>
            <a:r>
              <a:rPr lang="en-US" altLang="zh-TW" dirty="0" err="1"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ea typeface="ＭＳ Ｐゴシック" panose="020B0600070205080204" pitchFamily="34" charset="-128"/>
              </a:rPr>
              <a:t> have an effect on ranking for one-term queries, like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iPhone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has no effect on ranking one term queries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affects</a:t>
            </a:r>
            <a:r>
              <a:rPr lang="en-US" altLang="zh-TW" dirty="0">
                <a:ea typeface="ＭＳ Ｐゴシック" panose="020B0600070205080204" pitchFamily="34" charset="-128"/>
              </a:rPr>
              <a:t> the ranking of documents for queries with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at least two terms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For the query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capricious person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  <a:r>
              <a:rPr lang="en-US" altLang="zh-TW" dirty="0" err="1"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ea typeface="ＭＳ Ｐゴシック" panose="020B0600070205080204" pitchFamily="34" charset="-128"/>
              </a:rPr>
              <a:t> weighting makes occurrences of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capricious</a:t>
            </a:r>
            <a:r>
              <a:rPr lang="en-US" altLang="zh-TW" dirty="0">
                <a:ea typeface="ＭＳ Ｐゴシック" panose="020B0600070205080204" pitchFamily="34" charset="-128"/>
              </a:rPr>
              <a:t> count for much more in the final document ranking than occurrences of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person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70711160-F11C-927B-3A07-384E7B5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0F0D6E-352D-4BF1-BD58-9ED22C62E3D2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ADB21AAE-6454-7AD8-6E71-3467FD69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5798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Collection vs. Document frequency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D1973EF-5734-1A19-BD68-D085FA359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676400"/>
            <a:ext cx="10058399" cy="4876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collection frequency of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is the number of occurrences of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r>
              <a:rPr lang="en-US" altLang="zh-TW" dirty="0">
                <a:ea typeface="ＭＳ Ｐゴシック" panose="020B0600070205080204" pitchFamily="34" charset="-128"/>
              </a:rPr>
              <a:t> in the collection, counting multiple occurrences.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Example: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Which word is a better search term (and should get a higher weight)?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1CFDDC-A911-B9FE-074C-68AB966AB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244729"/>
              </p:ext>
            </p:extLst>
          </p:nvPr>
        </p:nvGraphicFramePr>
        <p:xfrm>
          <a:off x="2583178" y="3429000"/>
          <a:ext cx="7086600" cy="22225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5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Collection frequency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Document frequency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insurance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8760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270" name="TextBox 4">
            <a:extLst>
              <a:ext uri="{FF2B5EF4-FFF2-40B4-BE49-F238E27FC236}">
                <a16:creationId xmlns:a16="http://schemas.microsoft.com/office/drawing/2014/main" id="{D380C792-7E85-DAC3-5F80-1374B694A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E54A3190-FF78-D8A6-DD57-9B2298C8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tf-idf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weighting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BE87C91E-45D1-A7EE-CF34-BBD1600C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69" y="1752600"/>
            <a:ext cx="10058400" cy="48768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</a:t>
            </a:r>
            <a:r>
              <a:rPr lang="en-US" altLang="zh-TW" dirty="0" err="1">
                <a:ea typeface="ＭＳ Ｐゴシック" panose="020B0600070205080204" pitchFamily="34" charset="-128"/>
              </a:rPr>
              <a:t>tf-idf</a:t>
            </a:r>
            <a:r>
              <a:rPr lang="en-US" altLang="zh-TW" dirty="0">
                <a:ea typeface="ＭＳ Ｐゴシック" panose="020B0600070205080204" pitchFamily="34" charset="-128"/>
              </a:rPr>
              <a:t> weight of a term is the product of its </a:t>
            </a:r>
            <a:r>
              <a:rPr lang="en-US" altLang="zh-TW" dirty="0" err="1">
                <a:ea typeface="ＭＳ Ｐゴシック" panose="020B0600070205080204" pitchFamily="34" charset="-128"/>
              </a:rPr>
              <a:t>tf</a:t>
            </a:r>
            <a:r>
              <a:rPr lang="en-US" altLang="zh-TW" dirty="0">
                <a:ea typeface="ＭＳ Ｐゴシック" panose="020B0600070205080204" pitchFamily="34" charset="-128"/>
              </a:rPr>
              <a:t> weight and its </a:t>
            </a:r>
            <a:r>
              <a:rPr lang="en-US" altLang="zh-TW" dirty="0" err="1"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ea typeface="ＭＳ Ｐゴシック" panose="020B0600070205080204" pitchFamily="34" charset="-128"/>
              </a:rPr>
              <a:t> weight.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Best known weighting scheme in information retrieval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Alternative names: 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tf.idf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tf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x 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idf</a:t>
            </a:r>
            <a:endParaRPr lang="en-US" altLang="zh-TW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Increases with the number of occurrences within a document.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Increases with the rarity of the term in the collection</a:t>
            </a:r>
          </a:p>
        </p:txBody>
      </p:sp>
      <p:graphicFrame>
        <p:nvGraphicFramePr>
          <p:cNvPr id="55300" name="Object 2">
            <a:extLst>
              <a:ext uri="{FF2B5EF4-FFF2-40B4-BE49-F238E27FC236}">
                <a16:creationId xmlns:a16="http://schemas.microsoft.com/office/drawing/2014/main" id="{F5D8B2DC-02A0-845F-3BE3-CD78DFAEC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254444"/>
              </p:ext>
            </p:extLst>
          </p:nvPr>
        </p:nvGraphicFramePr>
        <p:xfrm>
          <a:off x="1502979" y="2675761"/>
          <a:ext cx="5549462" cy="672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500" imgH="254000" progId="Equation.3">
                  <p:embed/>
                </p:oleObj>
              </mc:Choice>
              <mc:Fallback>
                <p:oleObj name="Equation" r:id="rId3" imgW="2095500" imgH="254000" progId="Equation.3">
                  <p:embed/>
                  <p:pic>
                    <p:nvPicPr>
                      <p:cNvPr id="55300" name="Object 2">
                        <a:extLst>
                          <a:ext uri="{FF2B5EF4-FFF2-40B4-BE49-F238E27FC236}">
                            <a16:creationId xmlns:a16="http://schemas.microsoft.com/office/drawing/2014/main" id="{F5D8B2DC-02A0-845F-3BE3-CD78DFAEC9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979" y="2675761"/>
                        <a:ext cx="5549462" cy="672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Box 4">
            <a:extLst>
              <a:ext uri="{FF2B5EF4-FFF2-40B4-BE49-F238E27FC236}">
                <a16:creationId xmlns:a16="http://schemas.microsoft.com/office/drawing/2014/main" id="{B6284706-8928-4EA6-B62B-76820C646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B0611DE-CF0E-29A2-7CCB-180950AF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Final ranking of documents for a query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55F5481-0F4A-A95F-DB90-CBD2F2AF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089372A6-AF73-1250-05F0-63D64490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B8087B-8034-4BC9-84AC-BD57F3F17200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57349" name="Object 3">
            <a:extLst>
              <a:ext uri="{FF2B5EF4-FFF2-40B4-BE49-F238E27FC236}">
                <a16:creationId xmlns:a16="http://schemas.microsoft.com/office/drawing/2014/main" id="{0AC8D219-E1D4-67A6-D824-5AFB5AA5C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712954"/>
              </p:ext>
            </p:extLst>
          </p:nvPr>
        </p:nvGraphicFramePr>
        <p:xfrm>
          <a:off x="1036320" y="2286000"/>
          <a:ext cx="70024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500" imgH="279400" progId="Equation.3">
                  <p:embed/>
                </p:oleObj>
              </mc:Choice>
              <mc:Fallback>
                <p:oleObj name="Equation" r:id="rId3" imgW="1714500" imgH="279400" progId="Equation.3">
                  <p:embed/>
                  <p:pic>
                    <p:nvPicPr>
                      <p:cNvPr id="57349" name="Object 3">
                        <a:extLst>
                          <a:ext uri="{FF2B5EF4-FFF2-40B4-BE49-F238E27FC236}">
                            <a16:creationId xmlns:a16="http://schemas.microsoft.com/office/drawing/2014/main" id="{0AC8D219-E1D4-67A6-D824-5AFB5AA5C3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320" y="2286000"/>
                        <a:ext cx="700246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Box 5">
            <a:extLst>
              <a:ext uri="{FF2B5EF4-FFF2-40B4-BE49-F238E27FC236}">
                <a16:creationId xmlns:a16="http://schemas.microsoft.com/office/drawing/2014/main" id="{DCEA4E4F-D9D1-A527-8B5B-CC0F57F01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6.2.2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B4AEA37-7C49-CCE6-DD62-505B2E4E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7511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Binary → count → weight matrix</a:t>
            </a:r>
          </a:p>
        </p:txBody>
      </p:sp>
      <p:graphicFrame>
        <p:nvGraphicFramePr>
          <p:cNvPr id="59395" name="Object 2">
            <a:extLst>
              <a:ext uri="{FF2B5EF4-FFF2-40B4-BE49-F238E27FC236}">
                <a16:creationId xmlns:a16="http://schemas.microsoft.com/office/drawing/2014/main" id="{6837F1E2-6D08-60C7-3620-F87590C65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650" y="1905001"/>
          <a:ext cx="8947150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776460" imgH="2926080" progId="Excel.Sheet.8">
                  <p:embed/>
                </p:oleObj>
              </mc:Choice>
              <mc:Fallback>
                <p:oleObj name="Worksheet" r:id="rId3" imgW="9776460" imgH="2926080" progId="Excel.Sheet.8">
                  <p:embed/>
                  <p:pic>
                    <p:nvPicPr>
                      <p:cNvPr id="59395" name="Object 2">
                        <a:extLst>
                          <a:ext uri="{FF2B5EF4-FFF2-40B4-BE49-F238E27FC236}">
                            <a16:creationId xmlns:a16="http://schemas.microsoft.com/office/drawing/2014/main" id="{6837F1E2-6D08-60C7-3620-F87590C65E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1905001"/>
                        <a:ext cx="8947150" cy="267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TextBox 8">
            <a:extLst>
              <a:ext uri="{FF2B5EF4-FFF2-40B4-BE49-F238E27FC236}">
                <a16:creationId xmlns:a16="http://schemas.microsoft.com/office/drawing/2014/main" id="{058993D7-8B08-DB7D-E8C6-74DE781B8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79" y="5307726"/>
            <a:ext cx="101592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Each document is now represented by a real-valued vector of 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tf-idf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weights ∈ R</a:t>
            </a:r>
            <a:r>
              <a:rPr lang="en-US" altLang="zh-TW" sz="2400" baseline="30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|V|</a:t>
            </a:r>
          </a:p>
        </p:txBody>
      </p:sp>
      <p:sp>
        <p:nvSpPr>
          <p:cNvPr id="59397" name="TextBox 4">
            <a:extLst>
              <a:ext uri="{FF2B5EF4-FFF2-40B4-BE49-F238E27FC236}">
                <a16:creationId xmlns:a16="http://schemas.microsoft.com/office/drawing/2014/main" id="{41A347CD-E074-8C31-D6DD-33B730C3D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313B9625-1B4E-6ED0-C833-7D4877A1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Documents as vectors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1EE5E033-0357-B9D3-8AFF-A8B3B05B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So we have a |V|-dimensional vector space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Terms are axes of the space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Documents are points or vectors in this space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Very high-dimensional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: tens of millions of dimensions when you apply this to a web search engine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These are very sparse vectors - most entries are zero.</a:t>
            </a:r>
          </a:p>
        </p:txBody>
      </p:sp>
      <p:sp>
        <p:nvSpPr>
          <p:cNvPr id="61444" name="TextBox 3">
            <a:extLst>
              <a:ext uri="{FF2B5EF4-FFF2-40B4-BE49-F238E27FC236}">
                <a16:creationId xmlns:a16="http://schemas.microsoft.com/office/drawing/2014/main" id="{7214306E-82CC-174C-ACD3-B33515D8A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9D9E6022-5D25-CF02-FB2A-20F2BB34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Queries as vectors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494D997B-DF4F-631A-C907-5267F689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Key idea 1:</a:t>
            </a:r>
            <a:r>
              <a:rPr lang="en-US" altLang="zh-TW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Do the same for queries: represent them as vectors in the space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Key idea 2:</a:t>
            </a:r>
            <a:r>
              <a:rPr lang="en-US" altLang="zh-TW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Rank documents according to their proximity to the query in this space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proximity = similarity of vectors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proximity ≈ inverse of distance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Rank more relevant documents higher than less relevant documents</a:t>
            </a:r>
          </a:p>
        </p:txBody>
      </p:sp>
      <p:sp>
        <p:nvSpPr>
          <p:cNvPr id="63492" name="TextBox 3">
            <a:extLst>
              <a:ext uri="{FF2B5EF4-FFF2-40B4-BE49-F238E27FC236}">
                <a16:creationId xmlns:a16="http://schemas.microsoft.com/office/drawing/2014/main" id="{66FF30D5-E50F-D18D-F350-660078E92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E56C4076-B474-3A72-B3F9-88733B72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Formalizing vector space proximity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39FA5EE0-026E-46B1-320A-358BE3FB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First cut: distance between two points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( = distance between the end points of the two vectors)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Euclidean distance?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Euclidean distance is a bad idea . . 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. . . because Euclidean distance is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large </a:t>
            </a:r>
            <a:r>
              <a:rPr lang="en-US" altLang="zh-TW" dirty="0">
                <a:ea typeface="ＭＳ Ｐゴシック" panose="020B0600070205080204" pitchFamily="34" charset="-128"/>
              </a:rPr>
              <a:t>for vectors of </a:t>
            </a:r>
            <a:r>
              <a:rPr lang="en-US" altLang="zh-TW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different lengths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65540" name="TextBox 3">
            <a:extLst>
              <a:ext uri="{FF2B5EF4-FFF2-40B4-BE49-F238E27FC236}">
                <a16:creationId xmlns:a16="http://schemas.microsoft.com/office/drawing/2014/main" id="{EA2EC937-0822-7366-B05C-44D1B8D97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E56C4076-B474-3A72-B3F9-88733B72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GB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Why distance is a bad idea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39FA5EE0-026E-46B1-320A-358BE3FBE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642886" cy="402336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GB" altLang="zh-TW" dirty="0">
                <a:ea typeface="ＭＳ Ｐゴシック" panose="020B0600070205080204" pitchFamily="34" charset="-128"/>
              </a:rPr>
              <a:t>The Euclidean distance between q and d</a:t>
            </a:r>
            <a:r>
              <a:rPr lang="en-GB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GB" altLang="zh-TW" dirty="0">
                <a:ea typeface="ＭＳ Ｐゴシック" panose="020B0600070205080204" pitchFamily="34" charset="-128"/>
              </a:rPr>
              <a:t> is large even though the distribution of terms in the query q and the distribution of terms in the document d</a:t>
            </a:r>
            <a:r>
              <a:rPr lang="en-GB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GB" altLang="zh-TW" dirty="0">
                <a:ea typeface="ＭＳ Ｐゴシック" panose="020B0600070205080204" pitchFamily="34" charset="-128"/>
              </a:rPr>
              <a:t> are very similar.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65540" name="TextBox 3">
            <a:extLst>
              <a:ext uri="{FF2B5EF4-FFF2-40B4-BE49-F238E27FC236}">
                <a16:creationId xmlns:a16="http://schemas.microsoft.com/office/drawing/2014/main" id="{EA2EC937-0822-7366-B05C-44D1B8D97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  <p:pic>
        <p:nvPicPr>
          <p:cNvPr id="2" name="Content Placeholder 3" descr="vs1.gif">
            <a:extLst>
              <a:ext uri="{FF2B5EF4-FFF2-40B4-BE49-F238E27FC236}">
                <a16:creationId xmlns:a16="http://schemas.microsoft.com/office/drawing/2014/main" id="{0CEC8BD6-C1B3-CE6F-9EAF-A4B340D52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41883" y="1845734"/>
            <a:ext cx="5257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38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4">
            <a:extLst>
              <a:ext uri="{FF2B5EF4-FFF2-40B4-BE49-F238E27FC236}">
                <a16:creationId xmlns:a16="http://schemas.microsoft.com/office/drawing/2014/main" id="{D432403F-720B-AC77-4884-98C97157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Use angle instead of distance</a:t>
            </a:r>
          </a:p>
        </p:txBody>
      </p:sp>
      <p:sp>
        <p:nvSpPr>
          <p:cNvPr id="69635" name="Content Placeholder 5">
            <a:extLst>
              <a:ext uri="{FF2B5EF4-FFF2-40B4-BE49-F238E27FC236}">
                <a16:creationId xmlns:a16="http://schemas.microsoft.com/office/drawing/2014/main" id="{6F541C75-3191-58AA-631B-FCBF5FA3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Thought experiment: take a document </a:t>
            </a: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append it to itself. Call this document </a:t>
            </a: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′.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“Semantically” d and d′ have the same content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The Euclidean distance between the two documents can be quite large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angle between the two documents is 0, corresponding to maximal similarity.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idea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 Rank documents according to angle with query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69636" name="TextBox 3">
            <a:extLst>
              <a:ext uri="{FF2B5EF4-FFF2-40B4-BE49-F238E27FC236}">
                <a16:creationId xmlns:a16="http://schemas.microsoft.com/office/drawing/2014/main" id="{FFB8AD1A-41DE-B068-06A8-5D6C85CF1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7E0BCEA0-6BBA-11A9-1CB8-F248A3D2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From angles to cosines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19F61FDC-D7A5-9A91-5956-F893F3A8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following two notions are equivalent.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Rank documents in </a:t>
            </a:r>
            <a:r>
              <a:rPr lang="en-US" altLang="zh-TW" u="sng" dirty="0">
                <a:ea typeface="ＭＳ Ｐゴシック" panose="020B0600070205080204" pitchFamily="34" charset="-128"/>
              </a:rPr>
              <a:t>decreasing</a:t>
            </a:r>
            <a:r>
              <a:rPr lang="en-US" altLang="zh-TW" dirty="0">
                <a:ea typeface="ＭＳ Ｐゴシック" panose="020B0600070205080204" pitchFamily="34" charset="-128"/>
              </a:rPr>
              <a:t> order of the angle between query and document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Rank documents in </a:t>
            </a:r>
            <a:r>
              <a:rPr lang="en-US" altLang="zh-TW" u="sng" dirty="0">
                <a:ea typeface="ＭＳ Ｐゴシック" panose="020B0600070205080204" pitchFamily="34" charset="-128"/>
              </a:rPr>
              <a:t>increasing</a:t>
            </a:r>
            <a:r>
              <a:rPr lang="en-US" altLang="zh-TW" dirty="0">
                <a:ea typeface="ＭＳ Ｐゴシック" panose="020B0600070205080204" pitchFamily="34" charset="-128"/>
              </a:rPr>
              <a:t> order  of cosine(query, document)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Cosine is a monotonically decreasing function for the interval [0</a:t>
            </a:r>
            <a:r>
              <a:rPr lang="en-US" altLang="zh-TW" baseline="30000" dirty="0">
                <a:ea typeface="ＭＳ Ｐゴシック" panose="020B0600070205080204" pitchFamily="34" charset="-128"/>
              </a:rPr>
              <a:t>o</a:t>
            </a:r>
            <a:r>
              <a:rPr lang="en-US" altLang="zh-TW" dirty="0">
                <a:ea typeface="ＭＳ Ｐゴシック" panose="020B0600070205080204" pitchFamily="34" charset="-128"/>
              </a:rPr>
              <a:t>, 180</a:t>
            </a:r>
            <a:r>
              <a:rPr lang="en-US" altLang="zh-TW" baseline="30000" dirty="0">
                <a:ea typeface="ＭＳ Ｐゴシック" panose="020B0600070205080204" pitchFamily="34" charset="-128"/>
              </a:rPr>
              <a:t>o</a:t>
            </a:r>
            <a:r>
              <a:rPr lang="en-US" altLang="zh-TW" dirty="0">
                <a:ea typeface="ＭＳ Ｐゴシック" panose="020B0600070205080204" pitchFamily="34" charset="-128"/>
              </a:rPr>
              <a:t>]</a:t>
            </a:r>
          </a:p>
        </p:txBody>
      </p:sp>
      <p:sp>
        <p:nvSpPr>
          <p:cNvPr id="71684" name="TextBox 3">
            <a:extLst>
              <a:ext uri="{FF2B5EF4-FFF2-40B4-BE49-F238E27FC236}">
                <a16:creationId xmlns:a16="http://schemas.microsoft.com/office/drawing/2014/main" id="{7E57DDB9-49F8-6F4C-8781-43F8EF04B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3888AC88-0812-5394-7C35-EC00D6E7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cosine(query, document)</a:t>
            </a:r>
          </a:p>
        </p:txBody>
      </p:sp>
      <p:graphicFrame>
        <p:nvGraphicFramePr>
          <p:cNvPr id="77827" name="Content Placeholder 3">
            <a:extLst>
              <a:ext uri="{FF2B5EF4-FFF2-40B4-BE49-F238E27FC236}">
                <a16:creationId xmlns:a16="http://schemas.microsoft.com/office/drawing/2014/main" id="{E8C3AAF4-BD0E-5E1C-0422-E57E5BC54DB3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107728"/>
              </p:ext>
            </p:extLst>
          </p:nvPr>
        </p:nvGraphicFramePr>
        <p:xfrm>
          <a:off x="1349157" y="2667000"/>
          <a:ext cx="72167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46400" imgH="609600" progId="Equation.3">
                  <p:embed/>
                </p:oleObj>
              </mc:Choice>
              <mc:Fallback>
                <p:oleObj name="Equation" r:id="rId3" imgW="2946400" imgH="609600" progId="Equation.3">
                  <p:embed/>
                  <p:pic>
                    <p:nvPicPr>
                      <p:cNvPr id="77827" name="Content Placeholder 3">
                        <a:extLst>
                          <a:ext uri="{FF2B5EF4-FFF2-40B4-BE49-F238E27FC236}">
                            <a16:creationId xmlns:a16="http://schemas.microsoft.com/office/drawing/2014/main" id="{E8C3AAF4-BD0E-5E1C-0422-E57E5BC54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157" y="2667000"/>
                        <a:ext cx="72167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Callout 1 4">
            <a:extLst>
              <a:ext uri="{FF2B5EF4-FFF2-40B4-BE49-F238E27FC236}">
                <a16:creationId xmlns:a16="http://schemas.microsoft.com/office/drawing/2014/main" id="{A2F339AC-A904-B92D-4651-A249C24E19CB}"/>
              </a:ext>
            </a:extLst>
          </p:cNvPr>
          <p:cNvSpPr>
            <a:spLocks/>
          </p:cNvSpPr>
          <p:nvPr/>
        </p:nvSpPr>
        <p:spPr bwMode="auto">
          <a:xfrm>
            <a:off x="2970214" y="1934640"/>
            <a:ext cx="1984375" cy="461963"/>
          </a:xfrm>
          <a:prstGeom prst="borderCallout1">
            <a:avLst>
              <a:gd name="adj1" fmla="val 104463"/>
              <a:gd name="adj2" fmla="val 51190"/>
              <a:gd name="adj3" fmla="val 224652"/>
              <a:gd name="adj4" fmla="val 2832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C00000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Dot product</a:t>
            </a:r>
          </a:p>
        </p:txBody>
      </p:sp>
      <p:sp>
        <p:nvSpPr>
          <p:cNvPr id="77837" name="TextBox 14">
            <a:extLst>
              <a:ext uri="{FF2B5EF4-FFF2-40B4-BE49-F238E27FC236}">
                <a16:creationId xmlns:a16="http://schemas.microsoft.com/office/drawing/2014/main" id="{2F0CB0D1-F69E-481D-B308-0E5A56A99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25FBB4-33A1-ADF9-72AD-EB6EB8036709}"/>
              </a:ext>
            </a:extLst>
          </p:cNvPr>
          <p:cNvGrpSpPr/>
          <p:nvPr/>
        </p:nvGrpSpPr>
        <p:grpSpPr>
          <a:xfrm>
            <a:off x="5259389" y="1826169"/>
            <a:ext cx="1981200" cy="1137748"/>
            <a:chOff x="5259389" y="1826169"/>
            <a:chExt cx="1981200" cy="1137748"/>
          </a:xfrm>
        </p:grpSpPr>
        <p:grpSp>
          <p:nvGrpSpPr>
            <p:cNvPr id="2" name="Group 9">
              <a:extLst>
                <a:ext uri="{FF2B5EF4-FFF2-40B4-BE49-F238E27FC236}">
                  <a16:creationId xmlns:a16="http://schemas.microsoft.com/office/drawing/2014/main" id="{60DF642F-A50D-911A-F8CA-1FB2173661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9389" y="1826169"/>
              <a:ext cx="1981200" cy="762000"/>
              <a:chOff x="4114800" y="1676400"/>
              <a:chExt cx="1981200" cy="762000"/>
            </a:xfrm>
          </p:grpSpPr>
          <p:sp>
            <p:nvSpPr>
              <p:cNvPr id="77838" name="Line Callout 2 5">
                <a:extLst>
                  <a:ext uri="{FF2B5EF4-FFF2-40B4-BE49-F238E27FC236}">
                    <a16:creationId xmlns:a16="http://schemas.microsoft.com/office/drawing/2014/main" id="{BBD00333-F038-941A-C8C6-CC6F3A24E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800" y="1676400"/>
                <a:ext cx="1981200" cy="457200"/>
              </a:xfrm>
              <a:prstGeom prst="borderCallout2">
                <a:avLst>
                  <a:gd name="adj1" fmla="val 97319"/>
                  <a:gd name="adj2" fmla="val 8153"/>
                  <a:gd name="adj3" fmla="val 159227"/>
                  <a:gd name="adj4" fmla="val 7509"/>
                  <a:gd name="adj5" fmla="val 220299"/>
                  <a:gd name="adj6" fmla="val -3590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solidFill>
                      <a:srgbClr val="C00000"/>
                    </a:solidFill>
                    <a:latin typeface="Lucida Sans" panose="020B0602030504020204" pitchFamily="34" charset="0"/>
                    <a:ea typeface="新細明體" panose="02020500000000000000" pitchFamily="18" charset="-120"/>
                  </a:rPr>
                  <a:t>Unit vectors</a:t>
                </a:r>
              </a:p>
            </p:txBody>
          </p:sp>
          <p:cxnSp>
            <p:nvCxnSpPr>
              <p:cNvPr id="77839" name="Straight Connector 7">
                <a:extLst>
                  <a:ext uri="{FF2B5EF4-FFF2-40B4-BE49-F238E27FC236}">
                    <a16:creationId xmlns:a16="http://schemas.microsoft.com/office/drawing/2014/main" id="{CD0ABEB6-2320-D6D5-65A2-884A03C1170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572794" y="2286000"/>
                <a:ext cx="304006" cy="7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D711AB8-AA97-B869-992B-34ABC8F1EA2F}"/>
                </a:ext>
              </a:extLst>
            </p:cNvPr>
            <p:cNvCxnSpPr/>
            <p:nvPr/>
          </p:nvCxnSpPr>
          <p:spPr>
            <a:xfrm flipH="1">
              <a:off x="5259389" y="2588169"/>
              <a:ext cx="609600" cy="3757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6">
            <a:extLst>
              <a:ext uri="{FF2B5EF4-FFF2-40B4-BE49-F238E27FC236}">
                <a16:creationId xmlns:a16="http://schemas.microsoft.com/office/drawing/2014/main" id="{A5D0D3BA-C0D1-E37D-58E7-2E46C68C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988" y="304800"/>
            <a:ext cx="8458200" cy="9906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Computing cosine scores</a:t>
            </a:r>
          </a:p>
        </p:txBody>
      </p:sp>
      <p:pic>
        <p:nvPicPr>
          <p:cNvPr id="88067" name="Content Placeholder 8" descr="cosinescore.gif">
            <a:extLst>
              <a:ext uri="{FF2B5EF4-FFF2-40B4-BE49-F238E27FC236}">
                <a16:creationId xmlns:a16="http://schemas.microsoft.com/office/drawing/2014/main" id="{40842F6C-DA05-3EC4-E985-158FF20607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0507" y="1842099"/>
            <a:ext cx="6970986" cy="4435588"/>
          </a:xfrm>
        </p:spPr>
      </p:pic>
      <p:sp>
        <p:nvSpPr>
          <p:cNvPr id="88068" name="TextBox 3">
            <a:extLst>
              <a:ext uri="{FF2B5EF4-FFF2-40B4-BE49-F238E27FC236}">
                <a16:creationId xmlns:a16="http://schemas.microsoft.com/office/drawing/2014/main" id="{E5E42888-7660-C6D9-2596-CE06925F0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67CD18FA-6413-B377-8855-1BDF6A31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53224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tf-idf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weighting has many variants</a:t>
            </a:r>
          </a:p>
        </p:txBody>
      </p:sp>
      <p:pic>
        <p:nvPicPr>
          <p:cNvPr id="90115" name="Content Placeholder 7" descr="table1.gif">
            <a:extLst>
              <a:ext uri="{FF2B5EF4-FFF2-40B4-BE49-F238E27FC236}">
                <a16:creationId xmlns:a16="http://schemas.microsoft.com/office/drawing/2014/main" id="{A7C24991-3D88-C2B6-02A4-55CBB3D3CA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7188" y="2053431"/>
            <a:ext cx="8888412" cy="2751137"/>
          </a:xfrm>
        </p:spPr>
      </p:pic>
      <p:sp>
        <p:nvSpPr>
          <p:cNvPr id="90116" name="Rectangle 8">
            <a:extLst>
              <a:ext uri="{FF2B5EF4-FFF2-40B4-BE49-F238E27FC236}">
                <a16:creationId xmlns:a16="http://schemas.microsoft.com/office/drawing/2014/main" id="{AD3C7AFB-2AA2-4D17-2B1B-4974A6317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905000"/>
            <a:ext cx="8839200" cy="381000"/>
          </a:xfrm>
          <a:prstGeom prst="rect">
            <a:avLst/>
          </a:prstGeom>
          <a:solidFill>
            <a:schemeClr val="accent1">
              <a:alpha val="509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0119" name="TextBox 6">
            <a:extLst>
              <a:ext uri="{FF2B5EF4-FFF2-40B4-BE49-F238E27FC236}">
                <a16:creationId xmlns:a16="http://schemas.microsoft.com/office/drawing/2014/main" id="{052A8F45-C166-5A50-5E80-0611C8175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6C46C94-6944-0647-159A-291E14605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Efficient cosine ranking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E6C5C38-C3CC-E569-3261-57CE78563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000" dirty="0">
                <a:ea typeface="宋体" panose="02010600030101010101" pitchFamily="2" charset="-122"/>
              </a:rPr>
              <a:t> Find the </a:t>
            </a:r>
            <a:r>
              <a:rPr lang="en-US" altLang="zh-CN" sz="3000" i="1" dirty="0">
                <a:ea typeface="宋体" panose="02010600030101010101" pitchFamily="2" charset="-122"/>
              </a:rPr>
              <a:t>K</a:t>
            </a:r>
            <a:r>
              <a:rPr lang="en-US" altLang="zh-CN" sz="3000" dirty="0">
                <a:ea typeface="宋体" panose="02010600030101010101" pitchFamily="2" charset="-122"/>
              </a:rPr>
              <a:t> docs in the collection “nearest” to the query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largest query-doc cosines.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000" dirty="0">
                <a:ea typeface="宋体" panose="02010600030101010101" pitchFamily="2" charset="-122"/>
              </a:rPr>
              <a:t> </a:t>
            </a:r>
            <a:r>
              <a:rPr lang="en-US" altLang="zh-CN" sz="3000" u="sng" dirty="0">
                <a:solidFill>
                  <a:srgbClr val="00B050"/>
                </a:solidFill>
                <a:ea typeface="宋体" panose="02010600030101010101" pitchFamily="2" charset="-122"/>
              </a:rPr>
              <a:t>Efficient ranking: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Computing a single cosine efficiently.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Choosing the </a:t>
            </a:r>
            <a:r>
              <a:rPr lang="en-US" altLang="zh-CN" i="1" dirty="0">
                <a:ea typeface="宋体" panose="02010600030101010101" pitchFamily="2" charset="-122"/>
              </a:rPr>
              <a:t>K </a:t>
            </a:r>
            <a:r>
              <a:rPr lang="en-US" altLang="zh-CN" dirty="0">
                <a:ea typeface="宋体" panose="02010600030101010101" pitchFamily="2" charset="-122"/>
              </a:rPr>
              <a:t>largest cosine values efficiently.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Can we do this without computing all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cosines?</a:t>
            </a:r>
            <a:endParaRPr lang="en-US" altLang="zh-CN" sz="16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2532" name="TextBox 4">
            <a:extLst>
              <a:ext uri="{FF2B5EF4-FFF2-40B4-BE49-F238E27FC236}">
                <a16:creationId xmlns:a16="http://schemas.microsoft.com/office/drawing/2014/main" id="{C4FA2E3C-E341-42BE-25C0-54C9422B8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17CA1DB-DEFF-016B-86D5-4FE3CC1EB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Computing the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largest cosines: selection vs. sorting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64A2D9C-D612-97AA-2120-EDF283F41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Typically we want to retrieve the top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docs (in the cosine ranking for the query)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anose="02010600030101010101" pitchFamily="2" charset="-122"/>
              </a:rPr>
              <a:t>not to totally order all docs in the collection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Can we pick off docs with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highest cosines?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Let </a:t>
            </a:r>
            <a:r>
              <a:rPr lang="en-US" altLang="zh-CN" i="1" dirty="0">
                <a:ea typeface="宋体" panose="02010600030101010101" pitchFamily="2" charset="-122"/>
              </a:rPr>
              <a:t>J</a:t>
            </a:r>
            <a:r>
              <a:rPr lang="en-US" altLang="zh-CN" dirty="0">
                <a:ea typeface="宋体" panose="02010600030101010101" pitchFamily="2" charset="-122"/>
              </a:rPr>
              <a:t> = number of docs with nonzero cosines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anose="02010600030101010101" pitchFamily="2" charset="-122"/>
              </a:rPr>
              <a:t>We seek the </a:t>
            </a:r>
            <a:r>
              <a:rPr lang="en-US" altLang="zh-CN" sz="2800" i="1" dirty="0"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 best of these </a:t>
            </a:r>
            <a:r>
              <a:rPr lang="en-US" altLang="zh-CN" sz="2800" i="1" dirty="0">
                <a:ea typeface="宋体" panose="02010600030101010101" pitchFamily="2" charset="-122"/>
              </a:rPr>
              <a:t>J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24" name="TextBox 4">
            <a:extLst>
              <a:ext uri="{FF2B5EF4-FFF2-40B4-BE49-F238E27FC236}">
                <a16:creationId xmlns:a16="http://schemas.microsoft.com/office/drawing/2014/main" id="{BF3C5AF6-E6FD-A6AB-73A5-5B90F7285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090247D-D71A-E721-AF1E-92EE7BABF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7131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Use heap for selecting top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4A07DD5-851F-13CF-1A7C-BABE69E87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Binary tree in which each node’s value &gt; the values of children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Takes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2J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operations to construct, then each of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K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“winners” read off in 2log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J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steps.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For </a:t>
            </a:r>
            <a:r>
              <a:rPr lang="en-US" altLang="zh-CN" i="1" dirty="0">
                <a:ea typeface="宋体" panose="02010600030101010101" pitchFamily="2" charset="-122"/>
              </a:rPr>
              <a:t>J</a:t>
            </a:r>
            <a:r>
              <a:rPr lang="en-US" altLang="zh-CN" dirty="0">
                <a:ea typeface="宋体" panose="02010600030101010101" pitchFamily="2" charset="-122"/>
              </a:rPr>
              <a:t>=1M,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=100, this is about 10% of the cost of sorting.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41A7F1-222C-A2D7-203B-B166904AD9C8}"/>
              </a:ext>
            </a:extLst>
          </p:cNvPr>
          <p:cNvGrpSpPr/>
          <p:nvPr/>
        </p:nvGrpSpPr>
        <p:grpSpPr>
          <a:xfrm>
            <a:off x="5067300" y="3949700"/>
            <a:ext cx="2057400" cy="2374900"/>
            <a:chOff x="6324600" y="4254500"/>
            <a:chExt cx="2057400" cy="2374900"/>
          </a:xfrm>
        </p:grpSpPr>
        <p:sp>
          <p:nvSpPr>
            <p:cNvPr id="32772" name="Oval 4">
              <a:extLst>
                <a:ext uri="{FF2B5EF4-FFF2-40B4-BE49-F238E27FC236}">
                  <a16:creationId xmlns:a16="http://schemas.microsoft.com/office/drawing/2014/main" id="{8169DB21-F3DE-B7F9-C80C-B889BB281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44196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2773" name="Oval 5">
              <a:extLst>
                <a:ext uri="{FF2B5EF4-FFF2-40B4-BE49-F238E27FC236}">
                  <a16:creationId xmlns:a16="http://schemas.microsoft.com/office/drawing/2014/main" id="{AD2137DD-A0D7-FC76-0C45-F59EBAC2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9530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.9</a:t>
              </a:r>
            </a:p>
          </p:txBody>
        </p:sp>
        <p:sp>
          <p:nvSpPr>
            <p:cNvPr id="32774" name="Oval 6">
              <a:extLst>
                <a:ext uri="{FF2B5EF4-FFF2-40B4-BE49-F238E27FC236}">
                  <a16:creationId xmlns:a16="http://schemas.microsoft.com/office/drawing/2014/main" id="{CE7A9DE1-2D2F-1287-A349-C0CFB9886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0" y="49530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.3</a:t>
              </a:r>
            </a:p>
          </p:txBody>
        </p:sp>
        <p:sp>
          <p:nvSpPr>
            <p:cNvPr id="32775" name="Oval 7">
              <a:extLst>
                <a:ext uri="{FF2B5EF4-FFF2-40B4-BE49-F238E27FC236}">
                  <a16:creationId xmlns:a16="http://schemas.microsoft.com/office/drawing/2014/main" id="{BE4DB8C6-3531-FCB8-C286-87E6E947C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55626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.8</a:t>
              </a:r>
            </a:p>
          </p:txBody>
        </p:sp>
        <p:cxnSp>
          <p:nvCxnSpPr>
            <p:cNvPr id="32776" name="AutoShape 8">
              <a:extLst>
                <a:ext uri="{FF2B5EF4-FFF2-40B4-BE49-F238E27FC236}">
                  <a16:creationId xmlns:a16="http://schemas.microsoft.com/office/drawing/2014/main" id="{DE0AEDBC-2DF7-A047-7775-86AD4E589C55}"/>
                </a:ext>
              </a:extLst>
            </p:cNvPr>
            <p:cNvCxnSpPr>
              <a:cxnSpLocks noChangeShapeType="1"/>
              <a:stCxn id="32772" idx="3"/>
              <a:endCxn id="32773" idx="0"/>
            </p:cNvCxnSpPr>
            <p:nvPr/>
          </p:nvCxnSpPr>
          <p:spPr bwMode="auto">
            <a:xfrm flipH="1">
              <a:off x="7162801" y="4745038"/>
              <a:ext cx="295275" cy="207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77" name="AutoShape 9">
              <a:extLst>
                <a:ext uri="{FF2B5EF4-FFF2-40B4-BE49-F238E27FC236}">
                  <a16:creationId xmlns:a16="http://schemas.microsoft.com/office/drawing/2014/main" id="{AB855017-DEE1-D080-7DE8-A47E342C783B}"/>
                </a:ext>
              </a:extLst>
            </p:cNvPr>
            <p:cNvCxnSpPr>
              <a:cxnSpLocks noChangeShapeType="1"/>
              <a:stCxn id="32772" idx="5"/>
              <a:endCxn id="32774" idx="0"/>
            </p:cNvCxnSpPr>
            <p:nvPr/>
          </p:nvCxnSpPr>
          <p:spPr bwMode="auto">
            <a:xfrm>
              <a:off x="7781926" y="4745038"/>
              <a:ext cx="371475" cy="207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78" name="Oval 10">
              <a:extLst>
                <a:ext uri="{FF2B5EF4-FFF2-40B4-BE49-F238E27FC236}">
                  <a16:creationId xmlns:a16="http://schemas.microsoft.com/office/drawing/2014/main" id="{5D71E4EF-0CE8-D547-9E81-798B35C4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55626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.3</a:t>
              </a:r>
            </a:p>
          </p:txBody>
        </p:sp>
        <p:cxnSp>
          <p:nvCxnSpPr>
            <p:cNvPr id="32779" name="AutoShape 11">
              <a:extLst>
                <a:ext uri="{FF2B5EF4-FFF2-40B4-BE49-F238E27FC236}">
                  <a16:creationId xmlns:a16="http://schemas.microsoft.com/office/drawing/2014/main" id="{D97C7FE1-8C61-275E-6C9D-189583ECC22B}"/>
                </a:ext>
              </a:extLst>
            </p:cNvPr>
            <p:cNvCxnSpPr>
              <a:cxnSpLocks noChangeShapeType="1"/>
              <a:stCxn id="32773" idx="3"/>
              <a:endCxn id="32778" idx="0"/>
            </p:cNvCxnSpPr>
            <p:nvPr/>
          </p:nvCxnSpPr>
          <p:spPr bwMode="auto">
            <a:xfrm flipH="1">
              <a:off x="6705601" y="5278438"/>
              <a:ext cx="295275" cy="2841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0" name="AutoShape 12">
              <a:extLst>
                <a:ext uri="{FF2B5EF4-FFF2-40B4-BE49-F238E27FC236}">
                  <a16:creationId xmlns:a16="http://schemas.microsoft.com/office/drawing/2014/main" id="{28D2AFF0-BA67-5472-6BEC-34EA9F16DD9B}"/>
                </a:ext>
              </a:extLst>
            </p:cNvPr>
            <p:cNvCxnSpPr>
              <a:cxnSpLocks noChangeShapeType="1"/>
              <a:stCxn id="32773" idx="5"/>
              <a:endCxn id="32775" idx="0"/>
            </p:cNvCxnSpPr>
            <p:nvPr/>
          </p:nvCxnSpPr>
          <p:spPr bwMode="auto">
            <a:xfrm>
              <a:off x="7324726" y="5278438"/>
              <a:ext cx="142875" cy="2841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1" name="Oval 13">
              <a:extLst>
                <a:ext uri="{FF2B5EF4-FFF2-40B4-BE49-F238E27FC236}">
                  <a16:creationId xmlns:a16="http://schemas.microsoft.com/office/drawing/2014/main" id="{F6057191-3A51-975B-0599-35CA058EA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62484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.1</a:t>
              </a:r>
            </a:p>
          </p:txBody>
        </p:sp>
        <p:sp>
          <p:nvSpPr>
            <p:cNvPr id="32782" name="Oval 14">
              <a:extLst>
                <a:ext uri="{FF2B5EF4-FFF2-40B4-BE49-F238E27FC236}">
                  <a16:creationId xmlns:a16="http://schemas.microsoft.com/office/drawing/2014/main" id="{1DCAF65F-E826-4896-409B-638AE0EDE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0" y="5562600"/>
              <a:ext cx="457200" cy="381000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.1</a:t>
              </a:r>
            </a:p>
          </p:txBody>
        </p:sp>
        <p:cxnSp>
          <p:nvCxnSpPr>
            <p:cNvPr id="32783" name="AutoShape 15">
              <a:extLst>
                <a:ext uri="{FF2B5EF4-FFF2-40B4-BE49-F238E27FC236}">
                  <a16:creationId xmlns:a16="http://schemas.microsoft.com/office/drawing/2014/main" id="{A2AC8E10-9127-C6D9-C400-E4A7F8E1E8FE}"/>
                </a:ext>
              </a:extLst>
            </p:cNvPr>
            <p:cNvCxnSpPr>
              <a:cxnSpLocks noChangeShapeType="1"/>
              <a:stCxn id="32775" idx="4"/>
              <a:endCxn id="32781" idx="0"/>
            </p:cNvCxnSpPr>
            <p:nvPr/>
          </p:nvCxnSpPr>
          <p:spPr bwMode="auto">
            <a:xfrm>
              <a:off x="7467600" y="5943600"/>
              <a:ext cx="0" cy="304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4" name="AutoShape 16">
              <a:extLst>
                <a:ext uri="{FF2B5EF4-FFF2-40B4-BE49-F238E27FC236}">
                  <a16:creationId xmlns:a16="http://schemas.microsoft.com/office/drawing/2014/main" id="{42093800-A8D5-D09F-8435-D91E595A9041}"/>
                </a:ext>
              </a:extLst>
            </p:cNvPr>
            <p:cNvCxnSpPr>
              <a:cxnSpLocks noChangeShapeType="1"/>
              <a:stCxn id="32774" idx="4"/>
              <a:endCxn id="32782" idx="0"/>
            </p:cNvCxnSpPr>
            <p:nvPr/>
          </p:nvCxnSpPr>
          <p:spPr bwMode="auto">
            <a:xfrm>
              <a:off x="8153400" y="53340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5" name="Freeform 17">
              <a:extLst>
                <a:ext uri="{FF2B5EF4-FFF2-40B4-BE49-F238E27FC236}">
                  <a16:creationId xmlns:a16="http://schemas.microsoft.com/office/drawing/2014/main" id="{23937959-4613-4629-1EE7-47F55CEBF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254500"/>
              <a:ext cx="1892300" cy="1892300"/>
            </a:xfrm>
            <a:custGeom>
              <a:avLst/>
              <a:gdLst>
                <a:gd name="T0" fmla="*/ 0 w 1192"/>
                <a:gd name="T1" fmla="*/ 2147483646 h 1192"/>
                <a:gd name="T2" fmla="*/ 2147483646 w 1192"/>
                <a:gd name="T3" fmla="*/ 2147483646 h 1192"/>
                <a:gd name="T4" fmla="*/ 2147483646 w 1192"/>
                <a:gd name="T5" fmla="*/ 2147483646 h 1192"/>
                <a:gd name="T6" fmla="*/ 2147483646 w 1192"/>
                <a:gd name="T7" fmla="*/ 2147483646 h 1192"/>
                <a:gd name="T8" fmla="*/ 2147483646 w 1192"/>
                <a:gd name="T9" fmla="*/ 2147483646 h 1192"/>
                <a:gd name="T10" fmla="*/ 2147483646 w 1192"/>
                <a:gd name="T11" fmla="*/ 2147483646 h 1192"/>
                <a:gd name="T12" fmla="*/ 2147483646 w 1192"/>
                <a:gd name="T13" fmla="*/ 2147483646 h 1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2"/>
                <a:gd name="T22" fmla="*/ 0 h 1192"/>
                <a:gd name="T23" fmla="*/ 1192 w 1192"/>
                <a:gd name="T24" fmla="*/ 1192 h 1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2" h="1192">
                  <a:moveTo>
                    <a:pt x="0" y="152"/>
                  </a:moveTo>
                  <a:cubicBezTo>
                    <a:pt x="12" y="116"/>
                    <a:pt x="24" y="80"/>
                    <a:pt x="96" y="200"/>
                  </a:cubicBezTo>
                  <a:cubicBezTo>
                    <a:pt x="168" y="320"/>
                    <a:pt x="312" y="712"/>
                    <a:pt x="432" y="872"/>
                  </a:cubicBezTo>
                  <a:cubicBezTo>
                    <a:pt x="552" y="1032"/>
                    <a:pt x="736" y="1192"/>
                    <a:pt x="816" y="1160"/>
                  </a:cubicBezTo>
                  <a:cubicBezTo>
                    <a:pt x="896" y="1128"/>
                    <a:pt x="856" y="856"/>
                    <a:pt x="912" y="680"/>
                  </a:cubicBezTo>
                  <a:cubicBezTo>
                    <a:pt x="968" y="504"/>
                    <a:pt x="1112" y="208"/>
                    <a:pt x="1152" y="104"/>
                  </a:cubicBezTo>
                  <a:cubicBezTo>
                    <a:pt x="1192" y="0"/>
                    <a:pt x="1152" y="64"/>
                    <a:pt x="1152" y="56"/>
                  </a:cubicBezTo>
                </a:path>
              </a:pathLst>
            </a:custGeom>
            <a:noFill/>
            <a:ln w="25400">
              <a:solidFill>
                <a:schemeClr val="fol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786" name="TextBox 4">
            <a:extLst>
              <a:ext uri="{FF2B5EF4-FFF2-40B4-BE49-F238E27FC236}">
                <a16:creationId xmlns:a16="http://schemas.microsoft.com/office/drawing/2014/main" id="{9EAEC644-B43A-606D-73D3-2B6091453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D2879D3-BDD6-527B-AF50-828B2D63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Cosine similarity is only a proxy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92DCB5AB-37E2-7423-F2F3-D5B52BE8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User has a task and a query formulation.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Cosine matches docs to query, thus cosine is anyway a proxy for user happiness.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If we get a list of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docs “close” to the top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by cosine measure, should be ok.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6868" name="TextBox 4">
            <a:extLst>
              <a:ext uri="{FF2B5EF4-FFF2-40B4-BE49-F238E27FC236}">
                <a16:creationId xmlns:a16="http://schemas.microsoft.com/office/drawing/2014/main" id="{7F5A3AA6-CA1F-70F4-5433-D6B4D3EC5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9CC6DB2-948C-2253-65D4-1557E103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Generic approach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1C10341B-7556-FBB9-CC37-A6C095996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Find a set </a:t>
            </a:r>
            <a:r>
              <a:rPr lang="en-US" altLang="zh-TW" i="1" dirty="0">
                <a:ea typeface="ＭＳ Ｐゴシック" panose="020B0600070205080204" pitchFamily="34" charset="-128"/>
              </a:rPr>
              <a:t>A </a:t>
            </a:r>
            <a:r>
              <a:rPr lang="en-US" altLang="zh-TW" dirty="0">
                <a:ea typeface="ＭＳ Ｐゴシック" panose="020B0600070205080204" pitchFamily="34" charset="-128"/>
              </a:rPr>
              <a:t>of </a:t>
            </a:r>
            <a:r>
              <a:rPr lang="en-US" altLang="zh-TW" i="1" dirty="0">
                <a:ea typeface="ＭＳ Ｐゴシック" panose="020B0600070205080204" pitchFamily="34" charset="-128"/>
              </a:rPr>
              <a:t>contenders</a:t>
            </a:r>
            <a:r>
              <a:rPr lang="en-US" altLang="zh-TW" dirty="0">
                <a:ea typeface="ＭＳ Ｐゴシック" panose="020B0600070205080204" pitchFamily="34" charset="-128"/>
              </a:rPr>
              <a:t>, with </a:t>
            </a:r>
            <a:r>
              <a:rPr lang="en-US" altLang="zh-TW" i="1" dirty="0">
                <a:ea typeface="ＭＳ Ｐゴシック" panose="020B0600070205080204" pitchFamily="34" charset="-128"/>
              </a:rPr>
              <a:t>K &lt; |A| </a:t>
            </a:r>
            <a:r>
              <a:rPr lang="en-US" altLang="zh-TW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&lt;&lt; N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600" i="1" dirty="0">
                <a:ea typeface="ＭＳ Ｐゴシック" panose="020B0600070205080204" pitchFamily="34" charset="-128"/>
              </a:rPr>
              <a:t>A </a:t>
            </a:r>
            <a:r>
              <a:rPr lang="en-US" altLang="zh-TW" sz="2600" dirty="0">
                <a:ea typeface="ＭＳ Ｐゴシック" panose="020B0600070205080204" pitchFamily="34" charset="-128"/>
              </a:rPr>
              <a:t>does not necessarily contain the top </a:t>
            </a:r>
            <a:r>
              <a:rPr lang="en-US" altLang="zh-TW" sz="2600" i="1" dirty="0">
                <a:ea typeface="ＭＳ Ｐゴシック" panose="020B0600070205080204" pitchFamily="34" charset="-128"/>
              </a:rPr>
              <a:t>K, </a:t>
            </a:r>
            <a:r>
              <a:rPr lang="en-US" altLang="zh-TW" sz="2600" dirty="0">
                <a:ea typeface="ＭＳ Ｐゴシック" panose="020B0600070205080204" pitchFamily="34" charset="-128"/>
              </a:rPr>
              <a:t>but has many docs from among the top </a:t>
            </a:r>
            <a:r>
              <a:rPr lang="en-US" altLang="zh-TW" sz="2600" i="1" dirty="0">
                <a:ea typeface="ＭＳ Ｐゴシック" panose="020B0600070205080204" pitchFamily="34" charset="-128"/>
              </a:rPr>
              <a:t>K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600" dirty="0">
                <a:ea typeface="ＭＳ Ｐゴシック" panose="020B0600070205080204" pitchFamily="34" charset="-128"/>
              </a:rPr>
              <a:t>Return the top </a:t>
            </a:r>
            <a:r>
              <a:rPr lang="en-US" altLang="zh-TW" sz="2600" i="1" dirty="0">
                <a:ea typeface="ＭＳ Ｐゴシック" panose="020B0600070205080204" pitchFamily="34" charset="-128"/>
              </a:rPr>
              <a:t>K </a:t>
            </a:r>
            <a:r>
              <a:rPr lang="en-US" altLang="zh-TW" sz="2600" dirty="0">
                <a:ea typeface="ＭＳ Ｐゴシック" panose="020B0600070205080204" pitchFamily="34" charset="-128"/>
              </a:rPr>
              <a:t>docs in </a:t>
            </a:r>
            <a:r>
              <a:rPr lang="en-US" altLang="zh-TW" sz="2600" i="1" dirty="0">
                <a:ea typeface="ＭＳ Ｐゴシック" panose="020B0600070205080204" pitchFamily="34" charset="-128"/>
              </a:rPr>
              <a:t>A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Think of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as </a:t>
            </a:r>
            <a:r>
              <a:rPr lang="en-US" altLang="zh-TW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pruning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non-contenders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same approach is also used for other (non-cosine) scoring functions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8916" name="TextBox 4">
            <a:extLst>
              <a:ext uri="{FF2B5EF4-FFF2-40B4-BE49-F238E27FC236}">
                <a16:creationId xmlns:a16="http://schemas.microsoft.com/office/drawing/2014/main" id="{50867FF6-EEB9-2B7E-6B57-BA12A2044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20FCE1BC-2F59-5123-492E-85C88B57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High-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query terms only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E35AD568-5323-088D-441F-EB27796A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a query such as </a:t>
            </a:r>
            <a:r>
              <a:rPr lang="en-US" altLang="zh-TW" i="1" dirty="0">
                <a:ea typeface="ＭＳ Ｐゴシック" panose="020B0600070205080204" pitchFamily="34" charset="-128"/>
              </a:rPr>
              <a:t>catcher in the rye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Only accumulate scores from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catcher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and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rye</a:t>
            </a:r>
            <a:endParaRPr lang="en-US" altLang="zh-TW" u="sng" dirty="0">
              <a:ea typeface="ＭＳ Ｐゴシック" panose="020B0600070205080204" pitchFamily="34" charset="-128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Benefit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Postings of low-</a:t>
            </a:r>
            <a:r>
              <a:rPr lang="en-US" altLang="zh-TW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idf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terms have many docs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these (many) docs get eliminated from set </a:t>
            </a: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of contenders.</a:t>
            </a:r>
            <a:endParaRPr lang="en-US" altLang="zh-TW" i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3012" name="TextBox 4">
            <a:extLst>
              <a:ext uri="{FF2B5EF4-FFF2-40B4-BE49-F238E27FC236}">
                <a16:creationId xmlns:a16="http://schemas.microsoft.com/office/drawing/2014/main" id="{C8EDFD52-2B00-E01C-AABA-F8748B50C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2CA5FEBD-71DC-5C40-D600-27BEF193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Docs containing many query terms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ABAD28FD-32D9-26C4-BDD0-DD6CCFDD5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Any doc with at least one query term is a candidate for the top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output list.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For multi-term queries, only compute scores for docs containing several of the query terms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Say, at least 3 out of 4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Imposes a “soft conjunction” on queries seen on web search engines (early Google)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.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45060" name="TextBox 4">
            <a:extLst>
              <a:ext uri="{FF2B5EF4-FFF2-40B4-BE49-F238E27FC236}">
                <a16:creationId xmlns:a16="http://schemas.microsoft.com/office/drawing/2014/main" id="{24019D49-0A51-5FA9-C19E-981CE3879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D439826F-613F-8B75-8AC6-24570B4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Champion lists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B33AE8B8-48FD-A006-C419-5CBB2F9B1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Precompute for each dictionary term </a:t>
            </a:r>
            <a:r>
              <a:rPr lang="en-US" altLang="zh-TW" i="1" dirty="0">
                <a:ea typeface="ＭＳ Ｐゴシック" panose="020B0600070205080204" pitchFamily="34" charset="-128"/>
              </a:rPr>
              <a:t>t,</a:t>
            </a:r>
            <a:r>
              <a:rPr lang="en-US" altLang="zh-TW" dirty="0">
                <a:ea typeface="ＭＳ Ｐゴシック" panose="020B0600070205080204" pitchFamily="34" charset="-128"/>
              </a:rPr>
              <a:t> the </a:t>
            </a:r>
            <a:r>
              <a:rPr lang="en-US" altLang="zh-TW" i="1" dirty="0">
                <a:ea typeface="ＭＳ Ｐゴシック" panose="020B0600070205080204" pitchFamily="34" charset="-128"/>
              </a:rPr>
              <a:t>r</a:t>
            </a:r>
            <a:r>
              <a:rPr lang="en-US" altLang="zh-TW" dirty="0">
                <a:ea typeface="ＭＳ Ｐゴシック" panose="020B0600070205080204" pitchFamily="34" charset="-128"/>
              </a:rPr>
              <a:t> docs of highest weight in </a:t>
            </a:r>
            <a:r>
              <a:rPr lang="en-US" altLang="zh-TW" i="1" dirty="0">
                <a:ea typeface="ＭＳ Ｐゴシック" panose="020B0600070205080204" pitchFamily="34" charset="-128"/>
              </a:rPr>
              <a:t>t’</a:t>
            </a:r>
            <a:r>
              <a:rPr lang="en-US" altLang="zh-TW" dirty="0">
                <a:ea typeface="ＭＳ Ｐゴシック" panose="020B0600070205080204" pitchFamily="34" charset="-128"/>
              </a:rPr>
              <a:t>s postings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Call this the </a:t>
            </a:r>
            <a:r>
              <a:rPr lang="en-US" altLang="zh-TW" u="sng" dirty="0">
                <a:ea typeface="ＭＳ Ｐゴシック" panose="020B0600070205080204" pitchFamily="34" charset="-128"/>
              </a:rPr>
              <a:t>champion list</a:t>
            </a:r>
            <a:r>
              <a:rPr lang="en-US" altLang="zh-TW" dirty="0">
                <a:ea typeface="ＭＳ Ｐゴシック" panose="020B0600070205080204" pitchFamily="34" charset="-128"/>
              </a:rPr>
              <a:t> for </a:t>
            </a:r>
            <a:r>
              <a:rPr lang="en-US" altLang="zh-TW" i="1" dirty="0">
                <a:ea typeface="ＭＳ Ｐゴシック" panose="020B0600070205080204" pitchFamily="34" charset="-128"/>
              </a:rPr>
              <a:t>t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Note that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has to be chosen at index build time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Thus, it’s possible that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&lt;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At query time, only compute scores for docs in the champion list of some query term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Pick the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top-scoring docs from amongst these</a:t>
            </a:r>
          </a:p>
        </p:txBody>
      </p:sp>
      <p:sp>
        <p:nvSpPr>
          <p:cNvPr id="49156" name="TextBox 4">
            <a:extLst>
              <a:ext uri="{FF2B5EF4-FFF2-40B4-BE49-F238E27FC236}">
                <a16:creationId xmlns:a16="http://schemas.microsoft.com/office/drawing/2014/main" id="{9441AF4D-FDE0-D9CD-B5CF-ED62EC17C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>
            <a:extLst>
              <a:ext uri="{FF2B5EF4-FFF2-40B4-BE49-F238E27FC236}">
                <a16:creationId xmlns:a16="http://schemas.microsoft.com/office/drawing/2014/main" id="{1583449B-EFA9-532B-9CFB-59C74125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Static quality scores</a:t>
            </a:r>
          </a:p>
        </p:txBody>
      </p:sp>
      <p:sp>
        <p:nvSpPr>
          <p:cNvPr id="51204" name="Content Placeholder 2">
            <a:extLst>
              <a:ext uri="{FF2B5EF4-FFF2-40B4-BE49-F238E27FC236}">
                <a16:creationId xmlns:a16="http://schemas.microsoft.com/office/drawing/2014/main" id="{C4173164-9C14-8C30-8089-14E682859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69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want top-ranking documents to be both </a:t>
            </a:r>
            <a:r>
              <a:rPr lang="en-US" altLang="zh-TW" i="1" dirty="0">
                <a:ea typeface="ＭＳ Ｐゴシック" panose="020B0600070205080204" pitchFamily="34" charset="-128"/>
              </a:rPr>
              <a:t>relevant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and </a:t>
            </a: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authoritative</a:t>
            </a:r>
            <a:r>
              <a:rPr lang="en-US" altLang="zh-TW" i="1" dirty="0">
                <a:ea typeface="ＭＳ Ｐゴシック" panose="020B0600070205080204" pitchFamily="34" charset="-128"/>
              </a:rPr>
              <a:t>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Relevance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is being modeled by cosine scores,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Authority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is typically a query-independent property of a document.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Examples of authority signals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Articles in certain newspapers,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paper with many citations,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51205" name="TextBox 4">
            <a:extLst>
              <a:ext uri="{FF2B5EF4-FFF2-40B4-BE49-F238E27FC236}">
                <a16:creationId xmlns:a16="http://schemas.microsoft.com/office/drawing/2014/main" id="{5D7ECD57-29D2-5C70-719C-52F518DB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16CA74B4-2032-A72B-63EF-DCE79631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Modeling authority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5A6DF1E8-A426-F0EA-966C-023E1A2AD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Assign to each document a </a:t>
            </a:r>
            <a:r>
              <a:rPr lang="en-US" altLang="zh-TW" i="1" dirty="0">
                <a:ea typeface="ＭＳ Ｐゴシック" panose="020B0600070205080204" pitchFamily="34" charset="-128"/>
              </a:rPr>
              <a:t>query-independent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quality score</a:t>
            </a:r>
            <a:r>
              <a:rPr lang="en-US" altLang="zh-TW" dirty="0">
                <a:ea typeface="ＭＳ Ｐゴシック" panose="020B0600070205080204" pitchFamily="34" charset="-128"/>
              </a:rPr>
              <a:t> in [0,1] to each document </a:t>
            </a:r>
            <a:r>
              <a:rPr lang="en-US" altLang="zh-TW" i="1" dirty="0">
                <a:ea typeface="ＭＳ Ｐゴシック" panose="020B0600070205080204" pitchFamily="34" charset="-128"/>
              </a:rPr>
              <a:t>d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Denote this by </a:t>
            </a:r>
            <a:r>
              <a:rPr lang="en-US" altLang="zh-TW" i="1" dirty="0">
                <a:ea typeface="ＭＳ Ｐゴシック" panose="020B0600070205080204" pitchFamily="34" charset="-128"/>
              </a:rPr>
              <a:t>g(d)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Thus, a quantity like the number of citations is scaled into [0,1]</a:t>
            </a:r>
          </a:p>
        </p:txBody>
      </p:sp>
      <p:sp>
        <p:nvSpPr>
          <p:cNvPr id="53252" name="TextBox 4">
            <a:extLst>
              <a:ext uri="{FF2B5EF4-FFF2-40B4-BE49-F238E27FC236}">
                <a16:creationId xmlns:a16="http://schemas.microsoft.com/office/drawing/2014/main" id="{435E391B-7D89-180C-A078-9B3985016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18A5AE2-52DA-C615-0A79-F391BB1B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Net score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F734C6E2-62DC-6049-79E5-DA403D5A9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Consider a simple total score combining cosine relevance and authority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net-score(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q,d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) =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g(d) +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cosine(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q,d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)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Can use some other linear combination than an equal weighting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Now we seek the top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docs by </a:t>
            </a:r>
            <a:r>
              <a:rPr lang="en-US" altLang="zh-TW" u="sng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net score</a:t>
            </a:r>
          </a:p>
        </p:txBody>
      </p:sp>
      <p:sp>
        <p:nvSpPr>
          <p:cNvPr id="55300" name="TextBox 4">
            <a:extLst>
              <a:ext uri="{FF2B5EF4-FFF2-40B4-BE49-F238E27FC236}">
                <a16:creationId xmlns:a16="http://schemas.microsoft.com/office/drawing/2014/main" id="{0D9EBD4C-2361-0691-266C-F79661044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E8A78E1F-8C50-AD19-9CAB-D4B713C0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Why order postings by </a:t>
            </a: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g(d)?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545E8A97-C63D-F6E9-26D5-95B1EA59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Under </a:t>
            </a:r>
            <a:r>
              <a:rPr lang="en-US" altLang="zh-TW" i="1" dirty="0">
                <a:ea typeface="ＭＳ Ｐゴシック" panose="020B0600070205080204" pitchFamily="34" charset="-128"/>
              </a:rPr>
              <a:t>g(d)-</a:t>
            </a:r>
            <a:r>
              <a:rPr lang="en-US" altLang="zh-TW" dirty="0">
                <a:ea typeface="ＭＳ Ｐゴシック" panose="020B0600070205080204" pitchFamily="34" charset="-128"/>
              </a:rPr>
              <a:t>ordering, top-scoring docs likely to appear early in postings traversal.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 time-bound applications (say, we have to return whatever search results we can in 50 </a:t>
            </a:r>
            <a:r>
              <a:rPr lang="en-US" altLang="zh-TW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ms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), this allows us to stop postings traversal early.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Short of computing scores for all docs in postings</a:t>
            </a:r>
          </a:p>
        </p:txBody>
      </p:sp>
      <p:sp>
        <p:nvSpPr>
          <p:cNvPr id="59396" name="TextBox 4">
            <a:extLst>
              <a:ext uri="{FF2B5EF4-FFF2-40B4-BE49-F238E27FC236}">
                <a16:creationId xmlns:a16="http://schemas.microsoft.com/office/drawing/2014/main" id="{E9D408B4-28F5-CE92-27C3-E2F3BD097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9563D9F8-1DF5-9DA5-3F84-ABFBF7C6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Champion lists in </a:t>
            </a: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g(d)-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ordering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CF8E2A4F-4613-0193-C387-56E6BAA4B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Can combine champion lists with </a:t>
            </a:r>
            <a:r>
              <a:rPr lang="en-US" altLang="zh-TW" i="1" dirty="0">
                <a:ea typeface="ＭＳ Ｐゴシック" panose="020B0600070205080204" pitchFamily="34" charset="-128"/>
              </a:rPr>
              <a:t>g(d)-</a:t>
            </a:r>
            <a:r>
              <a:rPr lang="en-US" altLang="zh-TW" dirty="0">
                <a:ea typeface="ＭＳ Ｐゴシック" panose="020B0600070205080204" pitchFamily="34" charset="-128"/>
              </a:rPr>
              <a:t>ordering.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Maintain for each term a champion list of the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docs with highest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g(d) + 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tf-idf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td</a:t>
            </a:r>
            <a:endParaRPr lang="en-US" altLang="zh-TW" i="1" baseline="-250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Seek top-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results from only the docs in these champion lists.</a:t>
            </a:r>
            <a:endParaRPr lang="en-US" altLang="zh-TW" i="1" baseline="-25000" dirty="0">
              <a:ea typeface="ＭＳ Ｐゴシック" panose="020B0600070205080204" pitchFamily="34" charset="-128"/>
            </a:endParaRPr>
          </a:p>
        </p:txBody>
      </p:sp>
      <p:sp>
        <p:nvSpPr>
          <p:cNvPr id="61444" name="TextBox 4">
            <a:extLst>
              <a:ext uri="{FF2B5EF4-FFF2-40B4-BE49-F238E27FC236}">
                <a16:creationId xmlns:a16="http://schemas.microsoft.com/office/drawing/2014/main" id="{059839A9-8084-58A3-62D2-DCD56940B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1995CA7C-45DE-546F-E9F2-727E5502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90556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High and low lists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916C013A-058F-88EE-781F-AFEFFF677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each term, we maintain two postings lists called </a:t>
            </a:r>
            <a:r>
              <a:rPr lang="en-US" altLang="zh-TW" i="1" dirty="0">
                <a:ea typeface="ＭＳ Ｐゴシック" panose="020B0600070205080204" pitchFamily="34" charset="-128"/>
              </a:rPr>
              <a:t>high </a:t>
            </a:r>
            <a:r>
              <a:rPr lang="en-US" altLang="zh-TW" dirty="0">
                <a:ea typeface="ＭＳ Ｐゴシック" panose="020B0600070205080204" pitchFamily="34" charset="-128"/>
              </a:rPr>
              <a:t>and </a:t>
            </a:r>
            <a:r>
              <a:rPr lang="en-US" altLang="zh-TW" i="1" dirty="0">
                <a:ea typeface="ＭＳ Ｐゴシック" panose="020B0600070205080204" pitchFamily="34" charset="-128"/>
              </a:rPr>
              <a:t>low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Think of </a:t>
            </a:r>
            <a:r>
              <a:rPr lang="en-US" altLang="zh-TW" i="1" dirty="0">
                <a:ea typeface="ＭＳ Ｐゴシック" panose="020B0600070205080204" pitchFamily="34" charset="-128"/>
              </a:rPr>
              <a:t>high</a:t>
            </a:r>
            <a:r>
              <a:rPr lang="en-US" altLang="zh-TW" dirty="0">
                <a:ea typeface="ＭＳ Ｐゴシック" panose="020B0600070205080204" pitchFamily="34" charset="-128"/>
              </a:rPr>
              <a:t> as the champion list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When traversing postings on a query, only traverse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high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lists first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If we get more than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docs, select the top </a:t>
            </a:r>
            <a:r>
              <a:rPr lang="en-US" altLang="zh-TW" i="1" dirty="0">
                <a:ea typeface="ＭＳ Ｐゴシック" panose="020B0600070205080204" pitchFamily="34" charset="-128"/>
              </a:rPr>
              <a:t>K </a:t>
            </a:r>
            <a:r>
              <a:rPr lang="en-US" altLang="zh-TW" dirty="0">
                <a:ea typeface="ＭＳ Ｐゴシック" panose="020B0600070205080204" pitchFamily="34" charset="-128"/>
              </a:rPr>
              <a:t>and stop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Else proceed to get docs from the </a:t>
            </a:r>
            <a:r>
              <a:rPr lang="en-US" altLang="zh-TW" i="1" dirty="0">
                <a:ea typeface="ＭＳ Ｐゴシック" panose="020B0600070205080204" pitchFamily="34" charset="-128"/>
              </a:rPr>
              <a:t>low</a:t>
            </a:r>
            <a:r>
              <a:rPr lang="en-US" altLang="zh-TW" dirty="0">
                <a:ea typeface="ＭＳ Ｐゴシック" panose="020B0600070205080204" pitchFamily="34" charset="-128"/>
              </a:rPr>
              <a:t> lists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Can be used even for simple cosine scores, without global quality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g(d)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means for segmenting index into two </a:t>
            </a:r>
            <a:r>
              <a:rPr lang="en-US" altLang="zh-TW" u="sng" dirty="0">
                <a:ea typeface="ＭＳ Ｐゴシック" panose="020B0600070205080204" pitchFamily="34" charset="-128"/>
              </a:rPr>
              <a:t>tiers</a:t>
            </a:r>
          </a:p>
        </p:txBody>
      </p:sp>
      <p:sp>
        <p:nvSpPr>
          <p:cNvPr id="63492" name="TextBox 4">
            <a:extLst>
              <a:ext uri="{FF2B5EF4-FFF2-40B4-BE49-F238E27FC236}">
                <a16:creationId xmlns:a16="http://schemas.microsoft.com/office/drawing/2014/main" id="{C5795A8F-2798-B3F8-D8C0-84F916547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0E75A3E-5738-330D-3CFB-601349CA3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11576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Cluster pruning: preprocessing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2A94FD0-403E-9FBC-7F49-106B005CF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500" dirty="0">
                <a:ea typeface="宋体" panose="02010600030101010101" pitchFamily="2" charset="-122"/>
              </a:rPr>
              <a:t> Pick </a:t>
            </a:r>
            <a:r>
              <a:rPr lang="en-US" altLang="zh-CN" sz="3500" dirty="0">
                <a:ea typeface="宋体" panose="02010600030101010101" pitchFamily="2" charset="-122"/>
                <a:sym typeface="Symbol" panose="05050102010706020507" pitchFamily="18" charset="2"/>
              </a:rPr>
              <a:t>N </a:t>
            </a:r>
            <a:r>
              <a:rPr lang="en-US" altLang="zh-CN" sz="3500" i="1" dirty="0">
                <a:ea typeface="宋体" panose="02010600030101010101" pitchFamily="2" charset="-122"/>
                <a:sym typeface="Symbol" panose="05050102010706020507" pitchFamily="18" charset="2"/>
              </a:rPr>
              <a:t>docs</a:t>
            </a:r>
            <a:r>
              <a:rPr lang="en-US" altLang="zh-CN" sz="3500" dirty="0">
                <a:ea typeface="宋体" panose="02010600030101010101" pitchFamily="2" charset="-122"/>
                <a:sym typeface="Symbol" panose="05050102010706020507" pitchFamily="18" charset="2"/>
              </a:rPr>
              <a:t> at random: call these </a:t>
            </a:r>
            <a:r>
              <a:rPr lang="en-US" altLang="zh-CN" sz="3500" i="1" dirty="0">
                <a:ea typeface="宋体" panose="02010600030101010101" pitchFamily="2" charset="-122"/>
                <a:sym typeface="Symbol" panose="05050102010706020507" pitchFamily="18" charset="2"/>
              </a:rPr>
              <a:t>leaders</a:t>
            </a:r>
            <a:endParaRPr lang="en-US" altLang="zh-CN" sz="3500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500" dirty="0">
                <a:solidFill>
                  <a:srgbClr val="C00000"/>
                </a:solidFill>
                <a:ea typeface="宋体" panose="02010600030101010101" pitchFamily="2" charset="-122"/>
              </a:rPr>
              <a:t> For every other doc, pre-compute nearest leader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Docs attached to a leader: its </a:t>
            </a:r>
            <a:r>
              <a:rPr lang="en-US" altLang="zh-CN" sz="3200" i="1" dirty="0">
                <a:ea typeface="宋体" panose="02010600030101010101" pitchFamily="2" charset="-122"/>
              </a:rPr>
              <a:t>followers;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200" u="sng" dirty="0">
                <a:ea typeface="宋体" panose="02010600030101010101" pitchFamily="2" charset="-122"/>
              </a:rPr>
              <a:t>Likely</a:t>
            </a:r>
            <a:r>
              <a:rPr lang="en-US" altLang="zh-CN" sz="3200" dirty="0">
                <a:ea typeface="宋体" panose="02010600030101010101" pitchFamily="2" charset="-122"/>
              </a:rPr>
              <a:t>: each leader has ~ 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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followers.</a:t>
            </a:r>
            <a:endParaRPr lang="en-US" altLang="zh-CN" sz="3200" i="1" dirty="0">
              <a:ea typeface="宋体" panose="02010600030101010101" pitchFamily="2" charset="-122"/>
            </a:endParaRPr>
          </a:p>
        </p:txBody>
      </p:sp>
      <p:sp>
        <p:nvSpPr>
          <p:cNvPr id="71684" name="TextBox 4">
            <a:extLst>
              <a:ext uri="{FF2B5EF4-FFF2-40B4-BE49-F238E27FC236}">
                <a16:creationId xmlns:a16="http://schemas.microsoft.com/office/drawing/2014/main" id="{1F19C288-2161-E02A-F216-44FB1053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FE5AE35-8D16-0356-6800-665A8E1C4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Cluster pruning: query processing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04835E5-723E-893B-ED31-CE562E3FD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400" dirty="0">
                <a:ea typeface="宋体" panose="02010600030101010101" pitchFamily="2" charset="-122"/>
              </a:rPr>
              <a:t> Process a query as follows: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Given query </a:t>
            </a:r>
            <a:r>
              <a:rPr lang="en-US" altLang="zh-CN" sz="3200" i="1" dirty="0">
                <a:ea typeface="宋体" panose="02010600030101010101" pitchFamily="2" charset="-122"/>
              </a:rPr>
              <a:t>Q</a:t>
            </a:r>
            <a:r>
              <a:rPr lang="en-US" altLang="zh-CN" sz="3200" dirty="0">
                <a:ea typeface="宋体" panose="02010600030101010101" pitchFamily="2" charset="-122"/>
              </a:rPr>
              <a:t>, find its nearest </a:t>
            </a:r>
            <a:r>
              <a:rPr lang="en-US" altLang="zh-CN" sz="3200" i="1" dirty="0">
                <a:ea typeface="宋体" panose="02010600030101010101" pitchFamily="2" charset="-122"/>
              </a:rPr>
              <a:t>leader L.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宋体" panose="02010600030101010101" pitchFamily="2" charset="-122"/>
              </a:rPr>
              <a:t>Seek </a:t>
            </a:r>
            <a:r>
              <a:rPr lang="en-US" altLang="zh-CN" sz="3200" i="1" dirty="0">
                <a:ea typeface="宋体" panose="02010600030101010101" pitchFamily="2" charset="-122"/>
              </a:rPr>
              <a:t>K</a:t>
            </a:r>
            <a:r>
              <a:rPr lang="en-US" altLang="zh-CN" sz="3200" dirty="0">
                <a:ea typeface="宋体" panose="02010600030101010101" pitchFamily="2" charset="-122"/>
              </a:rPr>
              <a:t> nearest docs from among </a:t>
            </a:r>
            <a:r>
              <a:rPr lang="en-US" altLang="zh-CN" sz="3200" i="1" dirty="0">
                <a:ea typeface="宋体" panose="02010600030101010101" pitchFamily="2" charset="-122"/>
              </a:rPr>
              <a:t>L</a:t>
            </a:r>
            <a:r>
              <a:rPr lang="en-US" altLang="zh-CN" sz="3200" dirty="0">
                <a:ea typeface="宋体" panose="02010600030101010101" pitchFamily="2" charset="-122"/>
              </a:rPr>
              <a:t>’s followers.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3732" name="TextBox 4">
            <a:extLst>
              <a:ext uri="{FF2B5EF4-FFF2-40B4-BE49-F238E27FC236}">
                <a16:creationId xmlns:a16="http://schemas.microsoft.com/office/drawing/2014/main" id="{090B2383-DCED-6988-A2C0-67FA45A70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59177F7-C34A-5A1E-042C-AE70FA499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80199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Visualization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E5E5FE-1F86-9EAB-567F-E605B3E4C83E}"/>
              </a:ext>
            </a:extLst>
          </p:cNvPr>
          <p:cNvGrpSpPr/>
          <p:nvPr/>
        </p:nvGrpSpPr>
        <p:grpSpPr>
          <a:xfrm>
            <a:off x="3001486" y="1172834"/>
            <a:ext cx="6249987" cy="5114131"/>
            <a:chOff x="3124201" y="1582738"/>
            <a:chExt cx="6249987" cy="5114131"/>
          </a:xfrm>
        </p:grpSpPr>
        <p:sp>
          <p:nvSpPr>
            <p:cNvPr id="75779" name="Oval 15">
              <a:extLst>
                <a:ext uri="{FF2B5EF4-FFF2-40B4-BE49-F238E27FC236}">
                  <a16:creationId xmlns:a16="http://schemas.microsoft.com/office/drawing/2014/main" id="{9F57E8FD-3565-534B-1D0B-40C2A152F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364" y="3173414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0" name="Oval 16">
              <a:extLst>
                <a:ext uri="{FF2B5EF4-FFF2-40B4-BE49-F238E27FC236}">
                  <a16:creationId xmlns:a16="http://schemas.microsoft.com/office/drawing/2014/main" id="{DDDCBEA4-6343-8657-9074-536BE5C35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576" y="26844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1" name="Oval 17">
              <a:extLst>
                <a:ext uri="{FF2B5EF4-FFF2-40B4-BE49-F238E27FC236}">
                  <a16:creationId xmlns:a16="http://schemas.microsoft.com/office/drawing/2014/main" id="{A524B335-E22A-263D-9B36-9E2496C11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526" y="3009901"/>
              <a:ext cx="212725" cy="252413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2" name="Oval 18">
              <a:extLst>
                <a:ext uri="{FF2B5EF4-FFF2-40B4-BE49-F238E27FC236}">
                  <a16:creationId xmlns:a16="http://schemas.microsoft.com/office/drawing/2014/main" id="{ADA0A2FB-B62C-77CF-B963-A23C8700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526" y="34163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3" name="Oval 19">
              <a:extLst>
                <a:ext uri="{FF2B5EF4-FFF2-40B4-BE49-F238E27FC236}">
                  <a16:creationId xmlns:a16="http://schemas.microsoft.com/office/drawing/2014/main" id="{1DE88F7C-BB99-BB3C-6954-7BF236339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576" y="38227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4" name="Oval 20">
              <a:extLst>
                <a:ext uri="{FF2B5EF4-FFF2-40B4-BE49-F238E27FC236}">
                  <a16:creationId xmlns:a16="http://schemas.microsoft.com/office/drawing/2014/main" id="{EBC23375-BB27-0A68-424C-EEAF69200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1" y="5367338"/>
              <a:ext cx="212725" cy="252412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5" name="Oval 21">
              <a:extLst>
                <a:ext uri="{FF2B5EF4-FFF2-40B4-BE49-F238E27FC236}">
                  <a16:creationId xmlns:a16="http://schemas.microsoft.com/office/drawing/2014/main" id="{70FA03D0-836C-2B9C-DB24-E5308EB2E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1" y="1954214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6" name="Oval 22">
              <a:extLst>
                <a:ext uri="{FF2B5EF4-FFF2-40B4-BE49-F238E27FC236}">
                  <a16:creationId xmlns:a16="http://schemas.microsoft.com/office/drawing/2014/main" id="{78B46265-4635-7DEB-614B-BFFBAA357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1" y="226218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7" name="Oval 24">
              <a:extLst>
                <a:ext uri="{FF2B5EF4-FFF2-40B4-BE49-F238E27FC236}">
                  <a16:creationId xmlns:a16="http://schemas.microsoft.com/office/drawing/2014/main" id="{4CC5CA43-7AE7-1569-E0EB-F596246FA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4076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8" name="Oval 25">
              <a:extLst>
                <a:ext uri="{FF2B5EF4-FFF2-40B4-BE49-F238E27FC236}">
                  <a16:creationId xmlns:a16="http://schemas.microsoft.com/office/drawing/2014/main" id="{E4CAD90C-924A-A5E6-3980-2C95B3896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1" y="58547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89" name="Oval 26">
              <a:extLst>
                <a:ext uri="{FF2B5EF4-FFF2-40B4-BE49-F238E27FC236}">
                  <a16:creationId xmlns:a16="http://schemas.microsoft.com/office/drawing/2014/main" id="{2F8421DD-1240-E42E-9A64-6A253E7B9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8864" y="55292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0" name="Oval 27">
              <a:extLst>
                <a:ext uri="{FF2B5EF4-FFF2-40B4-BE49-F238E27FC236}">
                  <a16:creationId xmlns:a16="http://schemas.microsoft.com/office/drawing/2014/main" id="{BBA8BC8C-381B-C2BC-CADC-CDF739DEA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8864" y="58547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1" name="Oval 28">
              <a:extLst>
                <a:ext uri="{FF2B5EF4-FFF2-40B4-BE49-F238E27FC236}">
                  <a16:creationId xmlns:a16="http://schemas.microsoft.com/office/drawing/2014/main" id="{1ED9C8DC-6A1A-514F-1030-660BE1192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3064" y="2360614"/>
              <a:ext cx="212725" cy="250825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2" name="Oval 29">
              <a:extLst>
                <a:ext uri="{FF2B5EF4-FFF2-40B4-BE49-F238E27FC236}">
                  <a16:creationId xmlns:a16="http://schemas.microsoft.com/office/drawing/2014/main" id="{5015F6E7-6223-4F29-CC53-660E59C4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1" y="21971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3" name="Oval 30">
              <a:extLst>
                <a:ext uri="{FF2B5EF4-FFF2-40B4-BE49-F238E27FC236}">
                  <a16:creationId xmlns:a16="http://schemas.microsoft.com/office/drawing/2014/main" id="{7DA89932-A7ED-CFDC-C38C-806CFEE8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9" y="4879976"/>
              <a:ext cx="212725" cy="252413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4" name="Oval 31">
              <a:extLst>
                <a:ext uri="{FF2B5EF4-FFF2-40B4-BE49-F238E27FC236}">
                  <a16:creationId xmlns:a16="http://schemas.microsoft.com/office/drawing/2014/main" id="{2703C02B-0497-8A9F-61AC-95C3E2212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9139" y="4392614"/>
              <a:ext cx="212725" cy="250825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5" name="Oval 32">
              <a:extLst>
                <a:ext uri="{FF2B5EF4-FFF2-40B4-BE49-F238E27FC236}">
                  <a16:creationId xmlns:a16="http://schemas.microsoft.com/office/drawing/2014/main" id="{05F6CED5-EBE4-6F23-DEAB-E94D477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901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6" name="Oval 33">
              <a:extLst>
                <a:ext uri="{FF2B5EF4-FFF2-40B4-BE49-F238E27FC236}">
                  <a16:creationId xmlns:a16="http://schemas.microsoft.com/office/drawing/2014/main" id="{122E2ECD-4B81-C6CF-03F4-3D18607B5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901" y="4879976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7" name="Oval 34">
              <a:extLst>
                <a:ext uri="{FF2B5EF4-FFF2-40B4-BE49-F238E27FC236}">
                  <a16:creationId xmlns:a16="http://schemas.microsoft.com/office/drawing/2014/main" id="{B478CA85-837A-3208-601C-83B5081E0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576" y="51228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8" name="Oval 35">
              <a:extLst>
                <a:ext uri="{FF2B5EF4-FFF2-40B4-BE49-F238E27FC236}">
                  <a16:creationId xmlns:a16="http://schemas.microsoft.com/office/drawing/2014/main" id="{283C4962-4E4F-588E-1828-7CA98DA77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476" y="53673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799" name="Oval 36">
              <a:extLst>
                <a:ext uri="{FF2B5EF4-FFF2-40B4-BE49-F238E27FC236}">
                  <a16:creationId xmlns:a16="http://schemas.microsoft.com/office/drawing/2014/main" id="{49CF14B8-4659-B4BC-512A-E310C3E79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926" y="41481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0" name="Oval 37">
              <a:extLst>
                <a:ext uri="{FF2B5EF4-FFF2-40B4-BE49-F238E27FC236}">
                  <a16:creationId xmlns:a16="http://schemas.microsoft.com/office/drawing/2014/main" id="{8A3B8AAC-AE53-49E0-16F8-0024DE6C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301" y="4554538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1" name="Oval 38">
              <a:extLst>
                <a:ext uri="{FF2B5EF4-FFF2-40B4-BE49-F238E27FC236}">
                  <a16:creationId xmlns:a16="http://schemas.microsoft.com/office/drawing/2014/main" id="{E5CA1D4D-8D09-681E-CF54-A24742FEC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926" y="4879976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2" name="Oval 39">
              <a:extLst>
                <a:ext uri="{FF2B5EF4-FFF2-40B4-BE49-F238E27FC236}">
                  <a16:creationId xmlns:a16="http://schemas.microsoft.com/office/drawing/2014/main" id="{5D77AD7C-041D-EDC5-4A0A-48AB6249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764" y="46355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3" name="Rectangle 40">
              <a:extLst>
                <a:ext uri="{FF2B5EF4-FFF2-40B4-BE49-F238E27FC236}">
                  <a16:creationId xmlns:a16="http://schemas.microsoft.com/office/drawing/2014/main" id="{496326B8-2761-69AF-6860-1EB7267DC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5376" y="3173414"/>
              <a:ext cx="21272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4" name="Oval 41">
              <a:extLst>
                <a:ext uri="{FF2B5EF4-FFF2-40B4-BE49-F238E27FC236}">
                  <a16:creationId xmlns:a16="http://schemas.microsoft.com/office/drawing/2014/main" id="{2C0414BA-5AB1-D5F4-8AD6-44908E5B1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1" y="3173414"/>
              <a:ext cx="212725" cy="250825"/>
            </a:xfrm>
            <a:prstGeom prst="ellipse">
              <a:avLst/>
            </a:prstGeom>
            <a:solidFill>
              <a:srgbClr val="339966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5" name="Oval 42">
              <a:extLst>
                <a:ext uri="{FF2B5EF4-FFF2-40B4-BE49-F238E27FC236}">
                  <a16:creationId xmlns:a16="http://schemas.microsoft.com/office/drawing/2014/main" id="{DA19D0CC-EB38-1370-E198-E2DFB32A0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1" y="6342063"/>
              <a:ext cx="212725" cy="252412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6" name="Oval 43">
              <a:extLst>
                <a:ext uri="{FF2B5EF4-FFF2-40B4-BE49-F238E27FC236}">
                  <a16:creationId xmlns:a16="http://schemas.microsoft.com/office/drawing/2014/main" id="{625AB5C6-F92A-58F2-8C59-1703131F0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676" y="6342063"/>
              <a:ext cx="212725" cy="252412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07" name="Text Box 4">
              <a:extLst>
                <a:ext uri="{FF2B5EF4-FFF2-40B4-BE49-F238E27FC236}">
                  <a16:creationId xmlns:a16="http://schemas.microsoft.com/office/drawing/2014/main" id="{7FDD0905-07DA-530F-4DE5-DE1D67EE6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3200400"/>
              <a:ext cx="946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Query</a:t>
              </a:r>
            </a:p>
          </p:txBody>
        </p:sp>
        <p:cxnSp>
          <p:nvCxnSpPr>
            <p:cNvPr id="75808" name="AutoShape 5">
              <a:extLst>
                <a:ext uri="{FF2B5EF4-FFF2-40B4-BE49-F238E27FC236}">
                  <a16:creationId xmlns:a16="http://schemas.microsoft.com/office/drawing/2014/main" id="{3AE58056-4266-A6B7-6ED9-4802595C0A24}"/>
                </a:ext>
              </a:extLst>
            </p:cNvPr>
            <p:cNvCxnSpPr>
              <a:cxnSpLocks noChangeShapeType="1"/>
              <a:stCxn id="75807" idx="1"/>
              <a:endCxn id="75807" idx="1"/>
            </p:cNvCxnSpPr>
            <p:nvPr/>
          </p:nvCxnSpPr>
          <p:spPr bwMode="auto">
            <a:xfrm>
              <a:off x="7391400" y="3429000"/>
              <a:ext cx="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809" name="Text Box 11">
              <a:extLst>
                <a:ext uri="{FF2B5EF4-FFF2-40B4-BE49-F238E27FC236}">
                  <a16:creationId xmlns:a16="http://schemas.microsoft.com/office/drawing/2014/main" id="{25FCE81A-78DA-0559-20A4-33C352572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851" y="6239669"/>
              <a:ext cx="1028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Leader</a:t>
              </a:r>
            </a:p>
          </p:txBody>
        </p:sp>
        <p:sp>
          <p:nvSpPr>
            <p:cNvPr id="75810" name="Text Box 12">
              <a:extLst>
                <a:ext uri="{FF2B5EF4-FFF2-40B4-BE49-F238E27FC236}">
                  <a16:creationId xmlns:a16="http://schemas.microsoft.com/office/drawing/2014/main" id="{508CEC8C-78FE-0DC3-F0E7-4091B328F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8870" y="6239669"/>
              <a:ext cx="1284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Follower</a:t>
              </a:r>
            </a:p>
          </p:txBody>
        </p:sp>
        <p:sp>
          <p:nvSpPr>
            <p:cNvPr id="75811" name="Oval 13">
              <a:extLst>
                <a:ext uri="{FF2B5EF4-FFF2-40B4-BE49-F238E27FC236}">
                  <a16:creationId xmlns:a16="http://schemas.microsoft.com/office/drawing/2014/main" id="{731A398A-7C16-6C5C-92AF-F5815F286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2286000"/>
              <a:ext cx="76200" cy="76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75812" name="AutoShape 45">
              <a:extLst>
                <a:ext uri="{FF2B5EF4-FFF2-40B4-BE49-F238E27FC236}">
                  <a16:creationId xmlns:a16="http://schemas.microsoft.com/office/drawing/2014/main" id="{C2DBE972-BFF4-56EF-460A-BF25D684E4B1}"/>
                </a:ext>
              </a:extLst>
            </p:cNvPr>
            <p:cNvCxnSpPr>
              <a:cxnSpLocks noChangeShapeType="1"/>
              <a:stCxn id="75811" idx="5"/>
              <a:endCxn id="75791" idx="1"/>
            </p:cNvCxnSpPr>
            <p:nvPr/>
          </p:nvCxnSpPr>
          <p:spPr bwMode="auto">
            <a:xfrm>
              <a:off x="7837489" y="2351088"/>
              <a:ext cx="187325" cy="365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13" name="AutoShape 46">
              <a:extLst>
                <a:ext uri="{FF2B5EF4-FFF2-40B4-BE49-F238E27FC236}">
                  <a16:creationId xmlns:a16="http://schemas.microsoft.com/office/drawing/2014/main" id="{36555656-3496-4270-A869-2E80FBC3E228}"/>
                </a:ext>
              </a:extLst>
            </p:cNvPr>
            <p:cNvCxnSpPr>
              <a:cxnSpLocks noChangeShapeType="1"/>
              <a:stCxn id="75811" idx="6"/>
              <a:endCxn id="75792" idx="2"/>
            </p:cNvCxnSpPr>
            <p:nvPr/>
          </p:nvCxnSpPr>
          <p:spPr bwMode="auto">
            <a:xfrm>
              <a:off x="7848601" y="2324100"/>
              <a:ext cx="4095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14" name="AutoShape 48">
              <a:extLst>
                <a:ext uri="{FF2B5EF4-FFF2-40B4-BE49-F238E27FC236}">
                  <a16:creationId xmlns:a16="http://schemas.microsoft.com/office/drawing/2014/main" id="{EFEF7860-E29C-4015-0FF8-0F37FAB0AFBD}"/>
                </a:ext>
              </a:extLst>
            </p:cNvPr>
            <p:cNvCxnSpPr>
              <a:cxnSpLocks noChangeShapeType="1"/>
              <a:stCxn id="75811" idx="0"/>
            </p:cNvCxnSpPr>
            <p:nvPr/>
          </p:nvCxnSpPr>
          <p:spPr bwMode="auto">
            <a:xfrm>
              <a:off x="7810500" y="2286000"/>
              <a:ext cx="1588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15" name="AutoShape 50">
              <a:extLst>
                <a:ext uri="{FF2B5EF4-FFF2-40B4-BE49-F238E27FC236}">
                  <a16:creationId xmlns:a16="http://schemas.microsoft.com/office/drawing/2014/main" id="{FE6F0976-8B3B-60A3-DBE9-AEC2ACEEE62A}"/>
                </a:ext>
              </a:extLst>
            </p:cNvPr>
            <p:cNvCxnSpPr>
              <a:cxnSpLocks noChangeShapeType="1"/>
              <a:stCxn id="75811" idx="7"/>
            </p:cNvCxnSpPr>
            <p:nvPr/>
          </p:nvCxnSpPr>
          <p:spPr bwMode="auto">
            <a:xfrm flipH="1" flipV="1">
              <a:off x="7756526" y="2012951"/>
              <a:ext cx="80963" cy="2841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16" name="AutoShape 51">
              <a:extLst>
                <a:ext uri="{FF2B5EF4-FFF2-40B4-BE49-F238E27FC236}">
                  <a16:creationId xmlns:a16="http://schemas.microsoft.com/office/drawing/2014/main" id="{78700C66-111C-585F-ADED-1F4330CB41FD}"/>
                </a:ext>
              </a:extLst>
            </p:cNvPr>
            <p:cNvCxnSpPr>
              <a:cxnSpLocks noChangeShapeType="1"/>
              <a:stCxn id="75811" idx="1"/>
              <a:endCxn id="75785" idx="6"/>
            </p:cNvCxnSpPr>
            <p:nvPr/>
          </p:nvCxnSpPr>
          <p:spPr bwMode="auto">
            <a:xfrm flipH="1" flipV="1">
              <a:off x="7461251" y="2079625"/>
              <a:ext cx="322263" cy="2174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17" name="AutoShape 52">
              <a:extLst>
                <a:ext uri="{FF2B5EF4-FFF2-40B4-BE49-F238E27FC236}">
                  <a16:creationId xmlns:a16="http://schemas.microsoft.com/office/drawing/2014/main" id="{107AF85D-5DD3-84B8-729F-78AC146D641C}"/>
                </a:ext>
              </a:extLst>
            </p:cNvPr>
            <p:cNvCxnSpPr>
              <a:cxnSpLocks noChangeShapeType="1"/>
              <a:stCxn id="75811" idx="1"/>
              <a:endCxn id="75786" idx="6"/>
            </p:cNvCxnSpPr>
            <p:nvPr/>
          </p:nvCxnSpPr>
          <p:spPr bwMode="auto">
            <a:xfrm flipH="1">
              <a:off x="7613651" y="2297114"/>
              <a:ext cx="169863" cy="920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5829" name="AutoShape 53">
              <a:extLst>
                <a:ext uri="{FF2B5EF4-FFF2-40B4-BE49-F238E27FC236}">
                  <a16:creationId xmlns:a16="http://schemas.microsoft.com/office/drawing/2014/main" id="{28DBAA9D-CA7F-7DFC-3076-D3FCCF689DAD}"/>
                </a:ext>
              </a:extLst>
            </p:cNvPr>
            <p:cNvCxnSpPr>
              <a:cxnSpLocks noChangeShapeType="1"/>
              <a:stCxn id="75804" idx="0"/>
              <a:endCxn id="75811" idx="3"/>
            </p:cNvCxnSpPr>
            <p:nvPr/>
          </p:nvCxnSpPr>
          <p:spPr bwMode="auto">
            <a:xfrm flipV="1">
              <a:off x="7345363" y="2351088"/>
              <a:ext cx="438150" cy="8128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55830" name="Freeform 54">
              <a:extLst>
                <a:ext uri="{FF2B5EF4-FFF2-40B4-BE49-F238E27FC236}">
                  <a16:creationId xmlns:a16="http://schemas.microsoft.com/office/drawing/2014/main" id="{2000C759-FF59-8672-1E8B-47D1A6292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6538" y="1582738"/>
              <a:ext cx="2787650" cy="1485900"/>
            </a:xfrm>
            <a:custGeom>
              <a:avLst/>
              <a:gdLst>
                <a:gd name="T0" fmla="*/ 2147483646 w 1756"/>
                <a:gd name="T1" fmla="*/ 2147483646 h 936"/>
                <a:gd name="T2" fmla="*/ 2147483646 w 1756"/>
                <a:gd name="T3" fmla="*/ 2147483646 h 936"/>
                <a:gd name="T4" fmla="*/ 2147483646 w 1756"/>
                <a:gd name="T5" fmla="*/ 2147483646 h 936"/>
                <a:gd name="T6" fmla="*/ 2147483646 w 1756"/>
                <a:gd name="T7" fmla="*/ 2147483646 h 936"/>
                <a:gd name="T8" fmla="*/ 2147483646 w 1756"/>
                <a:gd name="T9" fmla="*/ 2147483646 h 936"/>
                <a:gd name="T10" fmla="*/ 2147483646 w 1756"/>
                <a:gd name="T11" fmla="*/ 2147483646 h 936"/>
                <a:gd name="T12" fmla="*/ 2147483646 w 1756"/>
                <a:gd name="T13" fmla="*/ 2147483646 h 936"/>
                <a:gd name="T14" fmla="*/ 2147483646 w 1756"/>
                <a:gd name="T15" fmla="*/ 2147483646 h 936"/>
                <a:gd name="T16" fmla="*/ 2147483646 w 1756"/>
                <a:gd name="T17" fmla="*/ 2147483646 h 936"/>
                <a:gd name="T18" fmla="*/ 2147483646 w 1756"/>
                <a:gd name="T19" fmla="*/ 2147483646 h 936"/>
                <a:gd name="T20" fmla="*/ 2147483646 w 1756"/>
                <a:gd name="T21" fmla="*/ 2147483646 h 936"/>
                <a:gd name="T22" fmla="*/ 2147483646 w 1756"/>
                <a:gd name="T23" fmla="*/ 2147483646 h 936"/>
                <a:gd name="T24" fmla="*/ 2147483646 w 1756"/>
                <a:gd name="T25" fmla="*/ 2147483646 h 936"/>
                <a:gd name="T26" fmla="*/ 2147483646 w 1756"/>
                <a:gd name="T27" fmla="*/ 2147483646 h 936"/>
                <a:gd name="T28" fmla="*/ 2147483646 w 1756"/>
                <a:gd name="T29" fmla="*/ 0 h 936"/>
                <a:gd name="T30" fmla="*/ 2147483646 w 1756"/>
                <a:gd name="T31" fmla="*/ 2147483646 h 936"/>
                <a:gd name="T32" fmla="*/ 2147483646 w 1756"/>
                <a:gd name="T33" fmla="*/ 2147483646 h 936"/>
                <a:gd name="T34" fmla="*/ 2147483646 w 1756"/>
                <a:gd name="T35" fmla="*/ 2147483646 h 936"/>
                <a:gd name="T36" fmla="*/ 2147483646 w 1756"/>
                <a:gd name="T37" fmla="*/ 2147483646 h 936"/>
                <a:gd name="T38" fmla="*/ 2147483646 w 1756"/>
                <a:gd name="T39" fmla="*/ 2147483646 h 936"/>
                <a:gd name="T40" fmla="*/ 2147483646 w 1756"/>
                <a:gd name="T41" fmla="*/ 2147483646 h 9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756"/>
                <a:gd name="T64" fmla="*/ 0 h 936"/>
                <a:gd name="T65" fmla="*/ 1756 w 1756"/>
                <a:gd name="T66" fmla="*/ 936 h 9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756" h="936">
                  <a:moveTo>
                    <a:pt x="52" y="267"/>
                  </a:moveTo>
                  <a:cubicBezTo>
                    <a:pt x="131" y="371"/>
                    <a:pt x="0" y="200"/>
                    <a:pt x="129" y="361"/>
                  </a:cubicBezTo>
                  <a:cubicBezTo>
                    <a:pt x="185" y="430"/>
                    <a:pt x="219" y="505"/>
                    <a:pt x="293" y="559"/>
                  </a:cubicBezTo>
                  <a:cubicBezTo>
                    <a:pt x="341" y="594"/>
                    <a:pt x="412" y="601"/>
                    <a:pt x="465" y="628"/>
                  </a:cubicBezTo>
                  <a:cubicBezTo>
                    <a:pt x="502" y="647"/>
                    <a:pt x="538" y="671"/>
                    <a:pt x="576" y="688"/>
                  </a:cubicBezTo>
                  <a:cubicBezTo>
                    <a:pt x="629" y="712"/>
                    <a:pt x="687" y="731"/>
                    <a:pt x="740" y="757"/>
                  </a:cubicBezTo>
                  <a:cubicBezTo>
                    <a:pt x="853" y="814"/>
                    <a:pt x="965" y="884"/>
                    <a:pt x="1092" y="903"/>
                  </a:cubicBezTo>
                  <a:cubicBezTo>
                    <a:pt x="1188" y="936"/>
                    <a:pt x="1281" y="916"/>
                    <a:pt x="1385" y="912"/>
                  </a:cubicBezTo>
                  <a:cubicBezTo>
                    <a:pt x="1453" y="906"/>
                    <a:pt x="1508" y="896"/>
                    <a:pt x="1574" y="886"/>
                  </a:cubicBezTo>
                  <a:cubicBezTo>
                    <a:pt x="1616" y="862"/>
                    <a:pt x="1653" y="850"/>
                    <a:pt x="1686" y="817"/>
                  </a:cubicBezTo>
                  <a:cubicBezTo>
                    <a:pt x="1697" y="783"/>
                    <a:pt x="1737" y="722"/>
                    <a:pt x="1737" y="722"/>
                  </a:cubicBezTo>
                  <a:cubicBezTo>
                    <a:pt x="1742" y="702"/>
                    <a:pt x="1756" y="683"/>
                    <a:pt x="1754" y="662"/>
                  </a:cubicBezTo>
                  <a:cubicBezTo>
                    <a:pt x="1745" y="584"/>
                    <a:pt x="1701" y="519"/>
                    <a:pt x="1677" y="447"/>
                  </a:cubicBezTo>
                  <a:cubicBezTo>
                    <a:pt x="1654" y="377"/>
                    <a:pt x="1629" y="289"/>
                    <a:pt x="1582" y="232"/>
                  </a:cubicBezTo>
                  <a:cubicBezTo>
                    <a:pt x="1442" y="65"/>
                    <a:pt x="1160" y="16"/>
                    <a:pt x="955" y="0"/>
                  </a:cubicBezTo>
                  <a:cubicBezTo>
                    <a:pt x="845" y="5"/>
                    <a:pt x="759" y="14"/>
                    <a:pt x="654" y="26"/>
                  </a:cubicBezTo>
                  <a:cubicBezTo>
                    <a:pt x="598" y="40"/>
                    <a:pt x="539" y="51"/>
                    <a:pt x="482" y="60"/>
                  </a:cubicBezTo>
                  <a:cubicBezTo>
                    <a:pt x="409" y="91"/>
                    <a:pt x="328" y="111"/>
                    <a:pt x="250" y="129"/>
                  </a:cubicBezTo>
                  <a:cubicBezTo>
                    <a:pt x="202" y="152"/>
                    <a:pt x="153" y="180"/>
                    <a:pt x="104" y="198"/>
                  </a:cubicBezTo>
                  <a:cubicBezTo>
                    <a:pt x="98" y="204"/>
                    <a:pt x="90" y="208"/>
                    <a:pt x="86" y="215"/>
                  </a:cubicBezTo>
                  <a:cubicBezTo>
                    <a:pt x="72" y="239"/>
                    <a:pt x="86" y="267"/>
                    <a:pt x="52" y="267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lg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0" name="Oval 56">
              <a:extLst>
                <a:ext uri="{FF2B5EF4-FFF2-40B4-BE49-F238E27FC236}">
                  <a16:creationId xmlns:a16="http://schemas.microsoft.com/office/drawing/2014/main" id="{1E6AA493-4644-7BAB-347C-6BACD25E4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1" y="2187576"/>
              <a:ext cx="212725" cy="250825"/>
            </a:xfrm>
            <a:prstGeom prst="ellipse">
              <a:avLst/>
            </a:prstGeom>
            <a:solidFill>
              <a:srgbClr val="9933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5821" name="Oval 58">
              <a:extLst>
                <a:ext uri="{FF2B5EF4-FFF2-40B4-BE49-F238E27FC236}">
                  <a16:creationId xmlns:a16="http://schemas.microsoft.com/office/drawing/2014/main" id="{F587F0B0-A6B5-203B-C75A-1729465DA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1" y="1752601"/>
              <a:ext cx="212725" cy="252413"/>
            </a:xfrm>
            <a:prstGeom prst="ellipse">
              <a:avLst/>
            </a:pr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75822" name="TextBox 4">
            <a:extLst>
              <a:ext uri="{FF2B5EF4-FFF2-40B4-BE49-F238E27FC236}">
                <a16:creationId xmlns:a16="http://schemas.microsoft.com/office/drawing/2014/main" id="{9F8E9E46-416D-4F4F-2BED-07F8F8DF9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0E98215-3ED2-8828-8D9A-E4E1C3A15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General variants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B71476C-BBC6-7C3C-81EE-0E20FDA1E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Have each follower attached to </a:t>
            </a:r>
            <a:r>
              <a:rPr lang="en-US" altLang="zh-CN" i="1" dirty="0">
                <a:ea typeface="宋体" panose="02010600030101010101" pitchFamily="2" charset="-122"/>
              </a:rPr>
              <a:t>b1</a:t>
            </a:r>
            <a:r>
              <a:rPr lang="en-US" altLang="zh-CN" dirty="0">
                <a:ea typeface="宋体" panose="02010600030101010101" pitchFamily="2" charset="-122"/>
              </a:rPr>
              <a:t>=3 (say) nearest leaders.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From query, find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b2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=4 (say) nearest leaders and their followers.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Can recur on leader/follower construction.</a:t>
            </a:r>
          </a:p>
        </p:txBody>
      </p:sp>
      <p:sp>
        <p:nvSpPr>
          <p:cNvPr id="79876" name="TextBox 4">
            <a:extLst>
              <a:ext uri="{FF2B5EF4-FFF2-40B4-BE49-F238E27FC236}">
                <a16:creationId xmlns:a16="http://schemas.microsoft.com/office/drawing/2014/main" id="{E926A786-315E-344A-D45D-05A6E7F9D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7.1.6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860B07DD-F1F9-5EF9-FBDF-30408A63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Parametric and zone indexes</a:t>
            </a:r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34403D7E-972F-F66B-C465-5451302D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39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Thus far, a doc has been a sequence of terms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In fact documents have multiple parts, some with special semantics: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Author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Title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Date of publication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etc.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These constitute the </a:t>
            </a:r>
            <a:r>
              <a:rPr lang="en-US" altLang="zh-TW" u="sng" dirty="0">
                <a:ea typeface="ＭＳ Ｐゴシック" panose="020B0600070205080204" pitchFamily="34" charset="-128"/>
              </a:rPr>
              <a:t>metadata</a:t>
            </a:r>
            <a:r>
              <a:rPr lang="en-US" altLang="zh-TW" dirty="0">
                <a:ea typeface="ＭＳ Ｐゴシック" panose="020B0600070205080204" pitchFamily="34" charset="-128"/>
              </a:rPr>
              <a:t> about a document</a:t>
            </a:r>
          </a:p>
        </p:txBody>
      </p:sp>
      <p:sp>
        <p:nvSpPr>
          <p:cNvPr id="83972" name="TextBox 4">
            <a:extLst>
              <a:ext uri="{FF2B5EF4-FFF2-40B4-BE49-F238E27FC236}">
                <a16:creationId xmlns:a16="http://schemas.microsoft.com/office/drawing/2014/main" id="{D4E7CE1B-6B7D-BE9C-492D-01EF1F7DF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4E4A92ED-8631-2D4D-2960-A1E545A8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Zone</a:t>
            </a:r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F2CD089D-F881-1CA5-B345-C29A826A3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0281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</a:t>
            </a:r>
            <a:r>
              <a:rPr lang="en-US" altLang="zh-TW" u="sng" dirty="0">
                <a:ea typeface="ＭＳ Ｐゴシック" panose="020B0600070205080204" pitchFamily="34" charset="-128"/>
              </a:rPr>
              <a:t>zone</a:t>
            </a:r>
            <a:r>
              <a:rPr lang="en-US" altLang="zh-TW" dirty="0">
                <a:ea typeface="ＭＳ Ｐゴシック" panose="020B0600070205080204" pitchFamily="34" charset="-128"/>
              </a:rPr>
              <a:t> is a region of the doc that can contain an arbitrary amount of text e.g.,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Title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Abstract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References …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Build inverted indexes on zones as well to permit querying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E.g., “find docs with </a:t>
            </a:r>
            <a:r>
              <a:rPr lang="en-US" altLang="zh-TW" i="1" dirty="0">
                <a:ea typeface="ＭＳ Ｐゴシック" panose="020B0600070205080204" pitchFamily="34" charset="-128"/>
              </a:rPr>
              <a:t>merchant </a:t>
            </a:r>
            <a:r>
              <a:rPr lang="en-US" altLang="zh-TW" dirty="0">
                <a:ea typeface="ＭＳ Ｐゴシック" panose="020B0600070205080204" pitchFamily="34" charset="-128"/>
              </a:rPr>
              <a:t>in the title zone and matching the query </a:t>
            </a:r>
            <a:r>
              <a:rPr lang="en-US" altLang="zh-TW" i="1" dirty="0">
                <a:ea typeface="ＭＳ Ｐゴシック" panose="020B0600070205080204" pitchFamily="34" charset="-128"/>
              </a:rPr>
              <a:t>gentle rain”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88068" name="TextBox 4">
            <a:extLst>
              <a:ext uri="{FF2B5EF4-FFF2-40B4-BE49-F238E27FC236}">
                <a16:creationId xmlns:a16="http://schemas.microsoft.com/office/drawing/2014/main" id="{E8605885-5D19-30EC-9BF5-25CCAFB5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BDD5B960-49DF-A265-4A79-75BD30F8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Example zone indexes</a:t>
            </a:r>
          </a:p>
        </p:txBody>
      </p:sp>
      <p:pic>
        <p:nvPicPr>
          <p:cNvPr id="90115" name="Content Placeholder 3" descr="zoneindex.gif">
            <a:extLst>
              <a:ext uri="{FF2B5EF4-FFF2-40B4-BE49-F238E27FC236}">
                <a16:creationId xmlns:a16="http://schemas.microsoft.com/office/drawing/2014/main" id="{56ACAB17-BDF5-965F-1D4B-83955F329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828802"/>
            <a:ext cx="8189913" cy="2459070"/>
          </a:xfrm>
        </p:spPr>
      </p:pic>
      <p:pic>
        <p:nvPicPr>
          <p:cNvPr id="90116" name="Picture 5" descr="zoneindex2.gif">
            <a:extLst>
              <a:ext uri="{FF2B5EF4-FFF2-40B4-BE49-F238E27FC236}">
                <a16:creationId xmlns:a16="http://schemas.microsoft.com/office/drawing/2014/main" id="{128313D5-0A6F-C1C7-65D8-F8F33E084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603428"/>
            <a:ext cx="8189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7" name="TextBox 7">
            <a:extLst>
              <a:ext uri="{FF2B5EF4-FFF2-40B4-BE49-F238E27FC236}">
                <a16:creationId xmlns:a16="http://schemas.microsoft.com/office/drawing/2014/main" id="{11490E44-2A49-6B66-D5B6-4D9867A06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8430" y="4610356"/>
            <a:ext cx="5129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Encode zones in dictionary vs. postings.</a:t>
            </a:r>
          </a:p>
        </p:txBody>
      </p:sp>
      <p:sp>
        <p:nvSpPr>
          <p:cNvPr id="90118" name="Up Arrow 8">
            <a:extLst>
              <a:ext uri="{FF2B5EF4-FFF2-40B4-BE49-F238E27FC236}">
                <a16:creationId xmlns:a16="http://schemas.microsoft.com/office/drawing/2014/main" id="{F56E7FC6-FB34-F27E-C9D8-581339F0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812" y="4324659"/>
            <a:ext cx="484188" cy="28938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0119" name="Down Arrow 9">
            <a:extLst>
              <a:ext uri="{FF2B5EF4-FFF2-40B4-BE49-F238E27FC236}">
                <a16:creationId xmlns:a16="http://schemas.microsoft.com/office/drawing/2014/main" id="{CA6EEB36-E2B3-FD9F-2646-4B09E917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812" y="5132507"/>
            <a:ext cx="484188" cy="37881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0120" name="TextBox 4">
            <a:extLst>
              <a:ext uri="{FF2B5EF4-FFF2-40B4-BE49-F238E27FC236}">
                <a16:creationId xmlns:a16="http://schemas.microsoft.com/office/drawing/2014/main" id="{AD051152-FDFF-5527-5C9C-C0052A73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6.1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10CE3866-707B-F178-A6F4-5766519A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Tiered indexes</a:t>
            </a: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E229B9CE-9656-4A16-F582-CEE302EEA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536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Break postings up into a hierarchy of lists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Most important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…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Least important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Can be done by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g(d)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or another measure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Inverted index thus broken up into </a:t>
            </a:r>
            <a:r>
              <a:rPr lang="en-US" altLang="zh-TW" u="sng" dirty="0">
                <a:ea typeface="ＭＳ Ｐゴシック" panose="020B0600070205080204" pitchFamily="34" charset="-128"/>
              </a:rPr>
              <a:t>tiers </a:t>
            </a:r>
            <a:r>
              <a:rPr lang="en-US" altLang="zh-TW" dirty="0">
                <a:ea typeface="ＭＳ Ｐゴシック" panose="020B0600070205080204" pitchFamily="34" charset="-128"/>
              </a:rPr>
              <a:t>of decreasing importance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At query time use top tier unless it fails to yield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K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docs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If so drop to lower tiers</a:t>
            </a:r>
          </a:p>
        </p:txBody>
      </p:sp>
      <p:sp>
        <p:nvSpPr>
          <p:cNvPr id="92164" name="TextBox 4">
            <a:extLst>
              <a:ext uri="{FF2B5EF4-FFF2-40B4-BE49-F238E27FC236}">
                <a16:creationId xmlns:a16="http://schemas.microsoft.com/office/drawing/2014/main" id="{B145DFDE-11AD-A985-9381-DC9D1B9A4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7.2.1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B5CE1D7F-08BB-19A1-573B-E698E13D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Example tiered index</a:t>
            </a:r>
          </a:p>
        </p:txBody>
      </p:sp>
      <p:pic>
        <p:nvPicPr>
          <p:cNvPr id="94211" name="Content Placeholder 3" descr="tiered.gif">
            <a:extLst>
              <a:ext uri="{FF2B5EF4-FFF2-40B4-BE49-F238E27FC236}">
                <a16:creationId xmlns:a16="http://schemas.microsoft.com/office/drawing/2014/main" id="{1E2A6967-8A82-DE02-13D8-51F7B8B9E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88360" y="1762936"/>
            <a:ext cx="4015280" cy="4607699"/>
          </a:xfrm>
        </p:spPr>
      </p:pic>
      <p:sp>
        <p:nvSpPr>
          <p:cNvPr id="94212" name="TextBox 4">
            <a:extLst>
              <a:ext uri="{FF2B5EF4-FFF2-40B4-BE49-F238E27FC236}">
                <a16:creationId xmlns:a16="http://schemas.microsoft.com/office/drawing/2014/main" id="{761BA3BB-27D2-2B4D-8D40-A3D70713C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7.2.1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1138</TotalTime>
  <Words>2706</Words>
  <Application>Microsoft Office PowerPoint</Application>
  <PresentationFormat>Widescreen</PresentationFormat>
  <Paragraphs>322</Paragraphs>
  <Slides>50</Slides>
  <Notes>49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ＭＳ Ｐゴシック</vt:lpstr>
      <vt:lpstr>新細明體</vt:lpstr>
      <vt:lpstr>宋体</vt:lpstr>
      <vt:lpstr>Arial</vt:lpstr>
      <vt:lpstr>Calibri</vt:lpstr>
      <vt:lpstr>Calibri Light</vt:lpstr>
      <vt:lpstr>Courier New</vt:lpstr>
      <vt:lpstr>Lucida Sans</vt:lpstr>
      <vt:lpstr>Times New Roman</vt:lpstr>
      <vt:lpstr>Retrospect</vt:lpstr>
      <vt:lpstr>Equation</vt:lpstr>
      <vt:lpstr>Worksheet</vt:lpstr>
      <vt:lpstr>Microsoft Equation</vt:lpstr>
      <vt:lpstr>Information Retrieval</vt:lpstr>
      <vt:lpstr>Ranked retrieval</vt:lpstr>
      <vt:lpstr>Ranked retrieval models</vt:lpstr>
      <vt:lpstr>Scoring as the basis of ranked retrieval</vt:lpstr>
      <vt:lpstr>Query - document matching scores</vt:lpstr>
      <vt:lpstr>Take 1: Jaccard coefficient</vt:lpstr>
      <vt:lpstr>Issues with Jaccard for scoring</vt:lpstr>
      <vt:lpstr>Bag of words model (BoW)</vt:lpstr>
      <vt:lpstr>Term frequency tf</vt:lpstr>
      <vt:lpstr>Log-frequency weighting</vt:lpstr>
      <vt:lpstr>Document frequency</vt:lpstr>
      <vt:lpstr>Document frequency</vt:lpstr>
      <vt:lpstr>idf weight</vt:lpstr>
      <vt:lpstr>Effect of idf on ranking</vt:lpstr>
      <vt:lpstr>Collection vs. Document frequency</vt:lpstr>
      <vt:lpstr>tf-idf weighting</vt:lpstr>
      <vt:lpstr>Final ranking of documents for a query</vt:lpstr>
      <vt:lpstr>Binary → count → weight matrix</vt:lpstr>
      <vt:lpstr>Documents as vectors</vt:lpstr>
      <vt:lpstr>Queries as vectors</vt:lpstr>
      <vt:lpstr>Formalizing vector space proximity</vt:lpstr>
      <vt:lpstr>Why distance is a bad idea</vt:lpstr>
      <vt:lpstr>Use angle instead of distance</vt:lpstr>
      <vt:lpstr>From angles to cosines</vt:lpstr>
      <vt:lpstr>cosine(query, document)</vt:lpstr>
      <vt:lpstr>Computing cosine scores</vt:lpstr>
      <vt:lpstr>tf-idf weighting has many variants</vt:lpstr>
      <vt:lpstr>Efficient cosine ranking</vt:lpstr>
      <vt:lpstr>Computing the K largest cosines: selection vs. sorting</vt:lpstr>
      <vt:lpstr>Use heap for selecting top K</vt:lpstr>
      <vt:lpstr>Cosine similarity is only a proxy</vt:lpstr>
      <vt:lpstr>Generic approach</vt:lpstr>
      <vt:lpstr>High-idf query terms only</vt:lpstr>
      <vt:lpstr>Docs containing many query terms</vt:lpstr>
      <vt:lpstr>Champion lists</vt:lpstr>
      <vt:lpstr>Static quality scores</vt:lpstr>
      <vt:lpstr>Modeling authority</vt:lpstr>
      <vt:lpstr>Net score</vt:lpstr>
      <vt:lpstr>Why order postings by g(d)?</vt:lpstr>
      <vt:lpstr>Champion lists in g(d)-ordering</vt:lpstr>
      <vt:lpstr>High and low lists</vt:lpstr>
      <vt:lpstr>Cluster pruning: preprocessing</vt:lpstr>
      <vt:lpstr> Cluster pruning: query processing</vt:lpstr>
      <vt:lpstr>Visualization</vt:lpstr>
      <vt:lpstr>General variants</vt:lpstr>
      <vt:lpstr>Parametric and zone indexes</vt:lpstr>
      <vt:lpstr>Zone</vt:lpstr>
      <vt:lpstr>Example zone indexes</vt:lpstr>
      <vt:lpstr>Tiered indexes</vt:lpstr>
      <vt:lpstr>Example tiered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289</cp:revision>
  <dcterms:created xsi:type="dcterms:W3CDTF">2019-10-28T15:55:27Z</dcterms:created>
  <dcterms:modified xsi:type="dcterms:W3CDTF">2024-01-15T13:40:41Z</dcterms:modified>
</cp:coreProperties>
</file>