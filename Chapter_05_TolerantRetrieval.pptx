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8"/>
  </p:notesMasterIdLst>
  <p:sldIdLst>
    <p:sldId id="256" r:id="rId2"/>
    <p:sldId id="363" r:id="rId3"/>
    <p:sldId id="364" r:id="rId4"/>
    <p:sldId id="365" r:id="rId5"/>
    <p:sldId id="366" r:id="rId6"/>
    <p:sldId id="368" r:id="rId7"/>
    <p:sldId id="369" r:id="rId8"/>
    <p:sldId id="370" r:id="rId9"/>
    <p:sldId id="373" r:id="rId10"/>
    <p:sldId id="374" r:id="rId11"/>
    <p:sldId id="375" r:id="rId12"/>
    <p:sldId id="376" r:id="rId13"/>
    <p:sldId id="377" r:id="rId14"/>
    <p:sldId id="378" r:id="rId15"/>
    <p:sldId id="400" r:id="rId16"/>
    <p:sldId id="379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90" r:id="rId25"/>
    <p:sldId id="268" r:id="rId26"/>
    <p:sldId id="269" r:id="rId27"/>
    <p:sldId id="270" r:id="rId28"/>
    <p:sldId id="272" r:id="rId29"/>
    <p:sldId id="273" r:id="rId30"/>
    <p:sldId id="274" r:id="rId31"/>
    <p:sldId id="275" r:id="rId32"/>
    <p:sldId id="276" r:id="rId33"/>
    <p:sldId id="278" r:id="rId34"/>
    <p:sldId id="279" r:id="rId35"/>
    <p:sldId id="280" r:id="rId36"/>
    <p:sldId id="282" r:id="rId37"/>
    <p:sldId id="283" r:id="rId38"/>
    <p:sldId id="284" r:id="rId39"/>
    <p:sldId id="286" r:id="rId40"/>
    <p:sldId id="287" r:id="rId41"/>
    <p:sldId id="288" r:id="rId42"/>
    <p:sldId id="306" r:id="rId43"/>
    <p:sldId id="307" r:id="rId44"/>
    <p:sldId id="308" r:id="rId45"/>
    <p:sldId id="309" r:id="rId46"/>
    <p:sldId id="310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335" autoAdjust="0"/>
  </p:normalViewPr>
  <p:slideViewPr>
    <p:cSldViewPr snapToGrid="0">
      <p:cViewPr varScale="1">
        <p:scale>
          <a:sx n="73" d="100"/>
          <a:sy n="73" d="100"/>
        </p:scale>
        <p:origin x="10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01B30-8F1D-4816-8F65-1D00D4637009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D19D8-4FDB-4F0E-9F28-C085F3E59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4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E8AC243-CD10-976F-D969-E727838E49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55C6A7A-3757-4327-584E-91923DAF1F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636D949-752F-B421-230B-C27A2764DB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8B2D310-E9BC-00EE-C750-49B80C103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598972D-004C-C3AF-F5BC-86773EAA91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86BF9EE-8F01-BDD7-268A-B3DF858F01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75931BD-9EAE-2AA3-E38C-400D1DFAF1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7F9CE46-88E3-9D21-2E41-518F1883A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F71650F-D8D0-4608-3C73-9275317239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86A5E4A5-452D-FE30-0B96-B3EEE73766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03CAA27-081C-8235-AE66-D9685A454D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9ECDB37-8F8F-2BFD-0458-12C28C1204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7ECB1DD-843A-F278-8305-8F3A76453D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D19CA55-E263-4F93-EC81-F2CD73D0C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59E0625-CFA6-06C8-1B24-2BCD550145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4D7D6E8-834F-3644-6640-A9FBCBFC0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0161E3F-5168-B461-19A8-31C654E79D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FFBD9596-E328-78A6-DC80-A0ACDAC6E4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47B37DF-4AA6-0113-52CF-749F7E2BFCF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9DF3DB1-2712-1E15-E7DA-018E8B69FA7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6F3184B-A1A6-CCDE-6B50-9FF5B2C0AF6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56816598-0CCA-9E30-6BE9-3DE10F13799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B95531F8-2A8B-EC65-E58E-8FC08749C68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D8BF217B-A6E4-36D1-6A78-DCF7B301CE0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86BC6235-F5BE-51BD-23F4-A01119C26DE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1AC48245-AFF6-9A2A-FE40-19E32177059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A4A5349-5E6D-5CD0-7831-85F3F465593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780C234-CEC1-67C9-0574-36A695B2F6A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51B458D-152E-60D5-C5F8-A10E086C2C9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9D0F0AFA-D000-1955-1506-625E10A6387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B447FE5A-B28B-2AC6-CF8D-CA26AF87C1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E962231C-1133-7F22-2EDF-918A89E8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>
              <a:latin typeface="Arial" panose="020B0604020202020204" pitchFamily="34" charset="0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F48CB0C3-9DFA-3989-8A57-AA340FD15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FC63A13-CA88-4115-BE36-7F419DBD8974}" type="slidenum">
              <a:rPr kumimoji="0" lang="zh-TW" altLang="en-US">
                <a:latin typeface="Lucida Sans" panose="020B0602030504020204" pitchFamily="34" charset="0"/>
                <a:ea typeface="Arial Unicode MS" pitchFamily="34" charset="-128"/>
              </a:rPr>
              <a:pPr>
                <a:spcBef>
                  <a:spcPct val="0"/>
                </a:spcBef>
              </a:pPr>
              <a:t>17</a:t>
            </a:fld>
            <a:endParaRPr kumimoji="0" lang="en-US" altLang="zh-TW">
              <a:latin typeface="Lucida Sans" panose="020B0602030504020204" pitchFamily="34" charset="0"/>
              <a:ea typeface="Arial Unicode MS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401A7307-CA68-9D61-3AF7-8AAF053F5B9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7E5186B-0235-87FB-848D-3B15AD154AA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7427C9EB-A58E-C19A-BBC8-E964702A66E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5A9111D0-915A-A7DD-A6F9-126352C458D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CA78B4AC-401C-B7BB-71DB-EABD17663B8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D2575347-A0BE-11E5-C935-1813D3644CF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717CCCF7-820D-224D-2C7D-BD8455054B9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BB6153AC-D4B7-F2A4-C899-44D1F665B40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37943D43-42F1-1F55-BDBB-C8037C7EBF9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B23256E-4A1D-BD7F-FBE8-CADA574427E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56A11ACF-8829-8CE8-8ACE-6B620115B96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1D5906D7-8E44-2FE0-2D59-DEC4F3B8B1C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7026F74-DD02-E09B-CC4C-2AE1BF2B106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6C8CC7ED-1F1A-179E-094C-D1CA977DC88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8FCE41C-9CD2-DFFB-D23C-B170FCCDC61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12DC181-531A-2A1B-8946-5BF79FA955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F6CA9EA-C0ED-E808-BA25-224911A745A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29D9537-44BD-4F83-5FD7-55F1949C9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CE7B29B-F504-502A-698E-24F2E4F944F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6BF03DC-2385-2832-4290-C718E45A5B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1572676-9EA5-B208-6280-7E182738199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E5CA5CA-3759-C889-1A43-25AD643E4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1F478FE-06C3-30D2-EEC5-F275D38C683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F3DD5C5-A969-6112-0380-5C75AE278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E229513-5984-43AA-F626-6054B20202A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182F7D0-3DC8-50FA-47DD-BB53FDFBF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B2E8B5F-82C2-FAA3-DD80-84E694F4BC2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F132CCD1-D87D-EA91-997E-A8A293EA70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56CBE97-8B2F-A004-005D-D1D355501BF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0482E104-0E75-0B44-CD5B-C192418D82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08DC6B8-B893-E15A-AED4-BF2243ACA11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7081427-04BE-BBE9-425D-F38FBB0A0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E96A21C-2493-CB3F-E435-A91D7B2A76C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BB10F38-F906-E939-37DE-73FF9FF2F1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1EC4818-00B5-AE1A-2DE2-5524A7DC49E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DEA3A93-682B-206F-AF19-B17014564A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DE50F3-5D5B-C5F3-1CA2-FBF72E0AAB1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CB01674-E384-3E1B-D206-35C506118B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349CC4D-30B4-E73A-0513-641CE4C8993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D3681BE0-2821-42DC-C93F-416C48E15F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35DBE6C-3F98-626F-56B4-FEAB53B59E2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80C6C941-1037-9728-9A21-1FCC630A0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FC4AE01-FF73-5DE9-30A6-7BF0C065C5D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C8200168-7D05-CF70-833F-30837DE8F2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D39AAB3-57E1-7F91-FC64-482D4D817A3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2B5DF523-473E-5573-055A-ACC67070F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584774E5-4D5A-4966-9879-3EF3E887BD8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3B43DCF5-500F-5904-654F-84A91BB5B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4CB6485-371C-38FD-D028-4D63A7BAA04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A582C5C2-C717-B8B3-356E-538BF2D858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77AAC93-2394-FC7F-F2E4-0972C918C40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588AA9F1-755F-1126-B66E-F10F649330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AF70759D-6416-BE12-CD68-0CDD42BFE7C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D0C6A2D2-4EBD-7112-453A-7BED41F597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66BD6EDF-A55A-4CDF-3DA2-C7F69DDBD19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40E45D40-F67B-17A4-7FFC-D494C6C7E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F430283A-6080-E152-8714-17E3F24FBFD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450335A1-18AA-A66E-5C6D-B2CD03C38D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089F-B724-4DB7-966F-A815F7F37156}" type="datetime1">
              <a:rPr lang="vi-VN" smtClean="0"/>
              <a:t>16/01/2024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3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C6BC-BE1B-4014-AA05-62AAA88B1A3B}" type="datetime1">
              <a:rPr lang="vi-VN" smtClean="0"/>
              <a:t>16/01/2024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7731" y="6388834"/>
            <a:ext cx="1312025" cy="365125"/>
          </a:xfrm>
        </p:spPr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951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303B-D7D5-42D3-AE3C-337199AC13CB}" type="datetime1">
              <a:rPr lang="vi-VN" smtClean="0"/>
              <a:t>16/01/2024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802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0E1C-6609-4571-AAC0-EC9DFB3279EB}" type="datetime1">
              <a:rPr lang="vi-VN" smtClean="0"/>
              <a:t>16/01/2024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61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F7A8-C61A-4659-866C-CD537F901D4F}" type="datetime1">
              <a:rPr lang="vi-VN" smtClean="0"/>
              <a:t>16/01/2024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955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5C43-8F38-47DC-80DF-4D0497C08181}" type="datetime1">
              <a:rPr lang="vi-VN" smtClean="0"/>
              <a:t>16/01/2024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858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57925-9F9D-419A-8B85-1EDF14B77FEB}" type="datetime1">
              <a:rPr lang="vi-VN" smtClean="0"/>
              <a:t>16/01/2024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221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B0017B5-F98D-4593-B373-F15243277C20}" type="datetime1">
              <a:rPr lang="vi-VN" smtClean="0"/>
              <a:t>16/01/2024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719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3DB1-2915-4AD4-B284-3EA60BFABA3F}" type="datetime1">
              <a:rPr lang="vi-VN" smtClean="0"/>
              <a:t>16/01/2024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131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CBC02-124E-465B-BD80-457C161798B7}" type="datetime1">
              <a:rPr lang="vi-VN" smtClean="0"/>
              <a:t>16/01/2024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837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A3D81-25AC-4658-9D07-B6C24CDC7F74}" type="datetime1">
              <a:rPr lang="vi-VN" smtClean="0"/>
              <a:t>16/01/2024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383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89C31EB-6A7E-4963-9845-D0A42A645CDC}" type="datetime1">
              <a:rPr lang="vi-VN" smtClean="0"/>
              <a:t>16/01/2024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6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etcalc.com/1721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779" y="628650"/>
            <a:ext cx="11698941" cy="2447365"/>
          </a:xfrm>
        </p:spPr>
        <p:txBody>
          <a:bodyPr>
            <a:noAutofit/>
          </a:bodyPr>
          <a:lstStyle/>
          <a:p>
            <a:pPr algn="ctr"/>
            <a:r>
              <a:rPr lang="en-US" sz="8800" dirty="0">
                <a:latin typeface="Courier New" panose="02070309020205020404" pitchFamily="49" charset="0"/>
                <a:cs typeface="Courier New" panose="02070309020205020404" pitchFamily="49" charset="0"/>
              </a:rPr>
              <a:t>Information Retrieval</a:t>
            </a:r>
            <a:endParaRPr lang="vi-VN" sz="8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49" y="4487718"/>
            <a:ext cx="10377248" cy="627368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Chapter 5 – tolerant retrieval - evaluation</a:t>
            </a:r>
            <a:endParaRPr lang="vi-VN" sz="3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98662" y="5688795"/>
            <a:ext cx="10058400" cy="62736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/>
              <a:t>Quoc Dinh TRUONG</a:t>
            </a:r>
            <a:r>
              <a:rPr lang="en-US" sz="3600" cap="none" dirty="0"/>
              <a:t>, PhD</a:t>
            </a:r>
          </a:p>
          <a:p>
            <a:pPr algn="ctr"/>
            <a:r>
              <a:rPr lang="en-US" sz="3600" dirty="0"/>
              <a:t>Modified from Christopher D. Manning, Prabhakar Raghavan and Hinrich </a:t>
            </a:r>
            <a:r>
              <a:rPr lang="en-US" sz="3600" dirty="0" err="1"/>
              <a:t>Schütze</a:t>
            </a:r>
            <a:r>
              <a:rPr lang="en-US" sz="3600" dirty="0"/>
              <a:t> slides</a:t>
            </a:r>
          </a:p>
        </p:txBody>
      </p:sp>
    </p:spTree>
    <p:extLst>
      <p:ext uri="{BB962C8B-B14F-4D97-AF65-F5344CB8AC3E}">
        <p14:creationId xmlns:p14="http://schemas.microsoft.com/office/powerpoint/2010/main" val="1122533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E53920F-A78F-97A3-72CC-73DEE3624E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4851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Wild-card queries: *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2768890-D974-BBC1-77A6-41026ACD19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752600"/>
            <a:ext cx="9936480" cy="4553607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 err="1"/>
              <a:t>mon</a:t>
            </a:r>
            <a:r>
              <a:rPr lang="en-US" altLang="zh-TW" b="1" i="1" dirty="0"/>
              <a:t>*:</a:t>
            </a:r>
            <a:r>
              <a:rPr lang="en-US" altLang="zh-TW" dirty="0"/>
              <a:t> find all docs containing </a:t>
            </a:r>
            <a:r>
              <a:rPr lang="en-US" altLang="zh-TW" dirty="0">
                <a:solidFill>
                  <a:srgbClr val="00B050"/>
                </a:solidFill>
              </a:rPr>
              <a:t>any word beginning “</a:t>
            </a:r>
            <a:r>
              <a:rPr lang="en-US" altLang="zh-TW" dirty="0" err="1">
                <a:solidFill>
                  <a:srgbClr val="00B050"/>
                </a:solidFill>
              </a:rPr>
              <a:t>mon</a:t>
            </a:r>
            <a:r>
              <a:rPr lang="en-US" altLang="zh-TW" dirty="0">
                <a:solidFill>
                  <a:srgbClr val="00B050"/>
                </a:solidFill>
              </a:rPr>
              <a:t>”</a:t>
            </a:r>
            <a:r>
              <a:rPr lang="en-US" altLang="zh-TW" dirty="0"/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Easy with binary tree lexicon: retrieve all words in range: </a:t>
            </a:r>
            <a:r>
              <a:rPr lang="en-US" altLang="zh-TW" b="1" i="1" dirty="0" err="1"/>
              <a:t>mon</a:t>
            </a:r>
            <a:r>
              <a:rPr lang="en-US" altLang="zh-TW" b="1" i="1" dirty="0"/>
              <a:t> </a:t>
            </a:r>
            <a:r>
              <a:rPr lang="en-US" altLang="zh-TW" b="1" i="1" dirty="0">
                <a:cs typeface="Times New Roman" panose="02020603050405020304" pitchFamily="18" charset="0"/>
              </a:rPr>
              <a:t>≤</a:t>
            </a:r>
            <a:r>
              <a:rPr lang="en-US" altLang="zh-TW" b="1" i="1" dirty="0"/>
              <a:t> w &lt; moo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/>
              <a:t>*</a:t>
            </a:r>
            <a:r>
              <a:rPr lang="en-US" altLang="zh-TW" b="1" i="1" dirty="0" err="1"/>
              <a:t>mon</a:t>
            </a:r>
            <a:r>
              <a:rPr lang="en-US" altLang="zh-TW" b="1" i="1" dirty="0"/>
              <a:t>: </a:t>
            </a:r>
            <a:r>
              <a:rPr lang="en-US" altLang="zh-TW" dirty="0"/>
              <a:t>find </a:t>
            </a:r>
            <a:r>
              <a:rPr lang="en-US" altLang="zh-TW" dirty="0">
                <a:solidFill>
                  <a:srgbClr val="00B050"/>
                </a:solidFill>
              </a:rPr>
              <a:t>words ending in “</a:t>
            </a:r>
            <a:r>
              <a:rPr lang="en-US" altLang="zh-TW" dirty="0" err="1">
                <a:solidFill>
                  <a:srgbClr val="00B050"/>
                </a:solidFill>
              </a:rPr>
              <a:t>mon</a:t>
            </a:r>
            <a:r>
              <a:rPr lang="en-US" altLang="zh-TW" dirty="0">
                <a:solidFill>
                  <a:srgbClr val="00B050"/>
                </a:solidFill>
              </a:rPr>
              <a:t>”</a:t>
            </a:r>
            <a:endParaRPr lang="en-US" altLang="zh-TW" dirty="0"/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Maintain an additional B-tree for terms </a:t>
            </a:r>
            <a:r>
              <a:rPr lang="en-US" altLang="zh-TW" i="1" dirty="0"/>
              <a:t>backwards.</a:t>
            </a:r>
            <a:endParaRPr lang="en-US" altLang="zh-TW" dirty="0"/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Can retrieve all words in range: </a:t>
            </a:r>
            <a:r>
              <a:rPr lang="en-US" altLang="zh-TW" b="1" i="1" dirty="0"/>
              <a:t>nom </a:t>
            </a:r>
            <a:r>
              <a:rPr lang="en-US" altLang="zh-TW" b="1" i="1" dirty="0">
                <a:cs typeface="Times New Roman" panose="02020603050405020304" pitchFamily="18" charset="0"/>
              </a:rPr>
              <a:t>≤</a:t>
            </a:r>
            <a:r>
              <a:rPr lang="en-US" altLang="zh-TW" b="1" i="1" dirty="0"/>
              <a:t> w &lt; non</a:t>
            </a:r>
            <a:r>
              <a:rPr lang="en-US" altLang="zh-TW" i="1" dirty="0"/>
              <a:t>.</a:t>
            </a:r>
          </a:p>
        </p:txBody>
      </p:sp>
      <p:sp>
        <p:nvSpPr>
          <p:cNvPr id="17412" name="TextBox 4">
            <a:extLst>
              <a:ext uri="{FF2B5EF4-FFF2-40B4-BE49-F238E27FC236}">
                <a16:creationId xmlns:a16="http://schemas.microsoft.com/office/drawing/2014/main" id="{0B4F0318-BECB-00B4-AA7A-FF373B974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EFD1956-60A4-FC3E-CC7A-4356AE6B06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8004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Query processing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7489AF51-537F-096F-A749-23138DC72D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At this point, we have an enumeration of all terms in the dictionary that match the wild-card query.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We still have to look up the postings for each enumerated term.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E.g., consider the query: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/>
              <a:t>se*ate</a:t>
            </a:r>
            <a:r>
              <a:rPr lang="en-US" altLang="zh-TW" dirty="0"/>
              <a:t> </a:t>
            </a:r>
            <a:r>
              <a:rPr lang="en-US" altLang="zh-TW" i="1" dirty="0"/>
              <a:t>AND</a:t>
            </a:r>
            <a:r>
              <a:rPr lang="en-US" altLang="zh-TW" dirty="0"/>
              <a:t> </a:t>
            </a:r>
            <a:r>
              <a:rPr lang="en-US" altLang="zh-TW" b="1" i="1" dirty="0"/>
              <a:t>fil*er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This may result in the execution of many Boolean </a:t>
            </a:r>
            <a:r>
              <a:rPr lang="en-US" altLang="zh-TW" i="1" dirty="0"/>
              <a:t>AND</a:t>
            </a:r>
            <a:r>
              <a:rPr lang="en-US" altLang="zh-TW" dirty="0"/>
              <a:t> queries.</a:t>
            </a:r>
          </a:p>
        </p:txBody>
      </p:sp>
      <p:sp>
        <p:nvSpPr>
          <p:cNvPr id="19460" name="TextBox 3">
            <a:extLst>
              <a:ext uri="{FF2B5EF4-FFF2-40B4-BE49-F238E27FC236}">
                <a16:creationId xmlns:a16="http://schemas.microsoft.com/office/drawing/2014/main" id="{F38236D4-E04A-8ACC-824D-1B6FC25C6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6">
            <a:extLst>
              <a:ext uri="{FF2B5EF4-FFF2-40B4-BE49-F238E27FC236}">
                <a16:creationId xmlns:a16="http://schemas.microsoft.com/office/drawing/2014/main" id="{34F17253-4918-3CB1-A336-FABFC29A5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B-trees handle *’s at the end of a query term</a:t>
            </a:r>
          </a:p>
        </p:txBody>
      </p:sp>
      <p:sp>
        <p:nvSpPr>
          <p:cNvPr id="21507" name="Rectangle 1027">
            <a:extLst>
              <a:ext uri="{FF2B5EF4-FFF2-40B4-BE49-F238E27FC236}">
                <a16:creationId xmlns:a16="http://schemas.microsoft.com/office/drawing/2014/main" id="{DCF2A803-698C-3635-D265-5C2344780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How can we handle *’s in the middle of query term (</a:t>
            </a:r>
            <a:r>
              <a:rPr lang="en-US" altLang="zh-TW" b="1" i="1" dirty="0"/>
              <a:t>co*</a:t>
            </a:r>
            <a:r>
              <a:rPr lang="en-US" altLang="zh-TW" b="1" i="1" dirty="0" err="1"/>
              <a:t>tion</a:t>
            </a:r>
            <a:r>
              <a:rPr lang="en-US" altLang="zh-TW" dirty="0"/>
              <a:t>)?</a:t>
            </a:r>
            <a:endParaRPr lang="en-US" altLang="zh-TW" b="1" i="1" dirty="0"/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We could look up </a:t>
            </a:r>
            <a:r>
              <a:rPr lang="en-US" altLang="zh-TW" b="1" i="1" dirty="0"/>
              <a:t>co*</a:t>
            </a:r>
            <a:r>
              <a:rPr lang="en-US" altLang="zh-TW" dirty="0"/>
              <a:t> AND </a:t>
            </a:r>
            <a:r>
              <a:rPr lang="en-US" altLang="zh-TW" b="1" i="1" dirty="0"/>
              <a:t>*</a:t>
            </a:r>
            <a:r>
              <a:rPr lang="en-US" altLang="zh-TW" b="1" i="1" dirty="0" err="1"/>
              <a:t>tion</a:t>
            </a:r>
            <a:r>
              <a:rPr lang="en-US" altLang="zh-TW" dirty="0"/>
              <a:t> in a B-tree and intersect the two term sets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</a:rPr>
              <a:t>Expensive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</a:t>
            </a:r>
            <a:r>
              <a:rPr lang="en-US" altLang="zh-TW" u="sng" dirty="0">
                <a:solidFill>
                  <a:srgbClr val="FF0000"/>
                </a:solidFill>
              </a:rPr>
              <a:t>The solution</a:t>
            </a:r>
            <a:r>
              <a:rPr lang="en-US" altLang="zh-TW" dirty="0"/>
              <a:t>: transform wild-card queries so that the *’s occur at the end, this gives rise to the </a:t>
            </a:r>
            <a:r>
              <a:rPr lang="en-US" altLang="zh-TW" b="1" dirty="0" err="1">
                <a:solidFill>
                  <a:srgbClr val="00A000"/>
                </a:solidFill>
              </a:rPr>
              <a:t>Permuterm</a:t>
            </a:r>
            <a:r>
              <a:rPr lang="en-US" altLang="zh-TW" dirty="0"/>
              <a:t> Index.</a:t>
            </a:r>
          </a:p>
        </p:txBody>
      </p:sp>
      <p:sp>
        <p:nvSpPr>
          <p:cNvPr id="21508" name="TextBox 3">
            <a:extLst>
              <a:ext uri="{FF2B5EF4-FFF2-40B4-BE49-F238E27FC236}">
                <a16:creationId xmlns:a16="http://schemas.microsoft.com/office/drawing/2014/main" id="{3C54772A-0473-08BC-8D89-84C695999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DA5603D-9521-B006-B6CE-CA834AFCD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pPr eaLnBrk="1" hangingPunct="1"/>
            <a:r>
              <a:rPr lang="en-US" altLang="zh-TW" dirty="0" err="1">
                <a:solidFill>
                  <a:srgbClr val="FF0000"/>
                </a:solidFill>
              </a:rPr>
              <a:t>Permuterm</a:t>
            </a:r>
            <a:r>
              <a:rPr lang="en-US" altLang="zh-TW" dirty="0">
                <a:solidFill>
                  <a:srgbClr val="FF0000"/>
                </a:solidFill>
              </a:rPr>
              <a:t> index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4748B64-8463-DCE6-78FF-09EB342BBC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For term </a:t>
            </a:r>
            <a:r>
              <a:rPr lang="en-US" altLang="zh-TW" b="1" i="1" dirty="0"/>
              <a:t>hello</a:t>
            </a:r>
            <a:r>
              <a:rPr lang="en-US" altLang="zh-TW" dirty="0"/>
              <a:t>, index under: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/>
              <a:t>hello$, </a:t>
            </a:r>
            <a:r>
              <a:rPr lang="en-US" altLang="zh-TW" b="1" i="1" dirty="0" err="1"/>
              <a:t>ello$h</a:t>
            </a:r>
            <a:r>
              <a:rPr lang="en-US" altLang="zh-TW" b="1" i="1" dirty="0"/>
              <a:t>, </a:t>
            </a:r>
            <a:r>
              <a:rPr lang="en-US" altLang="zh-TW" b="1" i="1" dirty="0" err="1"/>
              <a:t>llo$he</a:t>
            </a:r>
            <a:r>
              <a:rPr lang="en-US" altLang="zh-TW" b="1" i="1" dirty="0"/>
              <a:t>, </a:t>
            </a:r>
            <a:r>
              <a:rPr lang="en-US" altLang="zh-TW" b="1" i="1" dirty="0" err="1"/>
              <a:t>lo$hel</a:t>
            </a:r>
            <a:r>
              <a:rPr lang="en-US" altLang="zh-TW" b="1" i="1" dirty="0"/>
              <a:t>, </a:t>
            </a:r>
            <a:r>
              <a:rPr lang="en-US" altLang="zh-TW" b="1" i="1" dirty="0" err="1"/>
              <a:t>o$hell</a:t>
            </a:r>
            <a:endParaRPr lang="en-US" altLang="zh-TW" b="1" i="1" dirty="0"/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dirty="0"/>
              <a:t>where $ is a special symbol to mark the end of a term.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Queries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dirty="0"/>
              <a:t>X</a:t>
            </a:r>
            <a:r>
              <a:rPr lang="en-US" altLang="zh-TW" dirty="0"/>
              <a:t>    lookup on </a:t>
            </a:r>
            <a:r>
              <a:rPr lang="en-US" altLang="zh-TW" b="1" dirty="0"/>
              <a:t>X$	    		X*   </a:t>
            </a:r>
            <a:r>
              <a:rPr lang="en-US" altLang="zh-TW" dirty="0"/>
              <a:t>lookup on   $</a:t>
            </a:r>
            <a:r>
              <a:rPr lang="en-US" altLang="zh-TW" b="1" dirty="0"/>
              <a:t>X*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dirty="0"/>
              <a:t>*X   </a:t>
            </a:r>
            <a:r>
              <a:rPr lang="en-US" altLang="zh-TW" dirty="0"/>
              <a:t>lookup on </a:t>
            </a:r>
            <a:r>
              <a:rPr lang="en-US" altLang="zh-TW" b="1" dirty="0"/>
              <a:t>X$*</a:t>
            </a:r>
            <a:r>
              <a:rPr lang="en-US" altLang="zh-TW" dirty="0"/>
              <a:t>	    	</a:t>
            </a:r>
            <a:r>
              <a:rPr lang="en-US" altLang="zh-TW" b="1" dirty="0"/>
              <a:t>*X*</a:t>
            </a:r>
            <a:r>
              <a:rPr lang="en-US" altLang="zh-TW" dirty="0"/>
              <a:t>  lookup on   </a:t>
            </a:r>
            <a:r>
              <a:rPr lang="en-US" altLang="zh-TW" b="1" dirty="0"/>
              <a:t>X*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dirty="0"/>
              <a:t>X*Y</a:t>
            </a:r>
            <a:r>
              <a:rPr lang="en-US" altLang="zh-TW" dirty="0"/>
              <a:t> lookup on </a:t>
            </a:r>
            <a:r>
              <a:rPr lang="en-US" altLang="zh-TW" b="1" dirty="0"/>
              <a:t>Y$X*</a:t>
            </a:r>
            <a:r>
              <a:rPr lang="en-US" altLang="zh-TW" dirty="0"/>
              <a:t>	</a:t>
            </a:r>
          </a:p>
        </p:txBody>
      </p:sp>
      <p:sp>
        <p:nvSpPr>
          <p:cNvPr id="23558" name="Rectangle 4">
            <a:extLst>
              <a:ext uri="{FF2B5EF4-FFF2-40B4-BE49-F238E27FC236}">
                <a16:creationId xmlns:a16="http://schemas.microsoft.com/office/drawing/2014/main" id="{8FFC4C06-2C09-5934-F8C6-859DA7288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1" y="4293806"/>
            <a:ext cx="2392363" cy="120015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latin typeface="Lucida Sans" panose="020B0602030504020204" pitchFamily="34" charset="0"/>
                <a:ea typeface="Arial Unicode MS" pitchFamily="34" charset="-128"/>
              </a:rPr>
              <a:t>Query = </a:t>
            </a:r>
            <a:r>
              <a:rPr lang="en-US" altLang="zh-TW" sz="2400" b="1" i="1" dirty="0" err="1">
                <a:latin typeface="Lucida Sans" panose="020B0602030504020204" pitchFamily="34" charset="0"/>
                <a:ea typeface="Arial Unicode MS" pitchFamily="34" charset="-128"/>
              </a:rPr>
              <a:t>hel</a:t>
            </a:r>
            <a:r>
              <a:rPr lang="en-US" altLang="zh-TW" sz="2400" b="1" i="1" dirty="0">
                <a:latin typeface="Lucida Sans" panose="020B0602030504020204" pitchFamily="34" charset="0"/>
                <a:ea typeface="Arial Unicode MS" pitchFamily="34" charset="-128"/>
              </a:rPr>
              <a:t>*o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b="1" dirty="0">
                <a:latin typeface="Lucida Sans" panose="020B0602030504020204" pitchFamily="34" charset="0"/>
                <a:ea typeface="Arial Unicode MS" pitchFamily="34" charset="-128"/>
              </a:rPr>
              <a:t>X=</a:t>
            </a:r>
            <a:r>
              <a:rPr lang="en-US" altLang="zh-TW" sz="2400" b="1" i="1" dirty="0" err="1">
                <a:latin typeface="Lucida Sans" panose="020B0602030504020204" pitchFamily="34" charset="0"/>
                <a:ea typeface="Arial Unicode MS" pitchFamily="34" charset="-128"/>
              </a:rPr>
              <a:t>hel</a:t>
            </a:r>
            <a:r>
              <a:rPr lang="en-US" altLang="zh-TW" sz="2400" b="1" i="1" dirty="0">
                <a:latin typeface="Lucida Sans" panose="020B0602030504020204" pitchFamily="34" charset="0"/>
                <a:ea typeface="Arial Unicode MS" pitchFamily="34" charset="-128"/>
              </a:rPr>
              <a:t>, </a:t>
            </a:r>
            <a:r>
              <a:rPr lang="en-US" altLang="zh-TW" sz="2400" b="1" dirty="0">
                <a:latin typeface="Lucida Sans" panose="020B0602030504020204" pitchFamily="34" charset="0"/>
                <a:ea typeface="Arial Unicode MS" pitchFamily="34" charset="-128"/>
              </a:rPr>
              <a:t>Y=</a:t>
            </a:r>
            <a:r>
              <a:rPr lang="en-US" altLang="zh-TW" sz="2400" b="1" i="1" dirty="0">
                <a:latin typeface="Lucida Sans" panose="020B0602030504020204" pitchFamily="34" charset="0"/>
                <a:ea typeface="Arial Unicode MS" pitchFamily="34" charset="-128"/>
              </a:rPr>
              <a:t>o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 dirty="0">
                <a:latin typeface="Lucida Sans" panose="020B0602030504020204" pitchFamily="34" charset="0"/>
                <a:ea typeface="Arial Unicode MS" pitchFamily="34" charset="-128"/>
              </a:rPr>
              <a:t>Lookup </a:t>
            </a:r>
            <a:r>
              <a:rPr lang="en-US" altLang="zh-TW" sz="2400" b="1" i="1" dirty="0" err="1">
                <a:latin typeface="Lucida Sans" panose="020B0602030504020204" pitchFamily="34" charset="0"/>
                <a:ea typeface="Arial Unicode MS" pitchFamily="34" charset="-128"/>
              </a:rPr>
              <a:t>o</a:t>
            </a:r>
            <a:r>
              <a:rPr lang="en-US" altLang="zh-TW" sz="2400" b="1" dirty="0" err="1">
                <a:latin typeface="Lucida Sans" panose="020B0602030504020204" pitchFamily="34" charset="0"/>
                <a:ea typeface="Arial Unicode MS" pitchFamily="34" charset="-128"/>
              </a:rPr>
              <a:t>$</a:t>
            </a:r>
            <a:r>
              <a:rPr lang="en-US" altLang="zh-TW" sz="2400" b="1" i="1" dirty="0" err="1">
                <a:latin typeface="Lucida Sans" panose="020B0602030504020204" pitchFamily="34" charset="0"/>
                <a:ea typeface="Arial Unicode MS" pitchFamily="34" charset="-128"/>
              </a:rPr>
              <a:t>hel</a:t>
            </a:r>
            <a:r>
              <a:rPr lang="en-US" altLang="zh-TW" sz="2400" b="1" i="1" dirty="0">
                <a:latin typeface="Lucida Sans" panose="020B0602030504020204" pitchFamily="34" charset="0"/>
                <a:ea typeface="Arial Unicode MS" pitchFamily="34" charset="-128"/>
              </a:rPr>
              <a:t>*</a:t>
            </a:r>
            <a:endParaRPr lang="en-US" altLang="zh-TW" sz="2400" i="1" dirty="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23557" name="TextBox 6">
            <a:extLst>
              <a:ext uri="{FF2B5EF4-FFF2-40B4-BE49-F238E27FC236}">
                <a16:creationId xmlns:a16="http://schemas.microsoft.com/office/drawing/2014/main" id="{C4B78BC0-D707-8278-594A-AB018EC6B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3.2.1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31AF3AB-5669-0566-1E1B-65C52A56E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9596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Bigram (</a:t>
            </a:r>
            <a:r>
              <a:rPr lang="en-US" altLang="zh-TW" i="1" dirty="0">
                <a:solidFill>
                  <a:srgbClr val="FF0000"/>
                </a:solidFill>
              </a:rPr>
              <a:t>k</a:t>
            </a:r>
            <a:r>
              <a:rPr lang="en-US" altLang="zh-TW" dirty="0">
                <a:solidFill>
                  <a:srgbClr val="FF0000"/>
                </a:solidFill>
              </a:rPr>
              <a:t>-gram) indexes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225DFD1-7738-6841-C06A-9DA523E91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Enumerate all </a:t>
            </a:r>
            <a:r>
              <a:rPr lang="en-US" altLang="zh-TW" i="1" dirty="0"/>
              <a:t>k</a:t>
            </a:r>
            <a:r>
              <a:rPr lang="en-US" altLang="zh-TW" dirty="0"/>
              <a:t>-grams (</a:t>
            </a:r>
            <a:r>
              <a:rPr lang="en-US" altLang="zh-TW" dirty="0">
                <a:solidFill>
                  <a:srgbClr val="00B050"/>
                </a:solidFill>
              </a:rPr>
              <a:t>sequence of </a:t>
            </a:r>
            <a:r>
              <a:rPr lang="en-US" altLang="zh-TW" i="1" dirty="0">
                <a:solidFill>
                  <a:srgbClr val="00B050"/>
                </a:solidFill>
              </a:rPr>
              <a:t>k</a:t>
            </a:r>
            <a:r>
              <a:rPr lang="en-US" altLang="zh-TW" dirty="0">
                <a:solidFill>
                  <a:srgbClr val="00B050"/>
                </a:solidFill>
              </a:rPr>
              <a:t> chars</a:t>
            </a:r>
            <a:r>
              <a:rPr lang="en-US" altLang="zh-TW" dirty="0"/>
              <a:t>) occurring in any term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i="1" dirty="0"/>
              <a:t>e.g.,</a:t>
            </a:r>
            <a:r>
              <a:rPr lang="en-US" altLang="zh-TW" dirty="0"/>
              <a:t> from text “</a:t>
            </a:r>
            <a:r>
              <a:rPr lang="en-US" altLang="zh-TW" b="1" i="1" dirty="0"/>
              <a:t>April is the cruelest month</a:t>
            </a:r>
            <a:r>
              <a:rPr lang="en-US" altLang="zh-TW" dirty="0"/>
              <a:t>” we get the 2-grams (</a:t>
            </a:r>
            <a:r>
              <a:rPr lang="en-US" altLang="zh-TW" i="1" dirty="0"/>
              <a:t>bigrams</a:t>
            </a:r>
            <a:r>
              <a:rPr lang="en-US" altLang="zh-TW" dirty="0"/>
              <a:t>)</a:t>
            </a: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</a:rPr>
              <a:t>$ is a special word boundary symbol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Maintain a </a:t>
            </a:r>
            <a:r>
              <a:rPr lang="en-US" altLang="zh-TW" i="1" u="sng" dirty="0"/>
              <a:t>second</a:t>
            </a:r>
            <a:r>
              <a:rPr lang="en-US" altLang="zh-TW" dirty="0"/>
              <a:t> inverted index</a:t>
            </a:r>
            <a:r>
              <a:rPr lang="en-US" altLang="zh-TW" i="1" dirty="0"/>
              <a:t> </a:t>
            </a:r>
            <a:r>
              <a:rPr lang="en-US" altLang="zh-TW" i="1" u="sng" dirty="0"/>
              <a:t>from bigrams to</a:t>
            </a:r>
            <a:r>
              <a:rPr lang="en-US" altLang="zh-TW" dirty="0"/>
              <a:t> </a:t>
            </a:r>
            <a:r>
              <a:rPr lang="en-US" altLang="zh-TW" i="1" u="sng" dirty="0"/>
              <a:t>dictionary terms</a:t>
            </a:r>
            <a:r>
              <a:rPr lang="en-US" altLang="zh-TW" dirty="0"/>
              <a:t> that match each bigram.</a:t>
            </a:r>
            <a:endParaRPr lang="en-US" altLang="zh-TW" i="1" u="sng" dirty="0"/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B05753D4-06BC-8CDA-50C9-B36BDAA2A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340" y="3013501"/>
            <a:ext cx="6654386" cy="830997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$a,ap,pr,ri,il,l$,$i,is,s$,$t,th,he,e$,$c,cr,ru,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Arial Unicode MS" pitchFamily="34" charset="-128"/>
              </a:rPr>
              <a:t>ue,el,le,es,st,t$, $m,mo,on,nt,h$</a:t>
            </a:r>
            <a:endParaRPr lang="en-US" altLang="zh-TW" sz="2400" i="1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27653" name="TextBox 4">
            <a:extLst>
              <a:ext uri="{FF2B5EF4-FFF2-40B4-BE49-F238E27FC236}">
                <a16:creationId xmlns:a16="http://schemas.microsoft.com/office/drawing/2014/main" id="{79090BF0-035C-43BA-C646-916E8D574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3.2.2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485578B-7D5F-B143-04E0-9B0C37C75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01596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Bigram index example</a:t>
            </a:r>
          </a:p>
        </p:txBody>
      </p:sp>
      <p:sp>
        <p:nvSpPr>
          <p:cNvPr id="29699" name="Content Placeholder 23">
            <a:extLst>
              <a:ext uri="{FF2B5EF4-FFF2-40B4-BE49-F238E27FC236}">
                <a16:creationId xmlns:a16="http://schemas.microsoft.com/office/drawing/2014/main" id="{1EDCA71E-631E-B9CE-E47B-6A85A4848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The </a:t>
            </a:r>
            <a:r>
              <a:rPr lang="en-US" altLang="zh-TW" i="1" dirty="0"/>
              <a:t>k</a:t>
            </a:r>
            <a:r>
              <a:rPr lang="en-US" altLang="zh-TW" dirty="0"/>
              <a:t>-gram index finds </a:t>
            </a:r>
            <a:r>
              <a:rPr lang="en-US" altLang="zh-TW" i="1" dirty="0"/>
              <a:t>terms</a:t>
            </a:r>
            <a:r>
              <a:rPr lang="en-US" altLang="zh-TW" dirty="0"/>
              <a:t> based on a query consisting of </a:t>
            </a:r>
            <a:r>
              <a:rPr lang="en-US" altLang="zh-TW" i="1" dirty="0"/>
              <a:t>k-</a:t>
            </a:r>
            <a:r>
              <a:rPr lang="en-US" altLang="zh-TW" dirty="0"/>
              <a:t>grams (here </a:t>
            </a:r>
            <a:r>
              <a:rPr lang="en-US" altLang="zh-TW" i="1" dirty="0"/>
              <a:t>k=</a:t>
            </a:r>
            <a:r>
              <a:rPr lang="en-US" altLang="zh-TW" dirty="0"/>
              <a:t>2).</a:t>
            </a:r>
          </a:p>
        </p:txBody>
      </p:sp>
      <p:sp>
        <p:nvSpPr>
          <p:cNvPr id="29718" name="TextBox 21">
            <a:extLst>
              <a:ext uri="{FF2B5EF4-FFF2-40B4-BE49-F238E27FC236}">
                <a16:creationId xmlns:a16="http://schemas.microsoft.com/office/drawing/2014/main" id="{EED4486C-AE3A-B50A-7D81-670AAEDAD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3.2.2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F1768-34A7-54FE-EA77-546855D4B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013" y="3169844"/>
            <a:ext cx="7488164" cy="2316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48C8750-68C1-319F-CAC4-3A116023DC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5902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Processing wild-cards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B7C4A31-6CAE-CB83-79D2-0494C45E1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292307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Query </a:t>
            </a:r>
            <a:r>
              <a:rPr lang="en-US" altLang="zh-TW" b="1" i="1" dirty="0" err="1"/>
              <a:t>mon</a:t>
            </a:r>
            <a:r>
              <a:rPr lang="en-US" altLang="zh-TW" b="1" i="1" dirty="0"/>
              <a:t>*</a:t>
            </a:r>
            <a:r>
              <a:rPr lang="en-US" altLang="zh-TW" dirty="0"/>
              <a:t> can now be run as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/>
              <a:t>$m </a:t>
            </a:r>
            <a:r>
              <a:rPr lang="en-US" altLang="zh-TW" i="1" dirty="0"/>
              <a:t>AND</a:t>
            </a:r>
            <a:r>
              <a:rPr lang="en-US" altLang="zh-TW" b="1" i="1" dirty="0"/>
              <a:t> </a:t>
            </a:r>
            <a:r>
              <a:rPr lang="en-US" altLang="zh-TW" b="1" i="1" dirty="0" err="1"/>
              <a:t>mo</a:t>
            </a:r>
            <a:r>
              <a:rPr lang="en-US" altLang="zh-TW" b="1" i="1" dirty="0"/>
              <a:t> </a:t>
            </a:r>
            <a:r>
              <a:rPr lang="en-US" altLang="zh-TW" i="1" dirty="0"/>
              <a:t>AND</a:t>
            </a:r>
            <a:r>
              <a:rPr lang="en-US" altLang="zh-TW" b="1" i="1" dirty="0"/>
              <a:t> on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Gets terms that match AND version of our wildcard query.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But we’d enumerate </a:t>
            </a:r>
            <a:r>
              <a:rPr lang="en-US" altLang="zh-TW" b="1" i="1" dirty="0"/>
              <a:t>moon</a:t>
            </a:r>
            <a:r>
              <a:rPr lang="en-US" altLang="zh-TW" dirty="0"/>
              <a:t>. </a:t>
            </a:r>
            <a:r>
              <a:rPr lang="en-US" altLang="zh-TW" dirty="0">
                <a:solidFill>
                  <a:srgbClr val="FF0000"/>
                </a:solidFill>
              </a:rPr>
              <a:t>Must post-filter these terms against query.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Surviving enumerated terms are then looked up in the term-document inverted index.</a:t>
            </a:r>
          </a:p>
        </p:txBody>
      </p:sp>
      <p:sp>
        <p:nvSpPr>
          <p:cNvPr id="31749" name="TextBox 4">
            <a:extLst>
              <a:ext uri="{FF2B5EF4-FFF2-40B4-BE49-F238E27FC236}">
                <a16:creationId xmlns:a16="http://schemas.microsoft.com/office/drawing/2014/main" id="{C6C6D592-FB87-50D8-838A-B9395F507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3.2.2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DF8CEC0-9F6B-11CB-0D6D-62767F4A0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Spell correction</a:t>
            </a:r>
          </a:p>
        </p:txBody>
      </p:sp>
      <p:sp>
        <p:nvSpPr>
          <p:cNvPr id="1274883" name="Rectangle 3">
            <a:extLst>
              <a:ext uri="{FF2B5EF4-FFF2-40B4-BE49-F238E27FC236}">
                <a16:creationId xmlns:a16="http://schemas.microsoft.com/office/drawing/2014/main" id="{54E72B86-B6FF-16F3-18BE-4A20B03665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523536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Two principal uses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Correcting </a:t>
            </a:r>
            <a:r>
              <a:rPr lang="en-US" altLang="zh-TW" dirty="0">
                <a:solidFill>
                  <a:srgbClr val="FF0000"/>
                </a:solidFill>
              </a:rPr>
              <a:t>document(s)</a:t>
            </a:r>
            <a:r>
              <a:rPr lang="en-US" altLang="zh-TW" dirty="0"/>
              <a:t> being indexed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Correcting </a:t>
            </a:r>
            <a:r>
              <a:rPr lang="en-US" altLang="zh-TW" dirty="0">
                <a:solidFill>
                  <a:srgbClr val="FF0000"/>
                </a:solidFill>
              </a:rPr>
              <a:t>user queries</a:t>
            </a:r>
            <a:r>
              <a:rPr lang="en-US" altLang="zh-TW" dirty="0"/>
              <a:t> to retrieve “right” answers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Two main flavors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Isolated word</a:t>
            </a:r>
          </a:p>
          <a:p>
            <a:pPr lvl="2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Check each word on its own for misspelling</a:t>
            </a:r>
          </a:p>
          <a:p>
            <a:pPr lvl="2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Will not catch typos resulting in correctly spelled words,  e.g., </a:t>
            </a:r>
            <a:r>
              <a:rPr lang="en-US" altLang="zh-TW" b="1" i="1" dirty="0"/>
              <a:t>from </a:t>
            </a:r>
            <a:r>
              <a:rPr lang="en-US" altLang="zh-TW" b="1" i="1" dirty="0">
                <a:sym typeface="Symbol" panose="05050102010706020507" pitchFamily="18" charset="2"/>
              </a:rPr>
              <a:t></a:t>
            </a:r>
            <a:r>
              <a:rPr lang="en-US" altLang="zh-TW" b="1" i="1" dirty="0"/>
              <a:t> form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Context-sensitive</a:t>
            </a:r>
          </a:p>
          <a:p>
            <a:pPr lvl="2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Look at surrounding words, e.g., </a:t>
            </a:r>
            <a:r>
              <a:rPr lang="en-US" altLang="zh-TW" b="1" i="1" dirty="0"/>
              <a:t>I flew </a:t>
            </a:r>
            <a:r>
              <a:rPr lang="en-US" altLang="zh-TW" b="1" i="1" u="sng" dirty="0"/>
              <a:t>form</a:t>
            </a:r>
            <a:r>
              <a:rPr lang="en-US" altLang="zh-TW" b="1" i="1" dirty="0"/>
              <a:t> Heathrow to Narita.</a:t>
            </a:r>
          </a:p>
        </p:txBody>
      </p:sp>
      <p:sp>
        <p:nvSpPr>
          <p:cNvPr id="37892" name="TextBox 3">
            <a:extLst>
              <a:ext uri="{FF2B5EF4-FFF2-40B4-BE49-F238E27FC236}">
                <a16:creationId xmlns:a16="http://schemas.microsoft.com/office/drawing/2014/main" id="{DD5660B4-D4CD-F67A-1ECC-764AA3316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BEC89F5-71CE-73D6-12E8-AFD9B8157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Document correction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AB7C34D5-A110-D63C-9D1E-A4FAF1BF3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334349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Especially needed for </a:t>
            </a:r>
            <a:r>
              <a:rPr lang="en-US" altLang="zh-TW" dirty="0" err="1"/>
              <a:t>OCR’ed</a:t>
            </a:r>
            <a:r>
              <a:rPr lang="en-US" altLang="zh-TW" dirty="0"/>
              <a:t> documents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Correction algorithms are tuned for this: “</a:t>
            </a:r>
            <a:r>
              <a:rPr lang="en-US" altLang="zh-TW" dirty="0" err="1"/>
              <a:t>rn</a:t>
            </a:r>
            <a:r>
              <a:rPr lang="en-US" altLang="zh-TW" dirty="0"/>
              <a:t>” / ”m”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Can use domain-specific knowledge</a:t>
            </a: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E.g., OCR can confuse O and D more often than it would confuse O and I (adjacent on the QWERTY keyboard, so more likely interchanged in typing).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But also: web pages and even printed material has typos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Goal: the dictionary contains fewer misspellings</a:t>
            </a:r>
          </a:p>
          <a:p>
            <a:pPr marL="0" indent="0" algn="just" eaLnBrk="1" hangingPunct="1">
              <a:lnSpc>
                <a:spcPct val="120000"/>
              </a:lnSpc>
              <a:spcAft>
                <a:spcPts val="600"/>
              </a:spcAft>
              <a:buNone/>
            </a:pPr>
            <a:endParaRPr lang="en-US" altLang="zh-TW" dirty="0"/>
          </a:p>
        </p:txBody>
      </p:sp>
      <p:sp>
        <p:nvSpPr>
          <p:cNvPr id="39940" name="TextBox 3">
            <a:extLst>
              <a:ext uri="{FF2B5EF4-FFF2-40B4-BE49-F238E27FC236}">
                <a16:creationId xmlns:a16="http://schemas.microsoft.com/office/drawing/2014/main" id="{10A9A1E4-0715-086D-10C9-359D7D13E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D102D379-CCE4-B616-A8DF-D47827269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Query mis-spellings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AB4A803-13BC-10FC-08BC-850B3A7A44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5860568" cy="4292307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Our principal focus here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E.g., the query </a:t>
            </a:r>
            <a:r>
              <a:rPr lang="en-US" altLang="zh-TW" b="1" i="1" dirty="0"/>
              <a:t>Alanis </a:t>
            </a:r>
            <a:r>
              <a:rPr lang="en-US" altLang="zh-TW" b="1" i="1" dirty="0" err="1"/>
              <a:t>Morisett</a:t>
            </a:r>
            <a:endParaRPr lang="en-US" altLang="zh-TW" dirty="0"/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We can either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Retrieve documents indexed by the correct spelling, OR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Return several suggested alternative queries with the correct spelling</a:t>
            </a: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i="1" dirty="0"/>
              <a:t>Did you mean … ?</a:t>
            </a:r>
          </a:p>
        </p:txBody>
      </p:sp>
      <p:sp>
        <p:nvSpPr>
          <p:cNvPr id="41988" name="TextBox 3">
            <a:extLst>
              <a:ext uri="{FF2B5EF4-FFF2-40B4-BE49-F238E27FC236}">
                <a16:creationId xmlns:a16="http://schemas.microsoft.com/office/drawing/2014/main" id="{51746E3B-04DD-465B-C244-95D2348B1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714D11-3C62-8ADA-B163-A5FBA971B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551" y="2035454"/>
            <a:ext cx="4666447" cy="36439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A2404F2-5D14-C9B1-FD5A-E38FDF390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4851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Isolated word correction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B51BCC2-48E9-E950-3F6A-A888DE72FB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281797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Fundamental premise – there is a </a:t>
            </a:r>
            <a:r>
              <a:rPr lang="en-US" altLang="zh-TW" dirty="0">
                <a:solidFill>
                  <a:srgbClr val="FF0000"/>
                </a:solidFill>
              </a:rPr>
              <a:t>lexicon</a:t>
            </a:r>
            <a:r>
              <a:rPr lang="en-US" altLang="zh-TW" dirty="0"/>
              <a:t> from which the </a:t>
            </a:r>
            <a:r>
              <a:rPr lang="en-US" altLang="zh-TW" dirty="0">
                <a:solidFill>
                  <a:srgbClr val="FF0000"/>
                </a:solidFill>
              </a:rPr>
              <a:t>correct spellings come.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Two basic choices</a:t>
            </a:r>
            <a:r>
              <a:rPr lang="en-US" altLang="zh-TW" dirty="0"/>
              <a:t> for this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A standard lexicon such as</a:t>
            </a: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Webster’s English Dictionary; An “industry-specific” lexicon – hand-maintained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The lexicon of the indexed corpus</a:t>
            </a: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E.g., all words on the web; All names, acronyms etc.</a:t>
            </a: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(Including the mis-spellings)</a:t>
            </a:r>
          </a:p>
        </p:txBody>
      </p:sp>
      <p:sp>
        <p:nvSpPr>
          <p:cNvPr id="44036" name="TextBox 3">
            <a:extLst>
              <a:ext uri="{FF2B5EF4-FFF2-40B4-BE49-F238E27FC236}">
                <a16:creationId xmlns:a16="http://schemas.microsoft.com/office/drawing/2014/main" id="{7B63DAAB-AE04-40F0-A460-AA02ACE6A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0DD7D79-1639-6307-A0D2-AD0DC88413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5902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Isolated word correction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EC97BD9-FF05-0206-09B9-171298ADA6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302818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Given a lexicon and a character sequence Q, return the words in the lexicon closest to Q.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What’s “closest”?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We’ll study several alternatives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Edit distance (Levenshtein distance)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Weighted edit distance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i="1" dirty="0"/>
              <a:t>n</a:t>
            </a:r>
            <a:r>
              <a:rPr lang="en-US" altLang="zh-TW" dirty="0"/>
              <a:t>-gram overlap</a:t>
            </a:r>
          </a:p>
        </p:txBody>
      </p:sp>
      <p:sp>
        <p:nvSpPr>
          <p:cNvPr id="46084" name="TextBox 3">
            <a:extLst>
              <a:ext uri="{FF2B5EF4-FFF2-40B4-BE49-F238E27FC236}">
                <a16:creationId xmlns:a16="http://schemas.microsoft.com/office/drawing/2014/main" id="{729C811C-FFB3-51D9-2526-D65F6370E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3.3.2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8C04DA2-87CE-8D1E-C097-FF279061B9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Edit distance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3F159B1C-98C0-68E8-5A5F-A1A6FBBC59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492005"/>
          </a:xfrm>
        </p:spPr>
        <p:txBody>
          <a:bodyPr>
            <a:normAutofit fontScale="77500" lnSpcReduction="20000"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Given two strings </a:t>
            </a:r>
            <a:r>
              <a:rPr lang="en-US" altLang="zh-TW" i="1" dirty="0"/>
              <a:t>S</a:t>
            </a:r>
            <a:r>
              <a:rPr lang="en-US" altLang="zh-TW" i="1" baseline="-25000" dirty="0"/>
              <a:t>1</a:t>
            </a:r>
            <a:r>
              <a:rPr lang="en-US" altLang="zh-TW" dirty="0"/>
              <a:t> and </a:t>
            </a:r>
            <a:r>
              <a:rPr lang="en-US" altLang="zh-TW" i="1" dirty="0"/>
              <a:t>S</a:t>
            </a:r>
            <a:r>
              <a:rPr lang="en-US" altLang="zh-TW" i="1" baseline="-25000" dirty="0"/>
              <a:t>2</a:t>
            </a:r>
            <a:r>
              <a:rPr lang="en-US" altLang="zh-TW" dirty="0"/>
              <a:t>, the minimum number of operations to convert one to the other.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Operations are typically character-level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Insert, Delete, Replace</a:t>
            </a:r>
            <a:r>
              <a:rPr lang="en-US" altLang="zh-TW" dirty="0">
                <a:solidFill>
                  <a:srgbClr val="00A000"/>
                </a:solidFill>
              </a:rPr>
              <a:t>, </a:t>
            </a:r>
            <a:r>
              <a:rPr lang="en-US" altLang="zh-TW" strike="sngStrike" dirty="0">
                <a:solidFill>
                  <a:srgbClr val="00A000"/>
                </a:solidFill>
              </a:rPr>
              <a:t>(Transposition)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E.g., the edit distance from </a:t>
            </a:r>
            <a:r>
              <a:rPr lang="en-US" altLang="zh-TW" b="1" i="1" dirty="0" err="1"/>
              <a:t>dof</a:t>
            </a:r>
            <a:r>
              <a:rPr lang="en-US" altLang="zh-TW" dirty="0"/>
              <a:t> to </a:t>
            </a:r>
            <a:r>
              <a:rPr lang="en-US" altLang="zh-TW" b="1" i="1" dirty="0"/>
              <a:t>dog</a:t>
            </a:r>
            <a:r>
              <a:rPr lang="en-US" altLang="zh-TW" dirty="0"/>
              <a:t> is 1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From </a:t>
            </a:r>
            <a:r>
              <a:rPr lang="en-US" altLang="zh-TW" b="1" i="1" dirty="0"/>
              <a:t>cat</a:t>
            </a:r>
            <a:r>
              <a:rPr lang="en-US" altLang="zh-TW" dirty="0"/>
              <a:t> to </a:t>
            </a:r>
            <a:r>
              <a:rPr lang="en-US" altLang="zh-TW" b="1" i="1" dirty="0"/>
              <a:t>act</a:t>
            </a:r>
            <a:r>
              <a:rPr lang="en-US" altLang="zh-TW" dirty="0"/>
              <a:t> is 2	 </a:t>
            </a:r>
            <a:r>
              <a:rPr lang="en-US" altLang="zh-TW" dirty="0">
                <a:solidFill>
                  <a:srgbClr val="00A000"/>
                </a:solidFill>
              </a:rPr>
              <a:t>  (Just 1 with transpose.)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from </a:t>
            </a:r>
            <a:r>
              <a:rPr lang="en-US" altLang="zh-TW" b="1" i="1" dirty="0"/>
              <a:t>cat</a:t>
            </a:r>
            <a:r>
              <a:rPr lang="en-US" altLang="zh-TW" dirty="0"/>
              <a:t> to </a:t>
            </a:r>
            <a:r>
              <a:rPr lang="en-US" altLang="zh-TW" b="1" i="1" dirty="0"/>
              <a:t>dog</a:t>
            </a:r>
            <a:r>
              <a:rPr lang="en-US" altLang="zh-TW" dirty="0"/>
              <a:t> is 3.	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Generally found by dynamic programming.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See </a:t>
            </a:r>
            <a:r>
              <a:rPr lang="en-US" altLang="zh-TW" dirty="0">
                <a:hlinkClick r:id="rId3"/>
              </a:rPr>
              <a:t>https://planetcalc.com/1721/</a:t>
            </a:r>
            <a:r>
              <a:rPr lang="en-US" altLang="zh-TW" dirty="0"/>
              <a:t> for a nice example.</a:t>
            </a:r>
          </a:p>
        </p:txBody>
      </p:sp>
      <p:sp>
        <p:nvSpPr>
          <p:cNvPr id="48132" name="TextBox 3">
            <a:extLst>
              <a:ext uri="{FF2B5EF4-FFF2-40B4-BE49-F238E27FC236}">
                <a16:creationId xmlns:a16="http://schemas.microsoft.com/office/drawing/2014/main" id="{B34DD9C8-44D2-76D5-4011-3F51540B0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3.3.3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073D78-793E-88B1-7193-2A81977D4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392" y="3207019"/>
            <a:ext cx="4810121" cy="17763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9386C-CE7C-8D8C-C1AA-270414DE673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97280" y="286603"/>
            <a:ext cx="10058400" cy="764431"/>
          </a:xfrm>
        </p:spPr>
        <p:txBody>
          <a:bodyPr/>
          <a:lstStyle/>
          <a:p>
            <a:r>
              <a:rPr lang="en-US" altLang="zh-TW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 for edit distance</a:t>
            </a:r>
          </a:p>
        </p:txBody>
      </p:sp>
      <p:pic>
        <p:nvPicPr>
          <p:cNvPr id="50179" name="Picture 8" descr="343.png">
            <a:extLst>
              <a:ext uri="{FF2B5EF4-FFF2-40B4-BE49-F238E27FC236}">
                <a16:creationId xmlns:a16="http://schemas.microsoft.com/office/drawing/2014/main" id="{8CED1621-4822-3D91-15E3-FBC4B50C7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1765405"/>
            <a:ext cx="83264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6301A750-CB34-5947-E40E-BC7B8F810B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Weighted edit distance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810ADCD-5A9A-7E32-0CA2-063E8DD051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43945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As above, but the weight of an operation depends on the character(s) involved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Meant to capture OCR or keyboard errors, e.g. </a:t>
            </a:r>
            <a:r>
              <a:rPr lang="en-US" altLang="zh-TW" b="1" i="1" dirty="0"/>
              <a:t>m</a:t>
            </a:r>
            <a:r>
              <a:rPr lang="en-US" altLang="zh-TW" dirty="0"/>
              <a:t> more likely to be mis-typed as </a:t>
            </a:r>
            <a:r>
              <a:rPr lang="en-US" altLang="zh-TW" b="1" i="1" dirty="0"/>
              <a:t>n</a:t>
            </a:r>
            <a:r>
              <a:rPr lang="en-US" altLang="zh-TW" dirty="0"/>
              <a:t> than as </a:t>
            </a:r>
            <a:r>
              <a:rPr lang="en-US" altLang="zh-TW" b="1" i="1" dirty="0"/>
              <a:t>q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Therefore, replacing </a:t>
            </a:r>
            <a:r>
              <a:rPr lang="en-US" altLang="zh-TW" b="1" i="1" dirty="0"/>
              <a:t>m</a:t>
            </a:r>
            <a:r>
              <a:rPr lang="en-US" altLang="zh-TW" dirty="0"/>
              <a:t> by </a:t>
            </a:r>
            <a:r>
              <a:rPr lang="en-US" altLang="zh-TW" b="1" i="1" dirty="0"/>
              <a:t>n</a:t>
            </a:r>
            <a:r>
              <a:rPr lang="en-US" altLang="zh-TW" dirty="0"/>
              <a:t> is a smaller edit distance than by </a:t>
            </a:r>
            <a:r>
              <a:rPr lang="en-US" altLang="zh-TW" b="1" i="1" dirty="0"/>
              <a:t>q</a:t>
            </a:r>
            <a:endParaRPr lang="en-US" altLang="zh-TW" dirty="0"/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Requires weight matrix as input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Modify dynamic programming to handle weights</a:t>
            </a:r>
          </a:p>
        </p:txBody>
      </p:sp>
      <p:sp>
        <p:nvSpPr>
          <p:cNvPr id="52228" name="TextBox 3">
            <a:extLst>
              <a:ext uri="{FF2B5EF4-FFF2-40B4-BE49-F238E27FC236}">
                <a16:creationId xmlns:a16="http://schemas.microsoft.com/office/drawing/2014/main" id="{B93F57D1-53D5-567E-89F7-0727AC774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3.3.3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AEC32EDD-E44B-D41F-9B3C-CC17FDAE9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solidFill>
                  <a:srgbClr val="FF0000"/>
                </a:solidFill>
              </a:rPr>
              <a:t>Edit distance to all dictionary terms?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6A1B4128-05BC-6D8C-FA17-F3C65753CC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250266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Given a (mis-spelled) query – do we compute its edit distance to every dictionary term?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Expensive and slow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Alternative?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How do we cut the set of candidate dictionary terms?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One possibility is to use </a:t>
            </a:r>
            <a:r>
              <a:rPr lang="en-US" altLang="zh-TW" i="1" dirty="0">
                <a:solidFill>
                  <a:srgbClr val="FF0000"/>
                </a:solidFill>
              </a:rPr>
              <a:t>n-</a:t>
            </a:r>
            <a:r>
              <a:rPr lang="en-US" altLang="zh-TW" dirty="0">
                <a:solidFill>
                  <a:srgbClr val="FF0000"/>
                </a:solidFill>
              </a:rPr>
              <a:t>gram overlap</a:t>
            </a:r>
            <a:r>
              <a:rPr lang="en-US" altLang="zh-TW" dirty="0"/>
              <a:t> for this.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This can also be used by itself for spelling correction.</a:t>
            </a:r>
          </a:p>
        </p:txBody>
      </p:sp>
      <p:sp>
        <p:nvSpPr>
          <p:cNvPr id="56324" name="TextBox 3">
            <a:extLst>
              <a:ext uri="{FF2B5EF4-FFF2-40B4-BE49-F238E27FC236}">
                <a16:creationId xmlns:a16="http://schemas.microsoft.com/office/drawing/2014/main" id="{F9909C04-1E0F-9DC0-9584-8203FC04A4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3.3.4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6123696-8639-6862-AFD9-950AD8D5C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pPr eaLnBrk="1" hangingPunct="1"/>
            <a:r>
              <a:rPr lang="en-US" altLang="zh-TW" i="1" dirty="0">
                <a:solidFill>
                  <a:srgbClr val="FF0000"/>
                </a:solidFill>
              </a:rPr>
              <a:t>n</a:t>
            </a:r>
            <a:r>
              <a:rPr lang="en-US" altLang="zh-TW" dirty="0">
                <a:solidFill>
                  <a:srgbClr val="FF0000"/>
                </a:solidFill>
              </a:rPr>
              <a:t>-gram overlap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34534DF6-CD03-7CB9-31AF-E1FF6D2182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Enumerate all the </a:t>
            </a:r>
            <a:r>
              <a:rPr lang="en-US" altLang="zh-TW" i="1" dirty="0"/>
              <a:t>n</a:t>
            </a:r>
            <a:r>
              <a:rPr lang="en-US" altLang="zh-TW" dirty="0"/>
              <a:t>-grams in the query string as well as in the lexicon.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Use the </a:t>
            </a:r>
            <a:r>
              <a:rPr lang="en-US" altLang="zh-TW" i="1" dirty="0"/>
              <a:t>n</a:t>
            </a:r>
            <a:r>
              <a:rPr lang="en-US" altLang="zh-TW" dirty="0"/>
              <a:t>-gram index to retrieve all lexicon terms matching any of the query </a:t>
            </a:r>
            <a:r>
              <a:rPr lang="en-US" altLang="zh-TW" i="1" dirty="0"/>
              <a:t>n</a:t>
            </a:r>
            <a:r>
              <a:rPr lang="en-US" altLang="zh-TW" dirty="0"/>
              <a:t>-grams.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Threshold by number of matching </a:t>
            </a:r>
            <a:r>
              <a:rPr lang="en-US" altLang="zh-TW" i="1" dirty="0"/>
              <a:t>n</a:t>
            </a:r>
            <a:r>
              <a:rPr lang="en-US" altLang="zh-TW" dirty="0"/>
              <a:t>-grams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Variants – weight by keyboard layout, etc.</a:t>
            </a:r>
          </a:p>
        </p:txBody>
      </p:sp>
      <p:sp>
        <p:nvSpPr>
          <p:cNvPr id="58372" name="TextBox 3">
            <a:extLst>
              <a:ext uri="{FF2B5EF4-FFF2-40B4-BE49-F238E27FC236}">
                <a16:creationId xmlns:a16="http://schemas.microsoft.com/office/drawing/2014/main" id="{AF7AEAE4-23C2-26B2-01B2-4DEB274C8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3.3.4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5140829A-59E6-BA8F-7457-483ED55EE6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Example with trigrams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C6E5ADA-57F7-6A0C-B91C-52CB9DBD0A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Suppose the text is </a:t>
            </a:r>
            <a:r>
              <a:rPr lang="en-US" altLang="zh-TW" b="1" i="1" dirty="0" err="1"/>
              <a:t>november</a:t>
            </a:r>
            <a:endParaRPr lang="en-US" altLang="zh-TW" b="1" i="1" dirty="0"/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Trigrams are </a:t>
            </a:r>
            <a:r>
              <a:rPr lang="en-US" altLang="zh-TW" i="1" dirty="0" err="1"/>
              <a:t>nov</a:t>
            </a:r>
            <a:r>
              <a:rPr lang="en-US" altLang="zh-TW" i="1" dirty="0"/>
              <a:t>, </a:t>
            </a:r>
            <a:r>
              <a:rPr lang="en-US" altLang="zh-TW" i="1" dirty="0" err="1"/>
              <a:t>ove</a:t>
            </a:r>
            <a:r>
              <a:rPr lang="en-US" altLang="zh-TW" i="1" dirty="0"/>
              <a:t>, </a:t>
            </a:r>
            <a:r>
              <a:rPr lang="en-US" altLang="zh-TW" i="1" dirty="0" err="1"/>
              <a:t>vem</a:t>
            </a:r>
            <a:r>
              <a:rPr lang="en-US" altLang="zh-TW" i="1" dirty="0"/>
              <a:t>, </a:t>
            </a:r>
            <a:r>
              <a:rPr lang="en-US" altLang="zh-TW" i="1" dirty="0" err="1">
                <a:solidFill>
                  <a:schemeClr val="hlink"/>
                </a:solidFill>
              </a:rPr>
              <a:t>emb</a:t>
            </a:r>
            <a:r>
              <a:rPr lang="en-US" altLang="zh-TW" i="1" dirty="0">
                <a:solidFill>
                  <a:schemeClr val="hlink"/>
                </a:solidFill>
              </a:rPr>
              <a:t>, </a:t>
            </a:r>
            <a:r>
              <a:rPr lang="en-US" altLang="zh-TW" i="1" dirty="0" err="1">
                <a:solidFill>
                  <a:schemeClr val="hlink"/>
                </a:solidFill>
              </a:rPr>
              <a:t>mbe</a:t>
            </a:r>
            <a:r>
              <a:rPr lang="en-US" altLang="zh-TW" i="1" dirty="0">
                <a:solidFill>
                  <a:schemeClr val="hlink"/>
                </a:solidFill>
              </a:rPr>
              <a:t>, </a:t>
            </a:r>
            <a:r>
              <a:rPr lang="en-US" altLang="zh-TW" i="1" dirty="0" err="1">
                <a:solidFill>
                  <a:schemeClr val="hlink"/>
                </a:solidFill>
              </a:rPr>
              <a:t>ber</a:t>
            </a:r>
            <a:r>
              <a:rPr lang="en-US" altLang="zh-TW" dirty="0"/>
              <a:t>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The query is </a:t>
            </a:r>
            <a:r>
              <a:rPr lang="en-US" altLang="zh-TW" b="1" i="1" dirty="0" err="1"/>
              <a:t>december</a:t>
            </a:r>
            <a:endParaRPr lang="en-US" altLang="zh-TW" b="1" i="1" dirty="0"/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Trigrams are </a:t>
            </a:r>
            <a:r>
              <a:rPr lang="en-US" altLang="zh-TW" i="1" dirty="0"/>
              <a:t>dec, </a:t>
            </a:r>
            <a:r>
              <a:rPr lang="en-US" altLang="zh-TW" i="1" dirty="0" err="1"/>
              <a:t>ece</a:t>
            </a:r>
            <a:r>
              <a:rPr lang="en-US" altLang="zh-TW" i="1" dirty="0"/>
              <a:t>, cem, </a:t>
            </a:r>
            <a:r>
              <a:rPr lang="en-US" altLang="zh-TW" i="1" dirty="0" err="1">
                <a:solidFill>
                  <a:schemeClr val="hlink"/>
                </a:solidFill>
              </a:rPr>
              <a:t>emb</a:t>
            </a:r>
            <a:r>
              <a:rPr lang="en-US" altLang="zh-TW" i="1" dirty="0">
                <a:solidFill>
                  <a:schemeClr val="hlink"/>
                </a:solidFill>
              </a:rPr>
              <a:t>, </a:t>
            </a:r>
            <a:r>
              <a:rPr lang="en-US" altLang="zh-TW" i="1" dirty="0" err="1">
                <a:solidFill>
                  <a:schemeClr val="hlink"/>
                </a:solidFill>
              </a:rPr>
              <a:t>mbe</a:t>
            </a:r>
            <a:r>
              <a:rPr lang="en-US" altLang="zh-TW" i="1" dirty="0">
                <a:solidFill>
                  <a:schemeClr val="hlink"/>
                </a:solidFill>
              </a:rPr>
              <a:t>, </a:t>
            </a:r>
            <a:r>
              <a:rPr lang="en-US" altLang="zh-TW" i="1" dirty="0" err="1">
                <a:solidFill>
                  <a:schemeClr val="hlink"/>
                </a:solidFill>
              </a:rPr>
              <a:t>ber</a:t>
            </a:r>
            <a:r>
              <a:rPr lang="en-US" altLang="zh-TW" dirty="0"/>
              <a:t>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So 3 trigrams overlap (of 6 in each term)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</a:t>
            </a:r>
            <a:r>
              <a:rPr lang="en-US" altLang="zh-TW" dirty="0">
                <a:solidFill>
                  <a:srgbClr val="00B050"/>
                </a:solidFill>
              </a:rPr>
              <a:t>How can we turn this into a normalized measure of overlap?</a:t>
            </a:r>
          </a:p>
        </p:txBody>
      </p:sp>
      <p:sp>
        <p:nvSpPr>
          <p:cNvPr id="60420" name="Rectangle 5">
            <a:extLst>
              <a:ext uri="{FF2B5EF4-FFF2-40B4-BE49-F238E27FC236}">
                <a16:creationId xmlns:a16="http://schemas.microsoft.com/office/drawing/2014/main" id="{799E2385-8364-FA7E-732F-A41F4F3A0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485" y="2593427"/>
            <a:ext cx="1949668" cy="1631732"/>
          </a:xfrm>
          <a:prstGeom prst="rect">
            <a:avLst/>
          </a:prstGeom>
          <a:noFill/>
          <a:ln w="158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Arial Unicode MS" pitchFamily="34" charset="-128"/>
            </a:endParaRPr>
          </a:p>
        </p:txBody>
      </p:sp>
      <p:sp>
        <p:nvSpPr>
          <p:cNvPr id="60421" name="TextBox 4">
            <a:extLst>
              <a:ext uri="{FF2B5EF4-FFF2-40B4-BE49-F238E27FC236}">
                <a16:creationId xmlns:a16="http://schemas.microsoft.com/office/drawing/2014/main" id="{51426D04-8AFF-DE3F-C91D-4267785D8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3.3.4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C563A1D4-1DA9-8BBF-4F8F-075DBA75D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One option – Jaccard coefficient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2E98AC80-3630-ADA5-9BAA-E4913B9C96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281797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A commonly-used measure of overlap</a:t>
            </a:r>
          </a:p>
          <a:p>
            <a:pPr marL="0" indent="0" algn="just" eaLnBrk="1" hangingPunct="1">
              <a:lnSpc>
                <a:spcPct val="140000"/>
              </a:lnSpc>
              <a:spcAft>
                <a:spcPts val="600"/>
              </a:spcAft>
              <a:buNone/>
            </a:pPr>
            <a:endParaRPr lang="en-US" altLang="zh-TW" dirty="0"/>
          </a:p>
          <a:p>
            <a:pPr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Always assigns a number between 0 and 1</a:t>
            </a:r>
          </a:p>
          <a:p>
            <a:pPr lvl="1"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Now threshold to decide if you have a match</a:t>
            </a:r>
          </a:p>
          <a:p>
            <a:pPr lvl="1"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E.g., if </a:t>
            </a:r>
            <a:r>
              <a:rPr lang="en-US" altLang="zh-TW" dirty="0">
                <a:solidFill>
                  <a:srgbClr val="FF0000"/>
                </a:solidFill>
              </a:rPr>
              <a:t>J.C. &gt; 0.8, declare a match </a:t>
            </a:r>
          </a:p>
        </p:txBody>
      </p:sp>
      <p:graphicFrame>
        <p:nvGraphicFramePr>
          <p:cNvPr id="62468" name="Object 2">
            <a:extLst>
              <a:ext uri="{FF2B5EF4-FFF2-40B4-BE49-F238E27FC236}">
                <a16:creationId xmlns:a16="http://schemas.microsoft.com/office/drawing/2014/main" id="{830EAC1E-E07F-57C1-45DD-0F6FD352A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058973"/>
              </p:ext>
            </p:extLst>
          </p:nvPr>
        </p:nvGraphicFramePr>
        <p:xfrm>
          <a:off x="1613340" y="2730064"/>
          <a:ext cx="2694108" cy="698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77476" imgH="253890" progId="Equation.3">
                  <p:embed/>
                </p:oleObj>
              </mc:Choice>
              <mc:Fallback>
                <p:oleObj name="Equation" r:id="rId3" imgW="977476" imgH="253890" progId="Equation.3">
                  <p:embed/>
                  <p:pic>
                    <p:nvPicPr>
                      <p:cNvPr id="62468" name="Object 2">
                        <a:extLst>
                          <a:ext uri="{FF2B5EF4-FFF2-40B4-BE49-F238E27FC236}">
                            <a16:creationId xmlns:a16="http://schemas.microsoft.com/office/drawing/2014/main" id="{830EAC1E-E07F-57C1-45DD-0F6FD352AD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340" y="2730064"/>
                        <a:ext cx="2694108" cy="6989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9" name="TextBox 4">
            <a:extLst>
              <a:ext uri="{FF2B5EF4-FFF2-40B4-BE49-F238E27FC236}">
                <a16:creationId xmlns:a16="http://schemas.microsoft.com/office/drawing/2014/main" id="{5E6F5005-30F5-B00F-0A94-0DC850D8A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3.3.4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FB06BB7-B9D6-321A-8E44-DAB14303A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58460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Matching trigrams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4A63A221-A447-CBFE-725C-10565A72C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TW" dirty="0"/>
              <a:t> Consider the query </a:t>
            </a:r>
            <a:r>
              <a:rPr lang="en-US" altLang="zh-TW" b="1" i="1" dirty="0"/>
              <a:t>lord</a:t>
            </a:r>
            <a:r>
              <a:rPr lang="en-US" altLang="zh-TW" dirty="0"/>
              <a:t> – we wish to identify words matching 2 of its 3 bigrams (</a:t>
            </a:r>
            <a:r>
              <a:rPr lang="en-US" altLang="zh-TW" b="1" i="1" dirty="0"/>
              <a:t>lo, or, </a:t>
            </a:r>
            <a:r>
              <a:rPr lang="en-US" altLang="zh-TW" b="1" i="1" dirty="0" err="1"/>
              <a:t>rd</a:t>
            </a:r>
            <a:r>
              <a:rPr lang="en-US" altLang="zh-TW" dirty="0"/>
              <a:t>)</a:t>
            </a:r>
          </a:p>
        </p:txBody>
      </p:sp>
      <p:sp>
        <p:nvSpPr>
          <p:cNvPr id="64546" name="TextBox 37">
            <a:extLst>
              <a:ext uri="{FF2B5EF4-FFF2-40B4-BE49-F238E27FC236}">
                <a16:creationId xmlns:a16="http://schemas.microsoft.com/office/drawing/2014/main" id="{70D31EC7-A964-4652-073D-4AA0F0F6B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3.3.4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324A7C-446D-BA27-00FC-AE11B2B43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610" y="2932709"/>
            <a:ext cx="7714779" cy="250113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6CB252B2-32DD-B326-7B23-26B97E0DD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6953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Context-sensitive spell correction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362D8527-A5B2-ACF4-FC54-B6882BF28C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Text: </a:t>
            </a:r>
            <a:r>
              <a:rPr lang="en-US" altLang="zh-TW" b="1" i="1" dirty="0"/>
              <a:t>I flew </a:t>
            </a:r>
            <a:r>
              <a:rPr lang="en-US" altLang="zh-TW" b="1" i="1" u="sng" dirty="0"/>
              <a:t>from</a:t>
            </a:r>
            <a:r>
              <a:rPr lang="en-US" altLang="zh-TW" b="1" i="1" dirty="0"/>
              <a:t> Heathrow to Narita.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Consider the phrase query </a:t>
            </a:r>
            <a:r>
              <a:rPr lang="en-US" altLang="zh-TW" b="1" i="1" dirty="0"/>
              <a:t>“flew </a:t>
            </a:r>
            <a:r>
              <a:rPr lang="en-US" altLang="zh-TW" b="1" i="1" u="sng" dirty="0"/>
              <a:t>form</a:t>
            </a:r>
            <a:r>
              <a:rPr lang="en-US" altLang="zh-TW" b="1" i="1" dirty="0"/>
              <a:t> Heathrow”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TW" dirty="0"/>
              <a:t> 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We’d like to respond</a:t>
            </a:r>
          </a:p>
          <a:p>
            <a:pPr marL="201168" lvl="1" indent="0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Did you mean “</a:t>
            </a:r>
            <a:r>
              <a:rPr lang="en-US" altLang="zh-TW" b="1" i="1" dirty="0">
                <a:solidFill>
                  <a:schemeClr val="accent1">
                    <a:lumMod val="75000"/>
                  </a:schemeClr>
                </a:solidFill>
              </a:rPr>
              <a:t>flew from Heathrow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”?</a:t>
            </a:r>
          </a:p>
          <a:p>
            <a:pPr marL="0" indent="0"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 because no docs matched the query phrase.</a:t>
            </a:r>
          </a:p>
        </p:txBody>
      </p:sp>
      <p:sp>
        <p:nvSpPr>
          <p:cNvPr id="66564" name="TextBox 3">
            <a:extLst>
              <a:ext uri="{FF2B5EF4-FFF2-40B4-BE49-F238E27FC236}">
                <a16:creationId xmlns:a16="http://schemas.microsoft.com/office/drawing/2014/main" id="{6486D76E-CAC6-2989-10C8-04BA06C9B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3.3.5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34D69DE-4A8D-2B47-5C3F-B84622D33E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Context-sensitive correction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67DF4195-CE82-B71D-75AB-610AFACBEA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292307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Need </a:t>
            </a:r>
            <a:r>
              <a:rPr lang="en-US" altLang="zh-TW" dirty="0">
                <a:solidFill>
                  <a:srgbClr val="FF0000"/>
                </a:solidFill>
              </a:rPr>
              <a:t>surrounding context</a:t>
            </a:r>
            <a:r>
              <a:rPr lang="en-US" altLang="zh-TW" dirty="0"/>
              <a:t> to catch this.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</a:t>
            </a:r>
            <a:r>
              <a:rPr lang="en-US" altLang="zh-TW" u="sng" dirty="0"/>
              <a:t>First idea</a:t>
            </a:r>
            <a:r>
              <a:rPr lang="en-US" altLang="zh-TW" dirty="0"/>
              <a:t>: retrieve dictionary terms close (in weighted edit distance) to each query term.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Now try all possible resulting phrases with </a:t>
            </a:r>
            <a:r>
              <a:rPr lang="en-US" altLang="zh-TW" u="sng" dirty="0">
                <a:solidFill>
                  <a:srgbClr val="FF0000"/>
                </a:solidFill>
              </a:rPr>
              <a:t>one word “fixed” at a time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/>
              <a:t>flew from </a:t>
            </a:r>
            <a:r>
              <a:rPr lang="en-US" altLang="zh-TW" b="1" i="1" dirty="0" err="1"/>
              <a:t>heathrow</a:t>
            </a:r>
            <a:r>
              <a:rPr lang="en-US" altLang="zh-TW" b="1" i="1" dirty="0"/>
              <a:t> 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/>
              <a:t>fled form </a:t>
            </a:r>
            <a:r>
              <a:rPr lang="en-US" altLang="zh-TW" b="1" i="1" dirty="0" err="1"/>
              <a:t>heathrow</a:t>
            </a:r>
            <a:endParaRPr lang="en-US" altLang="zh-TW" b="1" i="1" dirty="0"/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/>
              <a:t>flea form </a:t>
            </a:r>
            <a:r>
              <a:rPr lang="en-US" altLang="zh-TW" b="1" i="1" dirty="0" err="1"/>
              <a:t>heathrow</a:t>
            </a:r>
            <a:endParaRPr lang="en-US" altLang="zh-TW" b="1" i="1" dirty="0"/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dirty="0"/>
              <a:t> Hit-based spelling correction: </a:t>
            </a:r>
            <a:r>
              <a:rPr lang="en-US" altLang="zh-TW" dirty="0"/>
              <a:t>Suggest the alternative that has lots of hits.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sp>
        <p:nvSpPr>
          <p:cNvPr id="68612" name="TextBox 3">
            <a:extLst>
              <a:ext uri="{FF2B5EF4-FFF2-40B4-BE49-F238E27FC236}">
                <a16:creationId xmlns:a16="http://schemas.microsoft.com/office/drawing/2014/main" id="{6A68D151-A265-1DCF-565A-976F1F28F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3.3.5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26">
            <a:extLst>
              <a:ext uri="{FF2B5EF4-FFF2-40B4-BE49-F238E27FC236}">
                <a16:creationId xmlns:a16="http://schemas.microsoft.com/office/drawing/2014/main" id="{15831863-52B9-9D8F-D09B-B7AECA05E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General issues in spell correction</a:t>
            </a:r>
          </a:p>
        </p:txBody>
      </p:sp>
      <p:sp>
        <p:nvSpPr>
          <p:cNvPr id="74755" name="Rectangle 1027">
            <a:extLst>
              <a:ext uri="{FF2B5EF4-FFF2-40B4-BE49-F238E27FC236}">
                <a16:creationId xmlns:a16="http://schemas.microsoft.com/office/drawing/2014/main" id="{24E11CC7-0E70-FA8A-5A07-3CFD2739E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481494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We enumerate multiple alternatives for “Did you mean?”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Need to figure out which to present to the user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Use heuristics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The alternative hitting most docs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Query log analysis + tweaking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Spell-correction is computationally expensive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u="sng" dirty="0"/>
              <a:t>Run only on queries that matched few docs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sp>
        <p:nvSpPr>
          <p:cNvPr id="74756" name="TextBox 3">
            <a:extLst>
              <a:ext uri="{FF2B5EF4-FFF2-40B4-BE49-F238E27FC236}">
                <a16:creationId xmlns:a16="http://schemas.microsoft.com/office/drawing/2014/main" id="{C7A08883-18FF-C79D-3AD6-67D8A4664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8"/>
              </a:rPr>
              <a:t>Sec. 3.3.5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3AB2B28D-F887-09F9-01BC-D17F5B7A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38D301C-399C-4311-BCA5-214A0AFC789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FDF490D-9F9E-FA09-588A-8C964C8E6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5902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Measures for a search engine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F4E63992-73CB-44AF-EFB6-2B3FD629C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428942"/>
          </a:xfrm>
        </p:spPr>
        <p:txBody>
          <a:bodyPr>
            <a:normAutofit fontScale="77500" lnSpcReduction="20000"/>
          </a:bodyPr>
          <a:lstStyle/>
          <a:p>
            <a:pPr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How fast does it index</a:t>
            </a:r>
          </a:p>
          <a:p>
            <a:pPr lvl="1"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Number of documents/hour (Average document size)</a:t>
            </a:r>
          </a:p>
          <a:p>
            <a:pPr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How fast does it search</a:t>
            </a:r>
          </a:p>
          <a:p>
            <a:pPr lvl="1"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Latency as a function of index size</a:t>
            </a:r>
          </a:p>
          <a:p>
            <a:pPr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Expressiveness of query language</a:t>
            </a:r>
          </a:p>
          <a:p>
            <a:pPr lvl="1"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Ability to express complex information needs</a:t>
            </a:r>
          </a:p>
          <a:p>
            <a:pPr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UI</a:t>
            </a:r>
          </a:p>
          <a:p>
            <a:pPr algn="just" eaLnBrk="1" hangingPunct="1">
              <a:lnSpc>
                <a:spcPct val="14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Is it free?</a:t>
            </a:r>
          </a:p>
        </p:txBody>
      </p:sp>
      <p:sp>
        <p:nvSpPr>
          <p:cNvPr id="17413" name="TextBox 4">
            <a:extLst>
              <a:ext uri="{FF2B5EF4-FFF2-40B4-BE49-F238E27FC236}">
                <a16:creationId xmlns:a16="http://schemas.microsoft.com/office/drawing/2014/main" id="{8D9EA5E1-14C7-BBD1-FC19-EBD326A4D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D33A28D-F37E-D88A-3AEE-B9BA5BCAF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205E26A-5B04-48B6-A128-930B4D0E3262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9C9ACC8-349F-1224-A140-9475225A54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Measures for a search engine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DD720BE3-B9FC-241E-35DE-3FB101FF78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313328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All of the preceding criteria are </a:t>
            </a:r>
            <a:r>
              <a:rPr lang="en-US" altLang="zh-TW" i="1" dirty="0"/>
              <a:t>measurable</a:t>
            </a:r>
            <a:r>
              <a:rPr lang="en-US" altLang="zh-TW" dirty="0"/>
              <a:t>: we can quantify speed/size.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The key measure: </a:t>
            </a:r>
            <a:r>
              <a:rPr lang="en-US" altLang="zh-TW" dirty="0">
                <a:solidFill>
                  <a:srgbClr val="FF0000"/>
                </a:solidFill>
              </a:rPr>
              <a:t>user happiness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What is this?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Speed of response/size of index are factors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</a:rPr>
              <a:t>But blindingly fast, useless answers won’t make a user happy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Need a </a:t>
            </a:r>
            <a:r>
              <a:rPr lang="en-US" altLang="zh-TW" dirty="0">
                <a:solidFill>
                  <a:srgbClr val="FF0000"/>
                </a:solidFill>
              </a:rPr>
              <a:t>way of quantifying user happiness</a:t>
            </a:r>
            <a:r>
              <a:rPr lang="en-US" altLang="zh-TW" dirty="0"/>
              <a:t>.</a:t>
            </a:r>
          </a:p>
        </p:txBody>
      </p:sp>
      <p:sp>
        <p:nvSpPr>
          <p:cNvPr id="19461" name="TextBox 4">
            <a:extLst>
              <a:ext uri="{FF2B5EF4-FFF2-40B4-BE49-F238E27FC236}">
                <a16:creationId xmlns:a16="http://schemas.microsoft.com/office/drawing/2014/main" id="{277D04BB-A50D-2317-D78A-3EB9F6410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D4C952E7-5019-B173-2713-71573E98F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CB1CF9-6E60-4DC6-B710-9A2534E887D8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21507" name="Rectangle 1026">
            <a:extLst>
              <a:ext uri="{FF2B5EF4-FFF2-40B4-BE49-F238E27FC236}">
                <a16:creationId xmlns:a16="http://schemas.microsoft.com/office/drawing/2014/main" id="{4D26BDFF-0309-4FD8-6EAF-ECA5623A62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Measuring user happiness</a:t>
            </a:r>
          </a:p>
        </p:txBody>
      </p:sp>
      <p:sp>
        <p:nvSpPr>
          <p:cNvPr id="21508" name="Rectangle 1027">
            <a:extLst>
              <a:ext uri="{FF2B5EF4-FFF2-40B4-BE49-F238E27FC236}">
                <a16:creationId xmlns:a16="http://schemas.microsoft.com/office/drawing/2014/main" id="{BE38630F-DA17-94AD-E9D6-2DCA5DC42C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292307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Issue: who is the user we are trying to make happy?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</a:t>
            </a:r>
            <a:r>
              <a:rPr lang="en-US" altLang="zh-TW" u="sng" dirty="0"/>
              <a:t>Web engine</a:t>
            </a:r>
            <a:r>
              <a:rPr lang="en-US" altLang="zh-TW" dirty="0"/>
              <a:t>: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User finds what they want and return to the engine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User completes their task – search as a means, not end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</a:t>
            </a:r>
            <a:r>
              <a:rPr lang="en-US" altLang="zh-TW" u="sng" dirty="0"/>
              <a:t>eCommerce site</a:t>
            </a:r>
            <a:r>
              <a:rPr lang="en-US" altLang="zh-TW" dirty="0"/>
              <a:t>: user finds what they want and buy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Is it the end-user, or the eCommerce site, whose happiness we measure?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Measure time to purchase, or fraction of searchers who become buyers?</a:t>
            </a:r>
          </a:p>
        </p:txBody>
      </p:sp>
      <p:sp>
        <p:nvSpPr>
          <p:cNvPr id="21509" name="TextBox 4">
            <a:extLst>
              <a:ext uri="{FF2B5EF4-FFF2-40B4-BE49-F238E27FC236}">
                <a16:creationId xmlns:a16="http://schemas.microsoft.com/office/drawing/2014/main" id="{BBC3A3A0-5973-0956-C7D3-CB498A947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1166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8.6.2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026BF428-D740-BFF2-3EBD-EC49435B6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CD0C647-CF8A-407E-ABA0-627966ABD540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7AD420F-1847-F508-7478-2CD2151752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Happiness: elusive to measure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07B60C6-2979-05C8-2DB3-FD725FCDAC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7669" y="1752600"/>
            <a:ext cx="9968011" cy="48768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Most common proxy: </a:t>
            </a:r>
            <a:r>
              <a:rPr lang="en-US" altLang="zh-TW" i="1" dirty="0"/>
              <a:t>relevance</a:t>
            </a:r>
            <a:r>
              <a:rPr lang="en-US" altLang="zh-TW" dirty="0"/>
              <a:t> of search results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But how do you measure relevance?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Relevance measurement requires 3 elements:</a:t>
            </a:r>
          </a:p>
          <a:p>
            <a:pPr marL="914400" lvl="1" indent="-457200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A benchmark </a:t>
            </a:r>
            <a:r>
              <a:rPr lang="en-US" altLang="zh-TW" dirty="0">
                <a:solidFill>
                  <a:srgbClr val="FF0000"/>
                </a:solidFill>
              </a:rPr>
              <a:t>document collection</a:t>
            </a:r>
          </a:p>
          <a:p>
            <a:pPr marL="914400" lvl="1" indent="-457200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A benchmark suite of </a:t>
            </a:r>
            <a:r>
              <a:rPr lang="en-US" altLang="zh-TW" dirty="0">
                <a:solidFill>
                  <a:srgbClr val="FF0000"/>
                </a:solidFill>
              </a:rPr>
              <a:t>queries</a:t>
            </a:r>
          </a:p>
          <a:p>
            <a:pPr marL="914400" lvl="1" indent="-457200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A usually binary </a:t>
            </a:r>
            <a:r>
              <a:rPr lang="en-US" altLang="zh-TW" dirty="0">
                <a:solidFill>
                  <a:srgbClr val="FF0000"/>
                </a:solidFill>
              </a:rPr>
              <a:t>assessment</a:t>
            </a:r>
            <a:r>
              <a:rPr lang="en-US" altLang="zh-TW" dirty="0"/>
              <a:t> of either </a:t>
            </a:r>
            <a:r>
              <a:rPr lang="en-US" altLang="zh-TW" u="sng" dirty="0"/>
              <a:t>Relevant</a:t>
            </a:r>
            <a:r>
              <a:rPr lang="en-US" altLang="zh-TW" dirty="0"/>
              <a:t> or </a:t>
            </a:r>
            <a:r>
              <a:rPr lang="en-US" altLang="zh-TW" u="sng" dirty="0"/>
              <a:t>Nonrelevant</a:t>
            </a:r>
            <a:r>
              <a:rPr lang="en-US" altLang="zh-TW" dirty="0"/>
              <a:t> for each query and each document.</a:t>
            </a:r>
          </a:p>
        </p:txBody>
      </p:sp>
      <p:sp>
        <p:nvSpPr>
          <p:cNvPr id="23557" name="TextBox 4">
            <a:extLst>
              <a:ext uri="{FF2B5EF4-FFF2-40B4-BE49-F238E27FC236}">
                <a16:creationId xmlns:a16="http://schemas.microsoft.com/office/drawing/2014/main" id="{6AA89666-7FE0-248C-AE0C-8982DD9FA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A6B20528-13FE-0E79-CEBE-75F67576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D3673F8-465D-41BD-8EE1-FB881582B2AF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B5D02FA4-F497-6FAA-8CC7-A0ABAF16D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Evaluating an IR system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49155D44-6212-86EF-C162-C606FF8AE7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292307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Note: the </a:t>
            </a:r>
            <a:r>
              <a:rPr lang="en-US" altLang="zh-TW" b="1" dirty="0"/>
              <a:t>information need</a:t>
            </a:r>
            <a:r>
              <a:rPr lang="en-US" altLang="zh-TW" dirty="0"/>
              <a:t> is translated into a </a:t>
            </a:r>
            <a:r>
              <a:rPr lang="en-US" altLang="zh-TW" b="1" dirty="0"/>
              <a:t>query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Relevance is assessed relative to the </a:t>
            </a:r>
            <a:r>
              <a:rPr lang="en-US" altLang="zh-TW" b="1" dirty="0"/>
              <a:t>information need</a:t>
            </a:r>
            <a:r>
              <a:rPr lang="en-US" altLang="zh-TW" b="1" i="1" dirty="0"/>
              <a:t> </a:t>
            </a:r>
            <a:r>
              <a:rPr lang="en-US" altLang="zh-TW" i="1" dirty="0"/>
              <a:t>not </a:t>
            </a:r>
            <a:r>
              <a:rPr lang="en-US" altLang="zh-TW" dirty="0"/>
              <a:t>the</a:t>
            </a:r>
            <a:r>
              <a:rPr lang="en-US" altLang="zh-TW" i="1" dirty="0"/>
              <a:t> </a:t>
            </a:r>
            <a:r>
              <a:rPr lang="en-US" altLang="zh-TW" b="1" dirty="0"/>
              <a:t>query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E.g., </a:t>
            </a:r>
            <a:r>
              <a:rPr lang="en-US" altLang="zh-TW" u="sng" dirty="0"/>
              <a:t>Information need</a:t>
            </a:r>
            <a:r>
              <a:rPr lang="en-US" altLang="zh-TW" dirty="0"/>
              <a:t>: </a:t>
            </a:r>
            <a:r>
              <a:rPr lang="en-US" altLang="zh-TW" i="1" dirty="0"/>
              <a:t>I'm looking for information on whether drinking red wine is more effective at reducing your risk of heart attacks than white wine.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u="sng" dirty="0"/>
              <a:t>Query</a:t>
            </a:r>
            <a:r>
              <a:rPr lang="en-US" altLang="zh-TW" dirty="0"/>
              <a:t>: </a:t>
            </a:r>
            <a:r>
              <a:rPr lang="en-US" altLang="zh-TW" b="1" i="1" dirty="0"/>
              <a:t>wine red white heart attack effective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We evaluate whether the doc addresses the information need, not whether it has these words.</a:t>
            </a:r>
          </a:p>
        </p:txBody>
      </p:sp>
      <p:sp>
        <p:nvSpPr>
          <p:cNvPr id="25605" name="TextBox 4">
            <a:extLst>
              <a:ext uri="{FF2B5EF4-FFF2-40B4-BE49-F238E27FC236}">
                <a16:creationId xmlns:a16="http://schemas.microsoft.com/office/drawing/2014/main" id="{466D431D-F056-DD3A-90CF-3A4046777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B7C6EC37-B2DF-3063-B939-26D088C15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ACB48D3-062C-4F28-BB7B-3D9CEAB51974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DED9AB6D-FCC8-AB98-4017-1F9D817AA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6953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Standard relevance benchmarks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84CBCA17-2C1B-DE53-756B-A7C3BCEB3B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281797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TREC - National Institute of Standards and Technology (NIST) has run a large IR test bed for many years.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Reuters and other benchmark doc collections used.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“Retrieval tasks” specified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sometimes as queries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Human experts mark, for each query and for each doc, </a:t>
            </a:r>
            <a:r>
              <a:rPr lang="en-US" altLang="zh-TW" u="sng" dirty="0"/>
              <a:t>Relevant</a:t>
            </a:r>
            <a:r>
              <a:rPr lang="en-US" altLang="zh-TW" dirty="0"/>
              <a:t> or </a:t>
            </a:r>
            <a:r>
              <a:rPr lang="en-US" altLang="zh-TW" u="sng" dirty="0"/>
              <a:t>Nonrelevant.</a:t>
            </a:r>
          </a:p>
        </p:txBody>
      </p:sp>
      <p:sp>
        <p:nvSpPr>
          <p:cNvPr id="27653" name="TextBox 4">
            <a:extLst>
              <a:ext uri="{FF2B5EF4-FFF2-40B4-BE49-F238E27FC236}">
                <a16:creationId xmlns:a16="http://schemas.microsoft.com/office/drawing/2014/main" id="{4F3BDE25-D79B-A772-94C0-AFC019A5B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D30EA4F2-AB64-BEF4-E241-2543A3E6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77978F-6F47-4471-BD47-51F91BF04F27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C4C8D4EF-C7C6-654A-02D2-F052D93465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solidFill>
                  <a:srgbClr val="FF0000"/>
                </a:solidFill>
              </a:rPr>
              <a:t>Unranked retrieval evaluation: Precision and Recall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439AD3B1-3B7B-E6D0-8971-2EEC6A0D2C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271287"/>
          </a:xfrm>
        </p:spPr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b="1" dirty="0"/>
              <a:t> Precision</a:t>
            </a:r>
            <a:r>
              <a:rPr lang="en-US" altLang="zh-TW" dirty="0"/>
              <a:t>: fraction of </a:t>
            </a:r>
            <a:r>
              <a:rPr lang="en-US" altLang="zh-TW" dirty="0">
                <a:solidFill>
                  <a:srgbClr val="0000FF"/>
                </a:solidFill>
              </a:rPr>
              <a:t>retrieved</a:t>
            </a:r>
            <a:r>
              <a:rPr lang="en-US" altLang="zh-TW" dirty="0"/>
              <a:t> docs that are </a:t>
            </a:r>
            <a:r>
              <a:rPr lang="en-US" altLang="zh-TW" dirty="0">
                <a:solidFill>
                  <a:srgbClr val="0000FF"/>
                </a:solidFill>
              </a:rPr>
              <a:t>relevant</a:t>
            </a:r>
            <a:r>
              <a:rPr lang="en-US" altLang="zh-TW" dirty="0"/>
              <a:t> = P(</a:t>
            </a:r>
            <a:r>
              <a:rPr lang="en-US" altLang="zh-TW" dirty="0" err="1"/>
              <a:t>relevant|retrieved</a:t>
            </a:r>
            <a:r>
              <a:rPr lang="en-US" altLang="zh-TW" dirty="0"/>
              <a:t>)</a:t>
            </a: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b="1" dirty="0"/>
              <a:t> Recall</a:t>
            </a:r>
            <a:r>
              <a:rPr lang="en-US" altLang="zh-TW" dirty="0"/>
              <a:t>: fraction of </a:t>
            </a:r>
            <a:r>
              <a:rPr lang="en-US" altLang="zh-TW" dirty="0">
                <a:solidFill>
                  <a:srgbClr val="0000FF"/>
                </a:solidFill>
              </a:rPr>
              <a:t>relevant</a:t>
            </a:r>
            <a:r>
              <a:rPr lang="en-US" altLang="zh-TW" dirty="0"/>
              <a:t> docs that are </a:t>
            </a:r>
            <a:r>
              <a:rPr lang="en-US" altLang="zh-TW" dirty="0">
                <a:solidFill>
                  <a:srgbClr val="0000FF"/>
                </a:solidFill>
              </a:rPr>
              <a:t>retrieved</a:t>
            </a:r>
            <a:r>
              <a:rPr lang="en-US" altLang="zh-TW" dirty="0"/>
              <a:t> = P(</a:t>
            </a:r>
            <a:r>
              <a:rPr lang="en-US" altLang="zh-TW" dirty="0" err="1"/>
              <a:t>retrieved|relevant</a:t>
            </a:r>
            <a:r>
              <a:rPr lang="en-US" altLang="zh-TW" dirty="0"/>
              <a:t>)</a:t>
            </a: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Precision P = </a:t>
            </a:r>
            <a:r>
              <a:rPr lang="en-US" altLang="zh-TW" dirty="0" err="1"/>
              <a:t>tp</a:t>
            </a:r>
            <a:r>
              <a:rPr lang="en-US" altLang="zh-TW" dirty="0"/>
              <a:t>/(</a:t>
            </a:r>
            <a:r>
              <a:rPr lang="en-US" altLang="zh-TW" dirty="0" err="1"/>
              <a:t>tp</a:t>
            </a:r>
            <a:r>
              <a:rPr lang="en-US" altLang="zh-TW" dirty="0"/>
              <a:t> + </a:t>
            </a:r>
            <a:r>
              <a:rPr lang="en-US" altLang="zh-TW" dirty="0" err="1"/>
              <a:t>fp</a:t>
            </a:r>
            <a:r>
              <a:rPr lang="en-US" altLang="zh-TW" dirty="0"/>
              <a:t>)</a:t>
            </a:r>
          </a:p>
          <a:p>
            <a:pPr algn="just" eaLnBrk="1" hangingPunct="1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Recall  </a:t>
            </a:r>
            <a:r>
              <a:rPr lang="en-US" altLang="zh-TW" sz="2000" dirty="0"/>
              <a:t> </a:t>
            </a:r>
            <a:r>
              <a:rPr lang="en-US" altLang="zh-TW" dirty="0"/>
              <a:t>   R = </a:t>
            </a:r>
            <a:r>
              <a:rPr lang="en-US" altLang="zh-TW" dirty="0" err="1"/>
              <a:t>tp</a:t>
            </a:r>
            <a:r>
              <a:rPr lang="en-US" altLang="zh-TW" dirty="0"/>
              <a:t>/(</a:t>
            </a:r>
            <a:r>
              <a:rPr lang="en-US" altLang="zh-TW" dirty="0" err="1"/>
              <a:t>tp</a:t>
            </a:r>
            <a:r>
              <a:rPr lang="en-US" altLang="zh-TW" dirty="0"/>
              <a:t> + </a:t>
            </a:r>
            <a:r>
              <a:rPr lang="en-US" altLang="zh-TW" dirty="0" err="1"/>
              <a:t>fn</a:t>
            </a:r>
            <a:r>
              <a:rPr lang="en-US" altLang="zh-TW" dirty="0"/>
              <a:t>)</a:t>
            </a:r>
          </a:p>
        </p:txBody>
      </p:sp>
      <p:graphicFrame>
        <p:nvGraphicFramePr>
          <p:cNvPr id="1201156" name="Group 4">
            <a:extLst>
              <a:ext uri="{FF2B5EF4-FFF2-40B4-BE49-F238E27FC236}">
                <a16:creationId xmlns:a16="http://schemas.microsoft.com/office/drawing/2014/main" id="{47ACE61D-2EBB-ECCC-21DF-D9637A9AE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936570"/>
              </p:ext>
            </p:extLst>
          </p:nvPr>
        </p:nvGraphicFramePr>
        <p:xfrm>
          <a:off x="2971800" y="3257476"/>
          <a:ext cx="6172200" cy="14478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zh-TW" alt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charset="-128"/>
                          <a:cs typeface="Times New Roman" panose="02020603050405020304" pitchFamily="18" charset="0"/>
                        </a:rPr>
                        <a:t>Relevant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charset="-128"/>
                          <a:cs typeface="Times New Roman" panose="02020603050405020304" pitchFamily="18" charset="0"/>
                        </a:rPr>
                        <a:t>Nonrelevant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charset="-128"/>
                          <a:cs typeface="Times New Roman" panose="02020603050405020304" pitchFamily="18" charset="0"/>
                        </a:rPr>
                        <a:t>Retrieved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charset="-128"/>
                          <a:cs typeface="Times New Roman" panose="02020603050405020304" pitchFamily="18" charset="0"/>
                        </a:rPr>
                        <a:t>tp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charset="-128"/>
                          <a:cs typeface="Times New Roman" panose="02020603050405020304" pitchFamily="18" charset="0"/>
                        </a:rPr>
                        <a:t>fp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charset="-128"/>
                          <a:cs typeface="Times New Roman" panose="02020603050405020304" pitchFamily="18" charset="0"/>
                        </a:rPr>
                        <a:t>Not Retrieved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charset="-128"/>
                          <a:cs typeface="Times New Roman" panose="02020603050405020304" pitchFamily="18" charset="0"/>
                        </a:rPr>
                        <a:t>fn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50021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zh-TW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charset="-128"/>
                          <a:cs typeface="Times New Roman" panose="02020603050405020304" pitchFamily="18" charset="0"/>
                        </a:rPr>
                        <a:t>tn</a:t>
                      </a:r>
                      <a:endParaRPr kumimoji="0" lang="en-US" altLang="zh-TW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charset="-128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719" name="TextBox 4">
            <a:extLst>
              <a:ext uri="{FF2B5EF4-FFF2-40B4-BE49-F238E27FC236}">
                <a16:creationId xmlns:a16="http://schemas.microsoft.com/office/drawing/2014/main" id="{35E86EEF-FA74-CD41-BD80-B5ABE068A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8"/>
              </a:rPr>
              <a:t>Sec. 8.3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73503F9B-C186-EEE7-F36A-6EC2C9403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79679F2-C6DE-4890-B76D-BC3E18072B9D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AB540F8-00BC-37B7-1CDC-6C7EDDA91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1268928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solidFill>
                  <a:srgbClr val="FF0000"/>
                </a:solidFill>
              </a:rPr>
              <a:t>Should we instead use the accuracy measure for evaluation?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C557AC2-DB86-68EA-2E76-9D1163824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302818"/>
          </a:xfrm>
        </p:spPr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Given a query, an engine classifies each doc as “Relevant” or “Nonrelevant”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The </a:t>
            </a:r>
            <a:r>
              <a:rPr lang="en-US" altLang="zh-TW" b="1" dirty="0"/>
              <a:t>accuracy </a:t>
            </a:r>
            <a:r>
              <a:rPr lang="en-US" altLang="zh-TW" dirty="0"/>
              <a:t>of an engine: the fraction of these classifications that are correct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Accuracy = (</a:t>
            </a:r>
            <a:r>
              <a:rPr lang="en-US" altLang="zh-TW" dirty="0" err="1"/>
              <a:t>tp</a:t>
            </a:r>
            <a:r>
              <a:rPr lang="en-US" altLang="zh-TW" dirty="0"/>
              <a:t> + </a:t>
            </a:r>
            <a:r>
              <a:rPr lang="en-US" altLang="zh-TW" dirty="0" err="1"/>
              <a:t>tn</a:t>
            </a:r>
            <a:r>
              <a:rPr lang="en-US" altLang="zh-TW" dirty="0"/>
              <a:t>) / (</a:t>
            </a:r>
            <a:r>
              <a:rPr lang="en-US" altLang="zh-TW" dirty="0" err="1"/>
              <a:t>tp</a:t>
            </a:r>
            <a:r>
              <a:rPr lang="en-US" altLang="zh-TW" dirty="0"/>
              <a:t> + </a:t>
            </a:r>
            <a:r>
              <a:rPr lang="en-US" altLang="zh-TW" dirty="0" err="1"/>
              <a:t>fp</a:t>
            </a:r>
            <a:r>
              <a:rPr lang="en-US" altLang="zh-TW" dirty="0"/>
              <a:t> + </a:t>
            </a:r>
            <a:r>
              <a:rPr lang="en-US" altLang="zh-TW" dirty="0" err="1"/>
              <a:t>fn</a:t>
            </a:r>
            <a:r>
              <a:rPr lang="en-US" altLang="zh-TW" dirty="0"/>
              <a:t> + </a:t>
            </a:r>
            <a:r>
              <a:rPr lang="en-US" altLang="zh-TW" dirty="0" err="1"/>
              <a:t>tn</a:t>
            </a:r>
            <a:r>
              <a:rPr lang="en-US" altLang="zh-TW" dirty="0"/>
              <a:t>)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dirty="0"/>
              <a:t> Accuracy</a:t>
            </a:r>
            <a:r>
              <a:rPr lang="en-US" altLang="zh-TW" dirty="0"/>
              <a:t> is a commonly used evaluation measure in machine learning classification work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Why is this not a very useful evaluation measure in IR?</a:t>
            </a:r>
          </a:p>
        </p:txBody>
      </p:sp>
      <p:sp>
        <p:nvSpPr>
          <p:cNvPr id="31749" name="TextBox 4">
            <a:extLst>
              <a:ext uri="{FF2B5EF4-FFF2-40B4-BE49-F238E27FC236}">
                <a16:creationId xmlns:a16="http://schemas.microsoft.com/office/drawing/2014/main" id="{7FB5E118-E797-0F6B-12F3-1E095B4CC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085AA31D-D0E4-D9F0-9656-154AA24D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0D4433-633A-4101-A45B-AA64A3D0A221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631FA1A-E424-BA31-39D1-640584B17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Precision/Recall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DBE242DD-BF2E-3177-7554-11592C46D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79" y="1752600"/>
            <a:ext cx="10058399" cy="4511566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We can get high recall (but low precision) by retrieving all docs for all queries!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Recall is a </a:t>
            </a:r>
            <a:r>
              <a:rPr lang="en-US" altLang="zh-TW" dirty="0">
                <a:solidFill>
                  <a:srgbClr val="FF0000"/>
                </a:solidFill>
              </a:rPr>
              <a:t>non-decreasing function</a:t>
            </a:r>
            <a:r>
              <a:rPr lang="en-US" altLang="zh-TW" dirty="0"/>
              <a:t> of the number of docs retrieved.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In a </a:t>
            </a:r>
            <a:r>
              <a:rPr lang="en-US" altLang="zh-TW" dirty="0">
                <a:solidFill>
                  <a:srgbClr val="00B050"/>
                </a:solidFill>
              </a:rPr>
              <a:t>good system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precision decreases as either the number of docs retrieved or recall increases</a:t>
            </a:r>
            <a:r>
              <a:rPr lang="en-US" altLang="zh-TW" dirty="0"/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This is not a theorem, but a result with strong empirical confirmation</a:t>
            </a:r>
          </a:p>
        </p:txBody>
      </p:sp>
      <p:sp>
        <p:nvSpPr>
          <p:cNvPr id="35845" name="TextBox 4">
            <a:extLst>
              <a:ext uri="{FF2B5EF4-FFF2-40B4-BE49-F238E27FC236}">
                <a16:creationId xmlns:a16="http://schemas.microsoft.com/office/drawing/2014/main" id="{762642D1-424B-09DA-332C-E5B15962A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E83AFB3C-455D-DB4E-9326-4C4F296E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268A95-A59F-49DC-82EF-6EAFB421DA12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4613ED0-DEF8-B4C0-2F45-7F996BE3EC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Difficulties in using precision/recall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D74336B1-6738-8716-3AA7-472DAA760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344859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Should average over large document collection/query ensembles.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Need human relevance assessments.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People aren’t reliable assessors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Assessments have to be binary.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Heavily skewed by collection/authorship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Results may not translate from one domain to another</a:t>
            </a:r>
          </a:p>
        </p:txBody>
      </p:sp>
      <p:sp>
        <p:nvSpPr>
          <p:cNvPr id="37893" name="TextBox 4">
            <a:extLst>
              <a:ext uri="{FF2B5EF4-FFF2-40B4-BE49-F238E27FC236}">
                <a16:creationId xmlns:a16="http://schemas.microsoft.com/office/drawing/2014/main" id="{BCBCAEB2-5FAE-E3BD-5E7F-FDAD86FB5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96CF625E-B68D-3760-3866-0CB32991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48281A-1DAB-49B4-AA26-7DA341DD22A9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FE845058-57B8-B7BB-19BF-76E9D7B834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A combined measure: </a:t>
            </a:r>
            <a:r>
              <a:rPr lang="en-US" altLang="zh-TW" i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5695A791-0AE6-6CD2-9A8E-E456C32C29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7159" y="1752600"/>
            <a:ext cx="9978521" cy="48768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Combined measure that assesses precision/recall tradeoff is </a:t>
            </a:r>
            <a:r>
              <a:rPr lang="en-US" altLang="zh-TW" b="1" dirty="0"/>
              <a:t>F measure</a:t>
            </a:r>
            <a:r>
              <a:rPr lang="en-US" altLang="zh-TW" dirty="0"/>
              <a:t> (weighted harmonic mean):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People usually use balanced </a:t>
            </a:r>
            <a:r>
              <a:rPr lang="en-US" altLang="zh-TW" i="1" dirty="0"/>
              <a:t>F</a:t>
            </a:r>
            <a:r>
              <a:rPr lang="en-US" altLang="zh-TW" i="1" baseline="-25000" dirty="0"/>
              <a:t>1</a:t>
            </a:r>
            <a:r>
              <a:rPr lang="en-US" altLang="zh-TW" baseline="-25000" dirty="0"/>
              <a:t> </a:t>
            </a:r>
            <a:r>
              <a:rPr lang="en-US" altLang="zh-TW" dirty="0"/>
              <a:t>measure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 i.e., with </a:t>
            </a:r>
            <a:r>
              <a:rPr lang="en-US" altLang="zh-TW" dirty="0">
                <a:sym typeface="Symbol" panose="05050102010706020507" pitchFamily="18" charset="2"/>
              </a:rPr>
              <a:t></a:t>
            </a:r>
            <a:r>
              <a:rPr lang="en-US" altLang="zh-TW" dirty="0"/>
              <a:t> = 1 or </a:t>
            </a:r>
            <a:r>
              <a:rPr lang="en-US" altLang="zh-TW" dirty="0">
                <a:sym typeface="Symbol" panose="05050102010706020507" pitchFamily="18" charset="2"/>
              </a:rPr>
              <a:t> = ½</a:t>
            </a:r>
            <a:endParaRPr lang="en-US" altLang="zh-TW" dirty="0"/>
          </a:p>
        </p:txBody>
      </p:sp>
      <p:graphicFrame>
        <p:nvGraphicFramePr>
          <p:cNvPr id="39941" name="Object 2">
            <a:extLst>
              <a:ext uri="{FF2B5EF4-FFF2-40B4-BE49-F238E27FC236}">
                <a16:creationId xmlns:a16="http://schemas.microsoft.com/office/drawing/2014/main" id="{A7DF8E9F-6231-4370-DD3F-3868A8CB73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3238" y="2819400"/>
          <a:ext cx="5675312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95500" imgH="609600" progId="Equation.3">
                  <p:embed/>
                </p:oleObj>
              </mc:Choice>
              <mc:Fallback>
                <p:oleObj name="Equation" r:id="rId3" imgW="2095500" imgH="609600" progId="Equation.3">
                  <p:embed/>
                  <p:pic>
                    <p:nvPicPr>
                      <p:cNvPr id="39941" name="Object 2">
                        <a:extLst>
                          <a:ext uri="{FF2B5EF4-FFF2-40B4-BE49-F238E27FC236}">
                            <a16:creationId xmlns:a16="http://schemas.microsoft.com/office/drawing/2014/main" id="{A7DF8E9F-6231-4370-DD3F-3868A8CB73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238" y="2819400"/>
                        <a:ext cx="5675312" cy="165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TextBox 4">
            <a:extLst>
              <a:ext uri="{FF2B5EF4-FFF2-40B4-BE49-F238E27FC236}">
                <a16:creationId xmlns:a16="http://schemas.microsoft.com/office/drawing/2014/main" id="{276FBF07-E5D8-3BDB-A045-89BC3A30F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>
            <a:extLst>
              <a:ext uri="{FF2B5EF4-FFF2-40B4-BE49-F238E27FC236}">
                <a16:creationId xmlns:a16="http://schemas.microsoft.com/office/drawing/2014/main" id="{594399AF-F052-76A0-FB0F-395E2D3E5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4CBA93A-BFA5-473E-AC1F-CE0703DB7423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40DD92C3-8541-E5AA-BE45-4C02115719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80045"/>
          </a:xfrm>
        </p:spPr>
        <p:txBody>
          <a:bodyPr/>
          <a:lstStyle/>
          <a:p>
            <a:pPr algn="just" eaLnBrk="1" hangingPunct="1"/>
            <a:r>
              <a:rPr lang="en-US" altLang="zh-TW" dirty="0">
                <a:solidFill>
                  <a:srgbClr val="FF0000"/>
                </a:solidFill>
              </a:rPr>
              <a:t>Evaluating ranked results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070CE050-CC3E-BB1E-FCF7-C18940F52D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Evaluation of ranked results: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The system can </a:t>
            </a:r>
            <a:r>
              <a:rPr lang="en-US" altLang="zh-TW" dirty="0">
                <a:solidFill>
                  <a:srgbClr val="FF0000"/>
                </a:solidFill>
              </a:rPr>
              <a:t>return any number of results</a:t>
            </a:r>
            <a:r>
              <a:rPr lang="en-US" altLang="zh-TW" dirty="0"/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By taking various numbers of the top returned documents (levels of recall), the evaluator can produce a </a:t>
            </a:r>
            <a:r>
              <a:rPr lang="en-US" altLang="zh-TW" i="1" dirty="0"/>
              <a:t>precision-recall curve.</a:t>
            </a:r>
            <a:endParaRPr lang="en-US" altLang="zh-TW" dirty="0"/>
          </a:p>
        </p:txBody>
      </p:sp>
      <p:sp>
        <p:nvSpPr>
          <p:cNvPr id="41989" name="TextBox 4">
            <a:extLst>
              <a:ext uri="{FF2B5EF4-FFF2-40B4-BE49-F238E27FC236}">
                <a16:creationId xmlns:a16="http://schemas.microsoft.com/office/drawing/2014/main" id="{C7D601C4-2391-7652-6193-FD3B5C8CD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A43DE537-9468-52EF-4AE3-F3AF39574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81B089E-A592-4F3F-81B3-B331DBCA1419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4610F76-550C-9FDC-FC5B-58E1D43B2A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A precision-recall curve</a:t>
            </a:r>
          </a:p>
        </p:txBody>
      </p:sp>
      <p:graphicFrame>
        <p:nvGraphicFramePr>
          <p:cNvPr id="44036" name="Object 2">
            <a:extLst>
              <a:ext uri="{FF2B5EF4-FFF2-40B4-BE49-F238E27FC236}">
                <a16:creationId xmlns:a16="http://schemas.microsoft.com/office/drawing/2014/main" id="{3CF663CF-BBAE-759F-BB1C-1F31ABD76691}"/>
              </a:ext>
            </a:extLst>
          </p:cNvPr>
          <p:cNvGraphicFramePr>
            <a:graphicFrameLocks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9930128"/>
              </p:ext>
            </p:extLst>
          </p:nvPr>
        </p:nvGraphicFramePr>
        <p:xfrm>
          <a:off x="3128404" y="1969760"/>
          <a:ext cx="5996152" cy="4141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219651" imgH="2914802" progId="Excel.Chart.8">
                  <p:embed/>
                </p:oleObj>
              </mc:Choice>
              <mc:Fallback>
                <p:oleObj name="Chart" r:id="rId3" imgW="4219651" imgH="2914802" progId="Excel.Chart.8">
                  <p:embed/>
                  <p:pic>
                    <p:nvPicPr>
                      <p:cNvPr id="44036" name="Object 2">
                        <a:extLst>
                          <a:ext uri="{FF2B5EF4-FFF2-40B4-BE49-F238E27FC236}">
                            <a16:creationId xmlns:a16="http://schemas.microsoft.com/office/drawing/2014/main" id="{3CF663CF-BBAE-759F-BB1C-1F31ABD766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8404" y="1969760"/>
                        <a:ext cx="5996152" cy="4141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TextBox 4">
            <a:extLst>
              <a:ext uri="{FF2B5EF4-FFF2-40B4-BE49-F238E27FC236}">
                <a16:creationId xmlns:a16="http://schemas.microsoft.com/office/drawing/2014/main" id="{0BB1BEFF-8A13-81DB-FA83-DA3C9ADE4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>
            <a:extLst>
              <a:ext uri="{FF2B5EF4-FFF2-40B4-BE49-F238E27FC236}">
                <a16:creationId xmlns:a16="http://schemas.microsoft.com/office/drawing/2014/main" id="{ECBBE240-9CA5-7B73-D1E8-B6173F5A3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419B2E-51F0-4D61-A5D3-187F71706A31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62C97F37-EE6F-16C5-2F80-F58FC97EFB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Averaging over queries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384DDA29-58FC-0D27-99AD-1D38917B23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334349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A precision-recall graph for one query isn’t a very sensible thing to look at.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We need to average performance over a whole bunch of queries.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</a:t>
            </a:r>
            <a:r>
              <a:rPr lang="en-US" altLang="zh-TW" u="sng" dirty="0"/>
              <a:t>But there’s a technical issue</a:t>
            </a:r>
            <a:r>
              <a:rPr lang="en-US" altLang="zh-TW" dirty="0"/>
              <a:t>: 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Precision-recall calculations place some points on the graph.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How do you determine a value (interpolate) between the points?</a:t>
            </a:r>
          </a:p>
        </p:txBody>
      </p:sp>
      <p:sp>
        <p:nvSpPr>
          <p:cNvPr id="46085" name="TextBox 4">
            <a:extLst>
              <a:ext uri="{FF2B5EF4-FFF2-40B4-BE49-F238E27FC236}">
                <a16:creationId xmlns:a16="http://schemas.microsoft.com/office/drawing/2014/main" id="{7CE89F3E-13CC-B773-8332-948F9E274F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>
            <a:extLst>
              <a:ext uri="{FF2B5EF4-FFF2-40B4-BE49-F238E27FC236}">
                <a16:creationId xmlns:a16="http://schemas.microsoft.com/office/drawing/2014/main" id="{168AE5B3-DBC4-E621-C305-B80303A76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513AE6-B72A-468E-A4D1-740021BB7DC7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19FC5A80-1723-B342-E8FB-74519E45F9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8004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Evaluation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D02C158A-1D5C-613A-4564-A91E5796B6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0221" y="1752599"/>
            <a:ext cx="9915459" cy="4522077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Precision at fixed retrieval level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Precision-at-</a:t>
            </a:r>
            <a:r>
              <a:rPr lang="en-US" altLang="zh-TW" i="1" dirty="0"/>
              <a:t>k</a:t>
            </a:r>
            <a:r>
              <a:rPr lang="en-US" altLang="zh-TW" dirty="0"/>
              <a:t>: Precision of top </a:t>
            </a:r>
            <a:r>
              <a:rPr lang="en-US" altLang="zh-TW" i="1" dirty="0"/>
              <a:t>k</a:t>
            </a:r>
            <a:r>
              <a:rPr lang="en-US" altLang="zh-TW" dirty="0"/>
              <a:t> results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Perhaps appropriate for most of web search: all people want are good matches on the first one or two results pages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11-point interpolated average precision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The standard measure in the early TREC competitions: you take the precision at 11 levels of recall varying from 0 to 1 by tenths of the documents, using interpolation </a:t>
            </a:r>
            <a:r>
              <a:rPr lang="en-US" altLang="zh-TW" dirty="0">
                <a:solidFill>
                  <a:srgbClr val="00A000"/>
                </a:solidFill>
              </a:rPr>
              <a:t>(the value for 0 is always interpolated!)</a:t>
            </a:r>
            <a:r>
              <a:rPr lang="en-US" altLang="zh-TW" dirty="0"/>
              <a:t>, and average them</a:t>
            </a:r>
          </a:p>
        </p:txBody>
      </p:sp>
      <p:sp>
        <p:nvSpPr>
          <p:cNvPr id="50181" name="TextBox 4">
            <a:extLst>
              <a:ext uri="{FF2B5EF4-FFF2-40B4-BE49-F238E27FC236}">
                <a16:creationId xmlns:a16="http://schemas.microsoft.com/office/drawing/2014/main" id="{EEC556FB-79A4-21BC-A3A5-86CC70D87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>
            <a:extLst>
              <a:ext uri="{FF2B5EF4-FFF2-40B4-BE49-F238E27FC236}">
                <a16:creationId xmlns:a16="http://schemas.microsoft.com/office/drawing/2014/main" id="{F2057EAF-CC80-A419-4EF9-47401C593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267D34-FE11-4B2A-9BA6-87C2015BFF8D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52227" name="Rectangle 22">
            <a:extLst>
              <a:ext uri="{FF2B5EF4-FFF2-40B4-BE49-F238E27FC236}">
                <a16:creationId xmlns:a16="http://schemas.microsoft.com/office/drawing/2014/main" id="{EAB47327-5906-9593-D37B-696C125AC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9596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Typical (good) 11 point precisions</a:t>
            </a:r>
          </a:p>
        </p:txBody>
      </p:sp>
      <p:sp>
        <p:nvSpPr>
          <p:cNvPr id="52228" name="Rectangle 23">
            <a:extLst>
              <a:ext uri="{FF2B5EF4-FFF2-40B4-BE49-F238E27FC236}">
                <a16:creationId xmlns:a16="http://schemas.microsoft.com/office/drawing/2014/main" id="{40473505-B824-B3CE-5D6D-3FC7C051E6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752600"/>
            <a:ext cx="8153400" cy="4876800"/>
          </a:xfrm>
        </p:spPr>
        <p:txBody>
          <a:bodyPr/>
          <a:lstStyle/>
          <a:p>
            <a:pPr eaLnBrk="1" hangingPunct="1"/>
            <a:r>
              <a:rPr lang="en-US" altLang="zh-TW" sz="2400"/>
              <a:t>SabIR/Cornell 8A1 11pt precision from TREC 8 (1999) </a:t>
            </a:r>
          </a:p>
        </p:txBody>
      </p:sp>
      <p:graphicFrame>
        <p:nvGraphicFramePr>
          <p:cNvPr id="52229" name="Object 2">
            <a:extLst>
              <a:ext uri="{FF2B5EF4-FFF2-40B4-BE49-F238E27FC236}">
                <a16:creationId xmlns:a16="http://schemas.microsoft.com/office/drawing/2014/main" id="{6D78924D-CDFD-AF31-D271-5F368BABA8FF}"/>
              </a:ext>
            </a:extLst>
          </p:cNvPr>
          <p:cNvGraphicFramePr>
            <a:graphicFrameLocks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017903581"/>
              </p:ext>
            </p:extLst>
          </p:nvPr>
        </p:nvGraphicFramePr>
        <p:xfrm>
          <a:off x="3769929" y="2284143"/>
          <a:ext cx="4652141" cy="3928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857549" imgH="3257702" progId="Excel.Chart.8">
                  <p:embed/>
                </p:oleObj>
              </mc:Choice>
              <mc:Fallback>
                <p:oleObj name="Chart" r:id="rId3" imgW="3857549" imgH="3257702" progId="Excel.Chart.8">
                  <p:embed/>
                  <p:pic>
                    <p:nvPicPr>
                      <p:cNvPr id="52229" name="Object 2">
                        <a:extLst>
                          <a:ext uri="{FF2B5EF4-FFF2-40B4-BE49-F238E27FC236}">
                            <a16:creationId xmlns:a16="http://schemas.microsoft.com/office/drawing/2014/main" id="{6D78924D-CDFD-AF31-D271-5F368BABA8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9929" y="2284143"/>
                        <a:ext cx="4652141" cy="3928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TextBox 4">
            <a:extLst>
              <a:ext uri="{FF2B5EF4-FFF2-40B4-BE49-F238E27FC236}">
                <a16:creationId xmlns:a16="http://schemas.microsoft.com/office/drawing/2014/main" id="{5DD18B47-7EBB-537A-7E37-395BB9921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>
            <a:extLst>
              <a:ext uri="{FF2B5EF4-FFF2-40B4-BE49-F238E27FC236}">
                <a16:creationId xmlns:a16="http://schemas.microsoft.com/office/drawing/2014/main" id="{A6737261-EF19-6448-5B12-BA0C8750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4DF82DF-C123-4C4D-816B-AA021E2EC955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0C7FF636-B50E-AF39-1E78-5EC99025A5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90556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Yet more evaluation measures…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EC64BBF1-C36F-5C8B-BCA2-DAB9B65053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36588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Mean average precision (</a:t>
            </a:r>
            <a:r>
              <a:rPr lang="en-US" altLang="zh-TW" dirty="0" err="1"/>
              <a:t>mAP</a:t>
            </a:r>
            <a:r>
              <a:rPr lang="en-US" altLang="zh-TW" dirty="0"/>
              <a:t>)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Average of the precision value obtained for the top </a:t>
            </a:r>
            <a:r>
              <a:rPr lang="en-US" altLang="zh-TW" i="1" dirty="0"/>
              <a:t>k</a:t>
            </a:r>
            <a:r>
              <a:rPr lang="en-US" altLang="zh-TW" dirty="0"/>
              <a:t> documents, each time a relevant doc is retrieved.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R-precision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Precision of top </a:t>
            </a:r>
            <a:r>
              <a:rPr lang="en-US" altLang="zh-TW" i="1" dirty="0"/>
              <a:t>Rel </a:t>
            </a:r>
            <a:r>
              <a:rPr lang="en-US" altLang="zh-TW" dirty="0"/>
              <a:t>docs returned, </a:t>
            </a:r>
            <a:r>
              <a:rPr lang="en-US" altLang="zh-TW" dirty="0">
                <a:solidFill>
                  <a:srgbClr val="FF0000"/>
                </a:solidFill>
              </a:rPr>
              <a:t>perfect system could score 1.0</a:t>
            </a:r>
            <a:r>
              <a:rPr lang="en-US" altLang="zh-TW" dirty="0"/>
              <a:t>.</a:t>
            </a:r>
          </a:p>
        </p:txBody>
      </p:sp>
      <p:sp>
        <p:nvSpPr>
          <p:cNvPr id="54277" name="TextBox 4">
            <a:extLst>
              <a:ext uri="{FF2B5EF4-FFF2-40B4-BE49-F238E27FC236}">
                <a16:creationId xmlns:a16="http://schemas.microsoft.com/office/drawing/2014/main" id="{DE1F2BCD-73FE-9745-D403-81E2556CA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8.4</a:t>
            </a:r>
          </a:p>
        </p:txBody>
      </p:sp>
      <p:pic>
        <p:nvPicPr>
          <p:cNvPr id="1026" name="Picture 2" descr="Average Precision formula">
            <a:extLst>
              <a:ext uri="{FF2B5EF4-FFF2-40B4-BE49-F238E27FC236}">
                <a16:creationId xmlns:a16="http://schemas.microsoft.com/office/drawing/2014/main" id="{B9627424-6A65-44D6-BE4B-5A6B9B1B4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592" y="4198806"/>
            <a:ext cx="7609490" cy="86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an average precision (MAP) formula">
            <a:extLst>
              <a:ext uri="{FF2B5EF4-FFF2-40B4-BE49-F238E27FC236}">
                <a16:creationId xmlns:a16="http://schemas.microsoft.com/office/drawing/2014/main" id="{3C67DDF8-01C4-1BE8-BACA-83D072A2A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592" y="3446697"/>
            <a:ext cx="5264763" cy="75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5">
            <a:extLst>
              <a:ext uri="{FF2B5EF4-FFF2-40B4-BE49-F238E27FC236}">
                <a16:creationId xmlns:a16="http://schemas.microsoft.com/office/drawing/2014/main" id="{BCC21FB1-44CE-13B2-6DB8-C44995B2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AE15B34-5CD9-43F1-8EFC-E2FBF7D70010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98D5F88D-6308-E53C-4390-258DC5F4B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3800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Result Presentation</a:t>
            </a:r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CD3CEEC-D21D-4DB7-6491-CFD024CC5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4829310" cy="402336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Having ranked the documents matching a query, we wish to present a results list.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Most commonly, a list of the </a:t>
            </a:r>
            <a:r>
              <a:rPr lang="en-US" altLang="zh-TW" dirty="0">
                <a:solidFill>
                  <a:srgbClr val="00B050"/>
                </a:solidFill>
              </a:rPr>
              <a:t>document titles plus a short summary, aka “10 blue links”</a:t>
            </a:r>
            <a:r>
              <a:rPr lang="en-US" altLang="zh-TW" dirty="0"/>
              <a:t>.</a:t>
            </a:r>
          </a:p>
        </p:txBody>
      </p:sp>
      <p:sp>
        <p:nvSpPr>
          <p:cNvPr id="80902" name="TextBox 4">
            <a:extLst>
              <a:ext uri="{FF2B5EF4-FFF2-40B4-BE49-F238E27FC236}">
                <a16:creationId xmlns:a16="http://schemas.microsoft.com/office/drawing/2014/main" id="{87A52C62-D729-80AD-A781-6C5E6CE50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0611C9-54A7-B502-66F0-26497FBD7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412" y="1954925"/>
            <a:ext cx="4351283" cy="425182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5">
            <a:extLst>
              <a:ext uri="{FF2B5EF4-FFF2-40B4-BE49-F238E27FC236}">
                <a16:creationId xmlns:a16="http://schemas.microsoft.com/office/drawing/2014/main" id="{226C74A0-B132-92F4-1B43-CFADC9A97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28444A-5B32-4C9D-889A-AC34D7F3DA12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F252A49-3E54-35A6-077B-B0659B97B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90556"/>
          </a:xfrm>
        </p:spPr>
        <p:txBody>
          <a:bodyPr/>
          <a:lstStyle/>
          <a:p>
            <a:pPr algn="just" eaLnBrk="1" hangingPunct="1"/>
            <a:r>
              <a:rPr lang="en-US" altLang="zh-TW" dirty="0">
                <a:solidFill>
                  <a:srgbClr val="FF0000"/>
                </a:solidFill>
              </a:rPr>
              <a:t>Summaries</a:t>
            </a:r>
          </a:p>
        </p:txBody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5F94C98A-03C8-B12B-B0D4-A30D548BE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79" y="1845733"/>
            <a:ext cx="10569203" cy="4628639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/>
              <a:t> The title is often automatically extracted from document metadata. What about the summaries?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000" dirty="0"/>
              <a:t>This description is crucial, User can identify good/relevant hits based on description.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/>
              <a:t> Two basic kinds: Static vs Dynamic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/>
              <a:t> A </a:t>
            </a:r>
            <a:r>
              <a:rPr lang="en-US" altLang="zh-TW" sz="2400" b="1" dirty="0"/>
              <a:t>static summary</a:t>
            </a:r>
            <a:r>
              <a:rPr lang="en-US" altLang="zh-TW" sz="2400" dirty="0"/>
              <a:t> of a document is always the same, regardless of the query that hit the doc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/>
              <a:t> A </a:t>
            </a:r>
            <a:r>
              <a:rPr lang="en-US" altLang="zh-TW" sz="2400" b="1" dirty="0"/>
              <a:t>dynamic summary</a:t>
            </a:r>
            <a:r>
              <a:rPr lang="en-US" altLang="zh-TW" sz="2400" dirty="0"/>
              <a:t> is a </a:t>
            </a:r>
            <a:r>
              <a:rPr lang="en-US" altLang="zh-TW" sz="2400" i="1" dirty="0"/>
              <a:t>query-dependent</a:t>
            </a:r>
            <a:r>
              <a:rPr lang="en-US" altLang="zh-TW" sz="2400" dirty="0"/>
              <a:t> attempt to explain why the document was retrieved for the query at hand.</a:t>
            </a:r>
          </a:p>
        </p:txBody>
      </p:sp>
      <p:sp>
        <p:nvSpPr>
          <p:cNvPr id="82949" name="TextBox 4">
            <a:extLst>
              <a:ext uri="{FF2B5EF4-FFF2-40B4-BE49-F238E27FC236}">
                <a16:creationId xmlns:a16="http://schemas.microsoft.com/office/drawing/2014/main" id="{CE381570-D4C7-5C16-562D-1DB921570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5">
            <a:extLst>
              <a:ext uri="{FF2B5EF4-FFF2-40B4-BE49-F238E27FC236}">
                <a16:creationId xmlns:a16="http://schemas.microsoft.com/office/drawing/2014/main" id="{7EF882F5-8BD4-D798-63B8-0C648184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73D1FD-4546-4B0E-B87F-DC1643014B5D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84995" name="Rectangle 1026">
            <a:extLst>
              <a:ext uri="{FF2B5EF4-FFF2-40B4-BE49-F238E27FC236}">
                <a16:creationId xmlns:a16="http://schemas.microsoft.com/office/drawing/2014/main" id="{922F4EA8-F7A8-A48E-23D7-1E7EFD4FF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Static summaries</a:t>
            </a:r>
          </a:p>
        </p:txBody>
      </p:sp>
      <p:sp>
        <p:nvSpPr>
          <p:cNvPr id="84996" name="Rectangle 1027">
            <a:extLst>
              <a:ext uri="{FF2B5EF4-FFF2-40B4-BE49-F238E27FC236}">
                <a16:creationId xmlns:a16="http://schemas.microsoft.com/office/drawing/2014/main" id="{8E624802-544C-DD03-30C8-17E9A2140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36588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In typical systems, the static summary is a subset of the document.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Simplest heuristic: the first 50 (or so – this can be varied) words of the document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More sophisticated: extract from each document a set of “key” sentences.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Most sophisticated: NLP used to synthesize a summary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Seldom used in IR; cf. text summarization work.</a:t>
            </a:r>
          </a:p>
        </p:txBody>
      </p:sp>
      <p:sp>
        <p:nvSpPr>
          <p:cNvPr id="84997" name="TextBox 4">
            <a:extLst>
              <a:ext uri="{FF2B5EF4-FFF2-40B4-BE49-F238E27FC236}">
                <a16:creationId xmlns:a16="http://schemas.microsoft.com/office/drawing/2014/main" id="{7EF6BF8B-D020-4A1B-D21F-0F11B4E06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5">
            <a:extLst>
              <a:ext uri="{FF2B5EF4-FFF2-40B4-BE49-F238E27FC236}">
                <a16:creationId xmlns:a16="http://schemas.microsoft.com/office/drawing/2014/main" id="{B563E95D-F557-D65D-2B48-E57B8AD3E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077200" y="4648201"/>
            <a:ext cx="2133600" cy="24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EB423A-3120-4968-B813-7BC4482A2811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87043" name="Rectangle 1026">
            <a:extLst>
              <a:ext uri="{FF2B5EF4-FFF2-40B4-BE49-F238E27FC236}">
                <a16:creationId xmlns:a16="http://schemas.microsoft.com/office/drawing/2014/main" id="{80F400FC-88F9-1705-46B0-B9E991750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905609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</a:rPr>
              <a:t>Dynamic summaries</a:t>
            </a:r>
          </a:p>
        </p:txBody>
      </p:sp>
      <p:sp>
        <p:nvSpPr>
          <p:cNvPr id="87044" name="Rectangle 1027">
            <a:extLst>
              <a:ext uri="{FF2B5EF4-FFF2-40B4-BE49-F238E27FC236}">
                <a16:creationId xmlns:a16="http://schemas.microsoft.com/office/drawing/2014/main" id="{82DA6C8D-705B-E8C3-D7E9-D913F1DF70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/>
              <a:t> Present one or more “windows” within the document that contain several of the query terms.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000" dirty="0"/>
              <a:t>“KWIC” snippets: Keyword in Context presentation</a:t>
            </a:r>
          </a:p>
        </p:txBody>
      </p:sp>
      <p:sp>
        <p:nvSpPr>
          <p:cNvPr id="87048" name="TextBox 4">
            <a:extLst>
              <a:ext uri="{FF2B5EF4-FFF2-40B4-BE49-F238E27FC236}">
                <a16:creationId xmlns:a16="http://schemas.microsoft.com/office/drawing/2014/main" id="{8E41269C-39E4-4614-331E-16576C978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06842D-3A8B-2BE4-B670-7EB55615C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579" y="3303104"/>
            <a:ext cx="4744646" cy="2991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B18B8-DD59-CB6A-A764-8907D5DF8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523" y="3303104"/>
            <a:ext cx="4782587" cy="299119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>
            <a:extLst>
              <a:ext uri="{FF2B5EF4-FFF2-40B4-BE49-F238E27FC236}">
                <a16:creationId xmlns:a16="http://schemas.microsoft.com/office/drawing/2014/main" id="{DF756B46-123F-5171-D394-D3EEC1E2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Techniques for dynamic summaries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B358DE3C-BB74-0E73-D319-43A95D20E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197714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Find </a:t>
            </a:r>
            <a:r>
              <a:rPr lang="en-US" altLang="zh-TW" dirty="0">
                <a:solidFill>
                  <a:srgbClr val="FF0000"/>
                </a:solidFill>
              </a:rPr>
              <a:t>small windows</a:t>
            </a:r>
            <a:r>
              <a:rPr lang="en-US" altLang="zh-TW" dirty="0"/>
              <a:t> in doc that contain query terms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Requires fast window lookup in a document cache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Score each window </a:t>
            </a:r>
            <a:r>
              <a:rPr lang="en-US" altLang="zh-TW" dirty="0" err="1"/>
              <a:t>wrt</a:t>
            </a:r>
            <a:r>
              <a:rPr lang="en-US" altLang="zh-TW" dirty="0"/>
              <a:t> query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Use various features such as window width, position in document, etc.</a:t>
            </a:r>
            <a:endParaRPr lang="en-US" altLang="zh-TW" baseline="30000" dirty="0"/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 Challenges in evaluation: judging summaries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/>
              <a:t>Easier to do pairwise comparisons rather than binary relevance assessments</a:t>
            </a:r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5ABA7CBD-392F-5F43-49E7-F7676804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E9E7CFF-B75C-4D5C-9A56-E70AF2DC8D23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anose="020B0604020202020204" pitchFamily="34" charset="-128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anose="020B0604020202020204" pitchFamily="34" charset="-128"/>
            </a:endParaRPr>
          </a:p>
        </p:txBody>
      </p:sp>
      <p:sp>
        <p:nvSpPr>
          <p:cNvPr id="89093" name="TextBox 4">
            <a:extLst>
              <a:ext uri="{FF2B5EF4-FFF2-40B4-BE49-F238E27FC236}">
                <a16:creationId xmlns:a16="http://schemas.microsoft.com/office/drawing/2014/main" id="{CCB0229B-4E48-576A-3936-E74FABD2C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anose="020B0604020202020204" pitchFamily="34" charset="-128"/>
              </a:rPr>
              <a:t>Sec. 8.7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1336</TotalTime>
  <Words>2817</Words>
  <Application>Microsoft Office PowerPoint</Application>
  <PresentationFormat>Widescreen</PresentationFormat>
  <Paragraphs>356</Paragraphs>
  <Slides>46</Slides>
  <Notes>45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46</vt:i4>
      </vt:variant>
    </vt:vector>
  </HeadingPairs>
  <TitlesOfParts>
    <vt:vector size="59" baseType="lpstr">
      <vt:lpstr>新細明體</vt:lpstr>
      <vt:lpstr>Arial</vt:lpstr>
      <vt:lpstr>Calibri</vt:lpstr>
      <vt:lpstr>Calibri Light</vt:lpstr>
      <vt:lpstr>Courier New</vt:lpstr>
      <vt:lpstr>Lucida Sans</vt:lpstr>
      <vt:lpstr>Symbol</vt:lpstr>
      <vt:lpstr>Times New Roman</vt:lpstr>
      <vt:lpstr>Wingdings</vt:lpstr>
      <vt:lpstr>Retrospect</vt:lpstr>
      <vt:lpstr>Equation</vt:lpstr>
      <vt:lpstr>Microsoft Equation 3.0</vt:lpstr>
      <vt:lpstr>Microsoft Excel Chart</vt:lpstr>
      <vt:lpstr>Information Retrieval</vt:lpstr>
      <vt:lpstr>Wild-card queries: *</vt:lpstr>
      <vt:lpstr>Query processing</vt:lpstr>
      <vt:lpstr>B-trees handle *’s at the end of a query term</vt:lpstr>
      <vt:lpstr>Permuterm index</vt:lpstr>
      <vt:lpstr>Bigram (k-gram) indexes</vt:lpstr>
      <vt:lpstr>Bigram index example</vt:lpstr>
      <vt:lpstr>Processing wild-cards</vt:lpstr>
      <vt:lpstr>Spell correction</vt:lpstr>
      <vt:lpstr>Document correction</vt:lpstr>
      <vt:lpstr>Query mis-spellings</vt:lpstr>
      <vt:lpstr>Isolated word correction</vt:lpstr>
      <vt:lpstr>Isolated word correction</vt:lpstr>
      <vt:lpstr>Edit distance</vt:lpstr>
      <vt:lpstr>Dynamic programming algorithm for edit distance</vt:lpstr>
      <vt:lpstr>Weighted edit distance</vt:lpstr>
      <vt:lpstr>Edit distance to all dictionary terms?</vt:lpstr>
      <vt:lpstr>n-gram overlap</vt:lpstr>
      <vt:lpstr>Example with trigrams</vt:lpstr>
      <vt:lpstr>One option – Jaccard coefficient</vt:lpstr>
      <vt:lpstr>Matching trigrams</vt:lpstr>
      <vt:lpstr>Context-sensitive spell correction</vt:lpstr>
      <vt:lpstr>Context-sensitive correction</vt:lpstr>
      <vt:lpstr>General issues in spell correction</vt:lpstr>
      <vt:lpstr>Measures for a search engine</vt:lpstr>
      <vt:lpstr>Measures for a search engine</vt:lpstr>
      <vt:lpstr>Measuring user happiness</vt:lpstr>
      <vt:lpstr>Happiness: elusive to measure</vt:lpstr>
      <vt:lpstr>Evaluating an IR system</vt:lpstr>
      <vt:lpstr>Standard relevance benchmarks</vt:lpstr>
      <vt:lpstr>Unranked retrieval evaluation: Precision and Recall</vt:lpstr>
      <vt:lpstr>Should we instead use the accuracy measure for evaluation?</vt:lpstr>
      <vt:lpstr>Precision/Recall</vt:lpstr>
      <vt:lpstr>Difficulties in using precision/recall</vt:lpstr>
      <vt:lpstr>A combined measure: F</vt:lpstr>
      <vt:lpstr>Evaluating ranked results</vt:lpstr>
      <vt:lpstr>A precision-recall curve</vt:lpstr>
      <vt:lpstr>Averaging over queries</vt:lpstr>
      <vt:lpstr>Evaluation</vt:lpstr>
      <vt:lpstr>Typical (good) 11 point precisions</vt:lpstr>
      <vt:lpstr>Yet more evaluation measures…</vt:lpstr>
      <vt:lpstr>Result Presentation</vt:lpstr>
      <vt:lpstr>Summaries</vt:lpstr>
      <vt:lpstr>Static summaries</vt:lpstr>
      <vt:lpstr>Dynamic summaries</vt:lpstr>
      <vt:lpstr>Techniques for dynamic summaries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Web  and Data Mining</dc:title>
  <dc:creator>Quoc Dinh Truong</dc:creator>
  <cp:lastModifiedBy>Quoc Dinh Truong</cp:lastModifiedBy>
  <cp:revision>346</cp:revision>
  <dcterms:created xsi:type="dcterms:W3CDTF">2019-10-28T15:55:27Z</dcterms:created>
  <dcterms:modified xsi:type="dcterms:W3CDTF">2024-01-16T10:25:23Z</dcterms:modified>
</cp:coreProperties>
</file>