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30"/>
  </p:notesMasterIdLst>
  <p:sldIdLst>
    <p:sldId id="256" r:id="rId2"/>
    <p:sldId id="351" r:id="rId3"/>
    <p:sldId id="349" r:id="rId4"/>
    <p:sldId id="261" r:id="rId5"/>
    <p:sldId id="348" r:id="rId6"/>
    <p:sldId id="259" r:id="rId7"/>
    <p:sldId id="260" r:id="rId8"/>
    <p:sldId id="350" r:id="rId9"/>
    <p:sldId id="346" r:id="rId10"/>
    <p:sldId id="347" r:id="rId11"/>
    <p:sldId id="353" r:id="rId12"/>
    <p:sldId id="344" r:id="rId13"/>
    <p:sldId id="263" r:id="rId14"/>
    <p:sldId id="264" r:id="rId15"/>
    <p:sldId id="307" r:id="rId16"/>
    <p:sldId id="308" r:id="rId17"/>
    <p:sldId id="309" r:id="rId18"/>
    <p:sldId id="316" r:id="rId19"/>
    <p:sldId id="317" r:id="rId20"/>
    <p:sldId id="352" r:id="rId21"/>
    <p:sldId id="311" r:id="rId22"/>
    <p:sldId id="312" r:id="rId23"/>
    <p:sldId id="321" r:id="rId24"/>
    <p:sldId id="322" r:id="rId25"/>
    <p:sldId id="323" r:id="rId26"/>
    <p:sldId id="326" r:id="rId27"/>
    <p:sldId id="327" r:id="rId28"/>
    <p:sldId id="329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5335" autoAdjust="0"/>
  </p:normalViewPr>
  <p:slideViewPr>
    <p:cSldViewPr snapToGrid="0">
      <p:cViewPr varScale="1">
        <p:scale>
          <a:sx n="69" d="100"/>
          <a:sy n="69" d="100"/>
        </p:scale>
        <p:origin x="115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B01B30-8F1D-4816-8F65-1D00D4637009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5D19D8-4FDB-4F0E-9F28-C085F3E59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041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5D19D8-4FDB-4F0E-9F28-C085F3E59F7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53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7CD8E0F-CA73-8BF0-3946-BEABEAE525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3B8DEBBA-F240-D895-8FCA-239BBF16EE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C265C878-4A2E-8DD5-1276-8798B4DB5E4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2D7853A0-06C3-FB9E-6D3A-79BF96F04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8B64007F-E028-4E71-D7EF-8EDF57A4C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799CB72-0756-48C9-B0DC-3F70BDCEF58D}" type="slidenum">
              <a:rPr kumimoji="0" lang="zh-TW" altLang="en-US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</a:pPr>
              <a:t>6</a:t>
            </a:fld>
            <a:endParaRPr kumimoji="0" lang="en-US" altLang="zh-TW">
              <a:latin typeface="Lucida Sans" panose="020B0602030504020204" pitchFamily="34" charset="0"/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127349F0-12ED-474E-378F-8C015E7859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E7A91184-CE17-F336-80FB-3965694C13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A915424-7D80-FA39-4C7B-2D3AD69645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FB6ACE96-65B9-1EB8-FE0D-0422A3A570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EAFF3383-96B6-C417-CFB1-DF144D4418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DB497277-B1CE-36CE-6552-5F79FDD529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D9B888CA-4191-B0CF-E1D8-3F770B9A94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AD6A449-716D-40C9-A668-223CED7F16F1}" type="slidenum">
              <a:rPr kumimoji="0" lang="zh-TW" altLang="en-US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</a:pPr>
              <a:t>10</a:t>
            </a:fld>
            <a:endParaRPr kumimoji="0" lang="en-US" altLang="zh-TW">
              <a:latin typeface="Lucida Sans" panose="020B0602030504020204" pitchFamily="34" charset="0"/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3E811CA1-F46D-AFC0-0D90-81DB164C12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1C123228-697C-7B8F-CB1D-D5C70A5849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223" tIns="45112" rIns="90223" bIns="45112"/>
          <a:lstStyle/>
          <a:p>
            <a:endParaRPr lang="zh-TW" altLang="en-US" sz="17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41A22-1708-2E1D-E121-AE2F77E0B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A23FF80F-013A-346B-0A7B-E10387EF74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AD6A449-716D-40C9-A668-223CED7F16F1}" type="slidenum">
              <a:rPr kumimoji="0" lang="zh-TW" altLang="en-US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</a:pPr>
              <a:t>11</a:t>
            </a:fld>
            <a:endParaRPr kumimoji="0" lang="en-US" altLang="zh-TW">
              <a:latin typeface="Lucida Sans" panose="020B0602030504020204" pitchFamily="34" charset="0"/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BDDD3B66-4C76-0BED-B2D5-E6964C4958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400800" cy="3600450"/>
          </a:xfrm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E529209B-6B1E-42E0-C583-8FB37F6616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223" tIns="45112" rIns="90223" bIns="45112"/>
          <a:lstStyle/>
          <a:p>
            <a:endParaRPr lang="zh-TW" altLang="en-US" sz="17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993133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EE2B00CB-2A24-E9F2-0221-EB2A3CEE7A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11899E96-8CE4-A967-7864-57E4AD4819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86AB90B-AE4F-09DB-2267-5FD260F63B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221D3E92-7EE5-0032-26F0-571E0411A8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E89F798D-77BF-A510-6F84-BB1497D399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6CF12859-1BB9-123C-3AB8-BC5914B9A1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EA28A3A0-2324-B3AE-636D-D0C3E8875C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F9AE9A11-155F-2661-5296-27D3F00DE8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209A47CE-F58A-750A-87A9-62D853D137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B7FC2A62-5F46-D441-170B-3BEEA9C1F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TW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2061A7C4-5F23-52EB-EB0B-10F54B8678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1522526-4164-4575-A648-45F9121F26EA}" type="slidenum">
              <a:rPr kumimoji="0" lang="zh-TW" altLang="en-US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</a:pPr>
              <a:t>16</a:t>
            </a:fld>
            <a:endParaRPr kumimoji="0" lang="en-US" altLang="zh-TW">
              <a:latin typeface="Lucida Sans" panose="020B0602030504020204" pitchFamily="34" charset="0"/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BB698830-3E8E-49F9-65FA-98F7C83C9E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57B8B211-4C29-0992-356F-4136F2EBEF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C0EA986C-FCB8-B59C-AE28-2094E9DA26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47200795-1EB7-4D52-486E-0AEF122ABA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24DC7815-7FE6-AC3D-08DA-6972E8A4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9C5D5A36-C631-ABC8-841A-45DD7EBBFF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29D40E72-E175-B8C4-338D-85E6B7338E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58893ABF-07A2-0320-CD21-A8F00CA996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03CBBB27-0245-DBBE-5C27-D1BF05DB1F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6300F564-9F8F-35EE-5B5D-9CA8B5B58D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2B446041-31BB-DED9-EA9F-50C3C794C6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C2574ABE-9671-8DF4-53C4-CBBCEFD86E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E9C204D4-B9DF-ED8D-0A85-86DB72CA5F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6463FE19-D6F8-D606-5E1F-49DCCC4D2D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7F6298D5-D32F-9128-D921-0FB4E70FEF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FE76C983-395B-906D-5575-18F5A60D53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BDC76B91-CCD9-7C8F-8901-A79D1D1206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254BD4BF-A77F-6298-298A-7B3EFABCD2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49830AD9-20FB-2C95-1F8C-3A9DF9610F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A8DD331D-F206-187C-C517-3701B3453B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2E9AD3C3-37A6-A15D-5E20-030E511BB9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F8B41670-58B6-9EA4-5D06-529A5ED4DC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F6161520-872F-2301-6C81-95B1D5F1BF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A42BA592-0203-8E1A-6B0F-13596EE49D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D089F-B724-4DB7-966F-A815F7F37156}" type="datetime1">
              <a:rPr lang="vi-VN" smtClean="0"/>
              <a:t>25/02/2026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637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C6BC-BE1B-4014-AA05-62AAA88B1A3B}" type="datetime1">
              <a:rPr lang="vi-VN" smtClean="0"/>
              <a:t>25/02/2026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7731" y="6388834"/>
            <a:ext cx="1312025" cy="365125"/>
          </a:xfrm>
        </p:spPr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2951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5303B-D7D5-42D3-AE3C-337199AC13CB}" type="datetime1">
              <a:rPr lang="vi-VN" smtClean="0"/>
              <a:t>25/02/2026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802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D0E1C-6609-4571-AAC0-EC9DFB3279EB}" type="datetime1">
              <a:rPr lang="vi-VN" smtClean="0"/>
              <a:t>25/02/2026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611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DF7A8-C61A-4659-866C-CD537F901D4F}" type="datetime1">
              <a:rPr lang="vi-VN" smtClean="0"/>
              <a:t>25/02/2026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69557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E5C43-8F38-47DC-80DF-4D0497C08181}" type="datetime1">
              <a:rPr lang="vi-VN" smtClean="0"/>
              <a:t>25/02/2026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88582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57925-9F9D-419A-8B85-1EDF14B77FEB}" type="datetime1">
              <a:rPr lang="vi-VN" smtClean="0"/>
              <a:t>25/02/2026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82215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B0017B5-F98D-4593-B373-F15243277C20}" type="datetime1">
              <a:rPr lang="vi-VN" smtClean="0"/>
              <a:t>25/02/2026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07191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3DB1-2915-4AD4-B284-3EA60BFABA3F}" type="datetime1">
              <a:rPr lang="vi-VN" smtClean="0"/>
              <a:t>25/02/2026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11319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CBC02-124E-465B-BD80-457C161798B7}" type="datetime1">
              <a:rPr lang="vi-VN" smtClean="0"/>
              <a:t>25/02/2026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88375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A3D81-25AC-4658-9D07-B6C24CDC7F74}" type="datetime1">
              <a:rPr lang="vi-VN" smtClean="0"/>
              <a:t>25/02/2026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4383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89C31EB-6A7E-4963-9845-D0A42A645CDC}" type="datetime1">
              <a:rPr lang="vi-VN" smtClean="0"/>
              <a:t>25/02/2026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262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9779" y="628650"/>
            <a:ext cx="11698941" cy="2447365"/>
          </a:xfrm>
        </p:spPr>
        <p:txBody>
          <a:bodyPr>
            <a:noAutofit/>
          </a:bodyPr>
          <a:lstStyle/>
          <a:p>
            <a:pPr algn="ctr"/>
            <a:r>
              <a:rPr lang="en-US" sz="8800" dirty="0">
                <a:latin typeface="Courier New" panose="02070309020205020404" pitchFamily="49" charset="0"/>
                <a:cs typeface="Courier New" panose="02070309020205020404" pitchFamily="49" charset="0"/>
              </a:rPr>
              <a:t>Information Retrieval</a:t>
            </a:r>
            <a:endParaRPr lang="vi-VN" sz="8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49" y="4487718"/>
            <a:ext cx="10058400" cy="627368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Chapter 1 - INTRODUCTION</a:t>
            </a:r>
            <a:endParaRPr lang="vi-VN" sz="36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198662" y="5688795"/>
            <a:ext cx="10058400" cy="627368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dirty="0"/>
              <a:t>Quoc Dinh TRUONG</a:t>
            </a:r>
            <a:r>
              <a:rPr lang="en-US" sz="3600" cap="none" dirty="0"/>
              <a:t>, PhD</a:t>
            </a:r>
          </a:p>
          <a:p>
            <a:pPr algn="ctr"/>
            <a:r>
              <a:rPr lang="en-US" sz="3600" dirty="0"/>
              <a:t>Modified from Christopher D. Manning, Prabhakar Raghavan and Hinrich </a:t>
            </a:r>
            <a:r>
              <a:rPr lang="en-US" sz="3600" dirty="0" err="1"/>
              <a:t>Schütze</a:t>
            </a:r>
            <a:r>
              <a:rPr lang="en-US" sz="3600" dirty="0"/>
              <a:t> slides</a:t>
            </a:r>
          </a:p>
        </p:txBody>
      </p:sp>
    </p:spTree>
    <p:extLst>
      <p:ext uri="{BB962C8B-B14F-4D97-AF65-F5344CB8AC3E}">
        <p14:creationId xmlns:p14="http://schemas.microsoft.com/office/powerpoint/2010/main" val="1122533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8708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How does it work?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FDC741BA-4118-5EC9-D9AA-0B51C048E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2</a:t>
            </a:fld>
            <a:endParaRPr lang="vi-V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3C8195B-8865-C53E-9F35-2DEE26738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DB8A4AC-CB43-B757-28B1-0481A458F1C6}"/>
              </a:ext>
            </a:extLst>
          </p:cNvPr>
          <p:cNvGrpSpPr/>
          <p:nvPr/>
        </p:nvGrpSpPr>
        <p:grpSpPr>
          <a:xfrm>
            <a:off x="211874" y="2393667"/>
            <a:ext cx="11864898" cy="2836255"/>
            <a:chOff x="211873" y="2393667"/>
            <a:chExt cx="12358943" cy="292749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6D1BEC4-5C71-FD07-0E4A-693961D064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1873" y="2393667"/>
              <a:ext cx="6096000" cy="2927494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8486AF2-116F-26ED-D70F-8796020DCB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30535" y="2393667"/>
              <a:ext cx="6140281" cy="29274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1651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B5960-D356-18D4-6AC9-57E2FEBEB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27822"/>
          </a:xfrm>
        </p:spPr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Unstructured vs. structured data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CBF4-CE3C-1BFE-2403-08D97341F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F727A-0C77-2A29-396D-CCD935446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3</a:t>
            </a:fld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795CE3-DB18-32EB-DB4E-8B3BC0DAD71C}"/>
              </a:ext>
            </a:extLst>
          </p:cNvPr>
          <p:cNvSpPr txBox="1"/>
          <p:nvPr/>
        </p:nvSpPr>
        <p:spPr>
          <a:xfrm>
            <a:off x="9001125" y="3672748"/>
            <a:ext cx="1769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Inter Var"/>
              </a:rPr>
              <a:t>Source: </a:t>
            </a:r>
            <a:r>
              <a:rPr lang="en-US" dirty="0" err="1">
                <a:solidFill>
                  <a:srgbClr val="FF0000"/>
                </a:solidFill>
                <a:latin typeface="Inter Var"/>
              </a:rPr>
              <a:t>S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Inter Var"/>
              </a:rPr>
              <a:t>uperna</a:t>
            </a:r>
            <a:r>
              <a:rPr lang="en-US" b="0" i="0" dirty="0">
                <a:solidFill>
                  <a:srgbClr val="FF0000"/>
                </a:solidFill>
                <a:effectLst/>
                <a:latin typeface="Inter Var"/>
              </a:rPr>
              <a:t> 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621156E-3B76-DEB0-54AC-A957347DB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752" y="1817619"/>
            <a:ext cx="7078901" cy="4023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6598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8708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Why Information Retrieval?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 dirty="0"/>
          </a:p>
        </p:txBody>
      </p:sp>
      <p:grpSp>
        <p:nvGrpSpPr>
          <p:cNvPr id="4" name="Group 3"/>
          <p:cNvGrpSpPr/>
          <p:nvPr/>
        </p:nvGrpSpPr>
        <p:grpSpPr>
          <a:xfrm>
            <a:off x="1598904" y="1492513"/>
            <a:ext cx="9055151" cy="4870656"/>
            <a:chOff x="-142875" y="990600"/>
            <a:chExt cx="9817370" cy="5654675"/>
          </a:xfrm>
        </p:grpSpPr>
        <p:sp>
          <p:nvSpPr>
            <p:cNvPr id="5" name="Line 2052"/>
            <p:cNvSpPr>
              <a:spLocks noChangeShapeType="1"/>
            </p:cNvSpPr>
            <p:nvPr/>
          </p:nvSpPr>
          <p:spPr bwMode="auto">
            <a:xfrm flipV="1">
              <a:off x="1219200" y="5105400"/>
              <a:ext cx="990600" cy="609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6" name="Line 2053"/>
            <p:cNvSpPr>
              <a:spLocks noChangeShapeType="1"/>
            </p:cNvSpPr>
            <p:nvPr/>
          </p:nvSpPr>
          <p:spPr bwMode="auto">
            <a:xfrm flipV="1">
              <a:off x="6781800" y="1600200"/>
              <a:ext cx="990600" cy="609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7" name="Line 2054"/>
            <p:cNvSpPr>
              <a:spLocks noChangeShapeType="1"/>
            </p:cNvSpPr>
            <p:nvPr/>
          </p:nvSpPr>
          <p:spPr bwMode="auto">
            <a:xfrm flipV="1">
              <a:off x="5105400" y="2667000"/>
              <a:ext cx="990600" cy="609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8" name="Line 2055"/>
            <p:cNvSpPr>
              <a:spLocks noChangeShapeType="1"/>
            </p:cNvSpPr>
            <p:nvPr/>
          </p:nvSpPr>
          <p:spPr bwMode="auto">
            <a:xfrm flipV="1">
              <a:off x="3276600" y="3733800"/>
              <a:ext cx="990600" cy="609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9" name="Oval 2056"/>
            <p:cNvSpPr>
              <a:spLocks noChangeArrowheads="1"/>
            </p:cNvSpPr>
            <p:nvPr/>
          </p:nvSpPr>
          <p:spPr bwMode="auto">
            <a:xfrm>
              <a:off x="228600" y="5562600"/>
              <a:ext cx="685800" cy="152400"/>
            </a:xfrm>
            <a:prstGeom prst="ellipse">
              <a:avLst/>
            </a:prstGeom>
            <a:solidFill>
              <a:srgbClr val="00CC66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10" name="Rectangle 2057"/>
            <p:cNvSpPr>
              <a:spLocks noChangeArrowheads="1"/>
            </p:cNvSpPr>
            <p:nvPr/>
          </p:nvSpPr>
          <p:spPr bwMode="auto">
            <a:xfrm>
              <a:off x="228600" y="5638800"/>
              <a:ext cx="685800" cy="406400"/>
            </a:xfrm>
            <a:prstGeom prst="rect">
              <a:avLst/>
            </a:prstGeom>
            <a:solidFill>
              <a:srgbClr val="00CC66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11" name="Oval 2058"/>
            <p:cNvSpPr>
              <a:spLocks noChangeArrowheads="1"/>
            </p:cNvSpPr>
            <p:nvPr/>
          </p:nvSpPr>
          <p:spPr bwMode="auto">
            <a:xfrm>
              <a:off x="228600" y="5943600"/>
              <a:ext cx="685800" cy="152400"/>
            </a:xfrm>
            <a:prstGeom prst="ellipse">
              <a:avLst/>
            </a:prstGeom>
            <a:solidFill>
              <a:srgbClr val="00CC66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12" name="Oval 2059"/>
            <p:cNvSpPr>
              <a:spLocks noChangeArrowheads="1"/>
            </p:cNvSpPr>
            <p:nvPr/>
          </p:nvSpPr>
          <p:spPr bwMode="auto">
            <a:xfrm>
              <a:off x="609600" y="5943600"/>
              <a:ext cx="685800" cy="152400"/>
            </a:xfrm>
            <a:prstGeom prst="ellipse">
              <a:avLst/>
            </a:prstGeom>
            <a:solidFill>
              <a:srgbClr val="00CC66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13" name="Rectangle 2060"/>
            <p:cNvSpPr>
              <a:spLocks noChangeArrowheads="1"/>
            </p:cNvSpPr>
            <p:nvPr/>
          </p:nvSpPr>
          <p:spPr bwMode="auto">
            <a:xfrm>
              <a:off x="609600" y="6019800"/>
              <a:ext cx="685800" cy="406400"/>
            </a:xfrm>
            <a:prstGeom prst="rect">
              <a:avLst/>
            </a:prstGeom>
            <a:solidFill>
              <a:srgbClr val="00CC66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14" name="Oval 2061"/>
            <p:cNvSpPr>
              <a:spLocks noChangeArrowheads="1"/>
            </p:cNvSpPr>
            <p:nvPr/>
          </p:nvSpPr>
          <p:spPr bwMode="auto">
            <a:xfrm>
              <a:off x="609600" y="6324600"/>
              <a:ext cx="685800" cy="152400"/>
            </a:xfrm>
            <a:prstGeom prst="ellipse">
              <a:avLst/>
            </a:prstGeom>
            <a:solidFill>
              <a:srgbClr val="00CC66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15" name="Oval 2062"/>
            <p:cNvSpPr>
              <a:spLocks noChangeArrowheads="1"/>
            </p:cNvSpPr>
            <p:nvPr/>
          </p:nvSpPr>
          <p:spPr bwMode="auto">
            <a:xfrm>
              <a:off x="1295400" y="5715000"/>
              <a:ext cx="685800" cy="152400"/>
            </a:xfrm>
            <a:prstGeom prst="ellipse">
              <a:avLst/>
            </a:prstGeom>
            <a:solidFill>
              <a:srgbClr val="00CC66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16" name="Rectangle 2063"/>
            <p:cNvSpPr>
              <a:spLocks noChangeArrowheads="1"/>
            </p:cNvSpPr>
            <p:nvPr/>
          </p:nvSpPr>
          <p:spPr bwMode="auto">
            <a:xfrm>
              <a:off x="1295400" y="5791200"/>
              <a:ext cx="685800" cy="406400"/>
            </a:xfrm>
            <a:prstGeom prst="rect">
              <a:avLst/>
            </a:prstGeom>
            <a:solidFill>
              <a:srgbClr val="00CC66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17" name="Oval 2064"/>
            <p:cNvSpPr>
              <a:spLocks noChangeArrowheads="1"/>
            </p:cNvSpPr>
            <p:nvPr/>
          </p:nvSpPr>
          <p:spPr bwMode="auto">
            <a:xfrm>
              <a:off x="1295400" y="6096000"/>
              <a:ext cx="685800" cy="152400"/>
            </a:xfrm>
            <a:prstGeom prst="ellipse">
              <a:avLst/>
            </a:prstGeom>
            <a:solidFill>
              <a:srgbClr val="00CC66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18" name="Text Box 2065"/>
            <p:cNvSpPr txBox="1">
              <a:spLocks noChangeArrowheads="1"/>
            </p:cNvSpPr>
            <p:nvPr/>
          </p:nvSpPr>
          <p:spPr bwMode="auto">
            <a:xfrm>
              <a:off x="-142875" y="4958179"/>
              <a:ext cx="17430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vi-VN" sz="2000" b="1" dirty="0">
                  <a:latin typeface="Times New Roman" panose="02020603050405020304" pitchFamily="18" charset="0"/>
                </a:rPr>
                <a:t>Data Cleaning</a:t>
              </a:r>
              <a:endParaRPr lang="en-US" altLang="vi-V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19" name="Text Box 2066"/>
            <p:cNvSpPr txBox="1">
              <a:spLocks noChangeArrowheads="1"/>
            </p:cNvSpPr>
            <p:nvPr/>
          </p:nvSpPr>
          <p:spPr bwMode="auto">
            <a:xfrm>
              <a:off x="2209800" y="5478463"/>
              <a:ext cx="199548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vi-VN" sz="2000" b="1" dirty="0">
                  <a:latin typeface="Times New Roman" panose="02020603050405020304" pitchFamily="18" charset="0"/>
                </a:rPr>
                <a:t>Data Integration</a:t>
              </a:r>
              <a:endParaRPr lang="en-US" altLang="vi-V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0" name="Text Box 2067"/>
            <p:cNvSpPr txBox="1">
              <a:spLocks noChangeArrowheads="1"/>
            </p:cNvSpPr>
            <p:nvPr/>
          </p:nvSpPr>
          <p:spPr bwMode="auto">
            <a:xfrm>
              <a:off x="1371600" y="6248400"/>
              <a:ext cx="14478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vi-VN" sz="2000" b="1">
                  <a:solidFill>
                    <a:srgbClr val="000099"/>
                  </a:solidFill>
                  <a:latin typeface="Times New Roman" panose="02020603050405020304" pitchFamily="18" charset="0"/>
                </a:rPr>
                <a:t>Databases</a:t>
              </a:r>
            </a:p>
          </p:txBody>
        </p:sp>
        <p:sp>
          <p:nvSpPr>
            <p:cNvPr id="22" name="Rectangle 2069"/>
            <p:cNvSpPr>
              <a:spLocks noChangeArrowheads="1"/>
            </p:cNvSpPr>
            <p:nvPr/>
          </p:nvSpPr>
          <p:spPr bwMode="auto">
            <a:xfrm>
              <a:off x="2362200" y="4572000"/>
              <a:ext cx="685800" cy="685800"/>
            </a:xfrm>
            <a:prstGeom prst="rect">
              <a:avLst/>
            </a:prstGeom>
            <a:solidFill>
              <a:srgbClr val="00CC66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CC66"/>
              </a:extrusionClr>
              <a:contourClr>
                <a:srgbClr val="00CC66"/>
              </a:contourClr>
            </a:sp3d>
          </p:spPr>
          <p:txBody>
            <a:bodyPr wrap="none" anchor="ctr">
              <a:flatTx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23" name="Rectangle 2070"/>
            <p:cNvSpPr>
              <a:spLocks noChangeArrowheads="1"/>
            </p:cNvSpPr>
            <p:nvPr/>
          </p:nvSpPr>
          <p:spPr bwMode="auto">
            <a:xfrm>
              <a:off x="4419600" y="3429000"/>
              <a:ext cx="457200" cy="457200"/>
            </a:xfrm>
            <a:prstGeom prst="rect">
              <a:avLst/>
            </a:prstGeom>
            <a:solidFill>
              <a:srgbClr val="00CC66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CC66"/>
              </a:extrusionClr>
              <a:contourClr>
                <a:srgbClr val="00CC66"/>
              </a:contourClr>
            </a:sp3d>
          </p:spPr>
          <p:txBody>
            <a:bodyPr wrap="none" anchor="ctr">
              <a:flatTx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24" name="Rectangle 2071"/>
            <p:cNvSpPr>
              <a:spLocks noChangeArrowheads="1"/>
            </p:cNvSpPr>
            <p:nvPr/>
          </p:nvSpPr>
          <p:spPr bwMode="auto">
            <a:xfrm>
              <a:off x="6477000" y="1981200"/>
              <a:ext cx="76200" cy="60960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25" name="Rectangle 2072"/>
            <p:cNvSpPr>
              <a:spLocks noChangeArrowheads="1"/>
            </p:cNvSpPr>
            <p:nvPr/>
          </p:nvSpPr>
          <p:spPr bwMode="auto">
            <a:xfrm>
              <a:off x="6553200" y="2209800"/>
              <a:ext cx="76200" cy="38100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26" name="Rectangle 2073"/>
            <p:cNvSpPr>
              <a:spLocks noChangeArrowheads="1"/>
            </p:cNvSpPr>
            <p:nvPr/>
          </p:nvSpPr>
          <p:spPr bwMode="auto">
            <a:xfrm>
              <a:off x="6400800" y="2133600"/>
              <a:ext cx="76200" cy="4572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27" name="Rectangle 2074"/>
            <p:cNvSpPr>
              <a:spLocks noChangeArrowheads="1"/>
            </p:cNvSpPr>
            <p:nvPr/>
          </p:nvSpPr>
          <p:spPr bwMode="auto">
            <a:xfrm>
              <a:off x="6629400" y="2362200"/>
              <a:ext cx="76200" cy="228600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28" name="Rectangle 2075"/>
            <p:cNvSpPr>
              <a:spLocks noChangeArrowheads="1"/>
            </p:cNvSpPr>
            <p:nvPr/>
          </p:nvSpPr>
          <p:spPr bwMode="auto">
            <a:xfrm>
              <a:off x="6172200" y="2590800"/>
              <a:ext cx="685800" cy="762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29" name="Rectangle 2076"/>
            <p:cNvSpPr>
              <a:spLocks noChangeArrowheads="1"/>
            </p:cNvSpPr>
            <p:nvPr/>
          </p:nvSpPr>
          <p:spPr bwMode="auto">
            <a:xfrm>
              <a:off x="6248400" y="2362200"/>
              <a:ext cx="152400" cy="228600"/>
            </a:xfrm>
            <a:prstGeom prst="rect">
              <a:avLst/>
            </a:prstGeom>
            <a:solidFill>
              <a:srgbClr val="FF99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30" name="WordArt 2077"/>
            <p:cNvSpPr>
              <a:spLocks noChangeArrowheads="1" noChangeShapeType="1" noTextEdit="1"/>
            </p:cNvSpPr>
            <p:nvPr/>
          </p:nvSpPr>
          <p:spPr bwMode="auto">
            <a:xfrm>
              <a:off x="7086600" y="990600"/>
              <a:ext cx="1743075" cy="612775"/>
            </a:xfrm>
            <a:prstGeom prst="rect">
              <a:avLst/>
            </a:prstGeom>
          </p:spPr>
          <p:txBody>
            <a:bodyPr wrap="none" fromWordArt="1">
              <a:prstTxWarp prst="textCascadeUp">
                <a:avLst>
                  <a:gd name="adj" fmla="val 44444"/>
                </a:avLst>
              </a:prstTxWarp>
              <a:scene3d>
                <a:camera prst="legacyPerspectiveFront">
                  <a:rot lat="20519990" lon="1080000" rev="0"/>
                </a:camera>
                <a:lightRig rig="legacyHarsh2" dir="b"/>
              </a:scene3d>
              <a:sp3d extrusionH="430200" prstMaterial="legacyMatte">
                <a:extrusionClr>
                  <a:srgbClr val="FF6600"/>
                </a:extrusionClr>
                <a:contourClr>
                  <a:srgbClr val="FFE701"/>
                </a:contourClr>
              </a:sp3d>
            </a:bodyPr>
            <a:lstStyle/>
            <a:p>
              <a:pPr algn="ctr"/>
              <a:r>
                <a:rPr lang="vi-VN" kern="10">
                  <a:ln w="9525"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FFE701"/>
                      </a:gs>
                      <a:gs pos="100000">
                        <a:srgbClr val="FE3E02"/>
                      </a:gs>
                    </a:gsLst>
                    <a:lin ang="5400000" scaled="1"/>
                  </a:gradFill>
                </a:rPr>
                <a:t>Knowledge</a:t>
              </a:r>
            </a:p>
          </p:txBody>
        </p:sp>
        <p:sp>
          <p:nvSpPr>
            <p:cNvPr id="31" name="Text Box 2078"/>
            <p:cNvSpPr txBox="1">
              <a:spLocks noChangeArrowheads="1"/>
            </p:cNvSpPr>
            <p:nvPr/>
          </p:nvSpPr>
          <p:spPr bwMode="auto">
            <a:xfrm>
              <a:off x="1836736" y="3252788"/>
              <a:ext cx="227806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vi-VN" sz="2000" b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Task-relevant Data</a:t>
              </a:r>
            </a:p>
          </p:txBody>
        </p:sp>
        <p:sp>
          <p:nvSpPr>
            <p:cNvPr id="32" name="Text Box 2079"/>
            <p:cNvSpPr txBox="1">
              <a:spLocks noChangeArrowheads="1"/>
            </p:cNvSpPr>
            <p:nvPr/>
          </p:nvSpPr>
          <p:spPr bwMode="auto">
            <a:xfrm>
              <a:off x="3890480" y="3912913"/>
              <a:ext cx="11557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vi-VN" sz="2000" b="1" dirty="0">
                  <a:latin typeface="Times New Roman" panose="02020603050405020304" pitchFamily="18" charset="0"/>
                </a:rPr>
                <a:t>Selection</a:t>
              </a:r>
            </a:p>
          </p:txBody>
        </p:sp>
        <p:sp>
          <p:nvSpPr>
            <p:cNvPr id="33" name="Text Box 2080"/>
            <p:cNvSpPr txBox="1">
              <a:spLocks noChangeArrowheads="1"/>
            </p:cNvSpPr>
            <p:nvPr/>
          </p:nvSpPr>
          <p:spPr bwMode="auto">
            <a:xfrm>
              <a:off x="3848558" y="2525439"/>
              <a:ext cx="15589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vi-VN" sz="20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Data Mining</a:t>
              </a:r>
            </a:p>
          </p:txBody>
        </p:sp>
        <p:sp>
          <p:nvSpPr>
            <p:cNvPr id="34" name="Text Box 2081"/>
            <p:cNvSpPr txBox="1">
              <a:spLocks noChangeArrowheads="1"/>
            </p:cNvSpPr>
            <p:nvPr/>
          </p:nvSpPr>
          <p:spPr bwMode="auto">
            <a:xfrm>
              <a:off x="7425007" y="1782763"/>
              <a:ext cx="224948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vi-VN" sz="2000" b="1" dirty="0">
                  <a:latin typeface="Times New Roman" panose="02020603050405020304" pitchFamily="18" charset="0"/>
                </a:rPr>
                <a:t>Pattern Evaluation</a:t>
              </a:r>
            </a:p>
          </p:txBody>
        </p:sp>
        <p:sp>
          <p:nvSpPr>
            <p:cNvPr id="35" name="Line 2082"/>
            <p:cNvSpPr>
              <a:spLocks noChangeShapeType="1"/>
            </p:cNvSpPr>
            <p:nvPr/>
          </p:nvSpPr>
          <p:spPr bwMode="auto">
            <a:xfrm>
              <a:off x="5638800" y="3124200"/>
              <a:ext cx="0" cy="2133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36" name="Line 2083"/>
            <p:cNvSpPr>
              <a:spLocks noChangeShapeType="1"/>
            </p:cNvSpPr>
            <p:nvPr/>
          </p:nvSpPr>
          <p:spPr bwMode="auto">
            <a:xfrm>
              <a:off x="7315200" y="2057400"/>
              <a:ext cx="0" cy="3200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37" name="Line 2084"/>
            <p:cNvSpPr>
              <a:spLocks noChangeShapeType="1"/>
            </p:cNvSpPr>
            <p:nvPr/>
          </p:nvSpPr>
          <p:spPr bwMode="auto">
            <a:xfrm flipH="1">
              <a:off x="3962400" y="5257800"/>
              <a:ext cx="3352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38" name="Line 2085"/>
            <p:cNvSpPr>
              <a:spLocks noChangeShapeType="1"/>
            </p:cNvSpPr>
            <p:nvPr/>
          </p:nvSpPr>
          <p:spPr bwMode="auto">
            <a:xfrm flipV="1">
              <a:off x="3962400" y="4343400"/>
              <a:ext cx="0" cy="914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39" name="Line 2086"/>
            <p:cNvSpPr>
              <a:spLocks noChangeShapeType="1"/>
            </p:cNvSpPr>
            <p:nvPr/>
          </p:nvSpPr>
          <p:spPr bwMode="auto">
            <a:xfrm>
              <a:off x="7315200" y="5257800"/>
              <a:ext cx="0" cy="838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40" name="Line 2087"/>
            <p:cNvSpPr>
              <a:spLocks noChangeShapeType="1"/>
            </p:cNvSpPr>
            <p:nvPr/>
          </p:nvSpPr>
          <p:spPr bwMode="auto">
            <a:xfrm flipH="1">
              <a:off x="2286000" y="6096000"/>
              <a:ext cx="5029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41" name="Line 2088"/>
            <p:cNvSpPr>
              <a:spLocks noChangeShapeType="1"/>
            </p:cNvSpPr>
            <p:nvPr/>
          </p:nvSpPr>
          <p:spPr bwMode="auto">
            <a:xfrm flipH="1" flipV="1">
              <a:off x="1905000" y="5410200"/>
              <a:ext cx="381000" cy="685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42" name="Line 2089"/>
            <p:cNvSpPr>
              <a:spLocks noChangeShapeType="1"/>
            </p:cNvSpPr>
            <p:nvPr/>
          </p:nvSpPr>
          <p:spPr bwMode="auto">
            <a:xfrm>
              <a:off x="2057400" y="5410200"/>
              <a:ext cx="1600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vi-VN"/>
            </a:p>
          </p:txBody>
        </p:sp>
        <p:sp>
          <p:nvSpPr>
            <p:cNvPr id="43" name="Line 2090"/>
            <p:cNvSpPr>
              <a:spLocks noChangeShapeType="1"/>
            </p:cNvSpPr>
            <p:nvPr/>
          </p:nvSpPr>
          <p:spPr bwMode="auto">
            <a:xfrm flipV="1">
              <a:off x="3657600" y="4191000"/>
              <a:ext cx="0" cy="1219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vi-VN"/>
            </a:p>
          </p:txBody>
        </p:sp>
        <p:sp>
          <p:nvSpPr>
            <p:cNvPr id="21" name="Text Box 2068"/>
            <p:cNvSpPr txBox="1">
              <a:spLocks noChangeArrowheads="1"/>
            </p:cNvSpPr>
            <p:nvPr/>
          </p:nvSpPr>
          <p:spPr bwMode="auto">
            <a:xfrm>
              <a:off x="1066800" y="4114800"/>
              <a:ext cx="19970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vi-VN" sz="2000" b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Data Warehouse</a:t>
              </a:r>
            </a:p>
          </p:txBody>
        </p:sp>
      </p:grpSp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FDC741BA-4118-5EC9-D9AA-0B51C048E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47762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B66B5451-AB86-E5F5-522C-D0545536A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770672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Information Retrieval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608A3403-4022-0E38-4160-373911910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357E69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Information Retrieval (IR) is </a:t>
            </a:r>
            <a:r>
              <a:rPr lang="en-US" altLang="zh-TW" dirty="0">
                <a:solidFill>
                  <a:srgbClr val="357E69"/>
                </a:solidFill>
                <a:ea typeface="ＭＳ Ｐゴシック" panose="020B0600070205080204" pitchFamily="34" charset="-128"/>
              </a:rPr>
              <a:t>finding material</a:t>
            </a:r>
            <a:r>
              <a:rPr lang="en-US" altLang="zh-TW" dirty="0">
                <a:ea typeface="ＭＳ Ｐゴシック" panose="020B0600070205080204" pitchFamily="34" charset="-128"/>
              </a:rPr>
              <a:t> (usually documents) of an </a:t>
            </a:r>
            <a:r>
              <a:rPr lang="en-US" altLang="zh-TW" dirty="0">
                <a:solidFill>
                  <a:srgbClr val="357E69"/>
                </a:solidFill>
                <a:ea typeface="ＭＳ Ｐゴシック" panose="020B0600070205080204" pitchFamily="34" charset="-128"/>
              </a:rPr>
              <a:t>unstructured</a:t>
            </a:r>
            <a:r>
              <a:rPr lang="en-US" altLang="zh-TW" dirty="0">
                <a:ea typeface="ＭＳ Ｐゴシック" panose="020B0600070205080204" pitchFamily="34" charset="-128"/>
              </a:rPr>
              <a:t> nature (usually text) that satisfies an </a:t>
            </a:r>
            <a:r>
              <a:rPr lang="en-US" altLang="zh-TW" dirty="0">
                <a:solidFill>
                  <a:srgbClr val="357E69"/>
                </a:solidFill>
                <a:ea typeface="ＭＳ Ｐゴシック" panose="020B0600070205080204" pitchFamily="34" charset="-128"/>
              </a:rPr>
              <a:t>information need</a:t>
            </a:r>
            <a:r>
              <a:rPr lang="en-US" altLang="zh-TW" dirty="0">
                <a:ea typeface="ＭＳ Ｐゴシック" panose="020B0600070205080204" pitchFamily="34" charset="-128"/>
              </a:rPr>
              <a:t> from within </a:t>
            </a:r>
            <a:r>
              <a:rPr lang="en-US" altLang="zh-TW" dirty="0">
                <a:solidFill>
                  <a:srgbClr val="357E69"/>
                </a:solidFill>
                <a:ea typeface="ＭＳ Ｐゴシック" panose="020B0600070205080204" pitchFamily="34" charset="-128"/>
              </a:rPr>
              <a:t>large collections</a:t>
            </a:r>
            <a:r>
              <a:rPr lang="en-US" altLang="zh-TW" dirty="0">
                <a:ea typeface="ＭＳ Ｐゴシック" panose="020B0600070205080204" pitchFamily="34" charset="-128"/>
              </a:rPr>
              <a:t> (usually stored on computers).</a:t>
            </a:r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A0011AF6-7299-5A82-00A6-A8CDA8180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54730C8-EB92-4C63-A061-6AEB5595293C}" type="slidenum">
              <a:rPr lang="zh-TW" altLang="en-US" sz="1200">
                <a:solidFill>
                  <a:srgbClr val="898989"/>
                </a:solidFill>
                <a:ea typeface="新細明體" panose="020B0604030504040204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zh-TW" sz="1200">
              <a:solidFill>
                <a:srgbClr val="898989"/>
              </a:solidFill>
              <a:ea typeface="新細明體" panose="020B0604030504040204" pitchFamily="18" charset="-120"/>
              <a:cs typeface="Arial Unicode MS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>
            <a:extLst>
              <a:ext uri="{FF2B5EF4-FFF2-40B4-BE49-F238E27FC236}">
                <a16:creationId xmlns:a16="http://schemas.microsoft.com/office/drawing/2014/main" id="{0FE3F8EC-D4A3-ADD1-2D80-2B993DB9D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18297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Unstructured data in 1620</a:t>
            </a:r>
          </a:p>
        </p:txBody>
      </p:sp>
      <p:sp>
        <p:nvSpPr>
          <p:cNvPr id="105475" name="Rectangle 1027">
            <a:extLst>
              <a:ext uri="{FF2B5EF4-FFF2-40B4-BE49-F238E27FC236}">
                <a16:creationId xmlns:a16="http://schemas.microsoft.com/office/drawing/2014/main" id="{5C0E4F9A-17A0-4994-8C94-353DE786AC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97280" y="1788259"/>
            <a:ext cx="10237470" cy="460057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Which plays of Shakespeare contain the words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Brutus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i="1" dirty="0">
                <a:ea typeface="ＭＳ Ｐゴシック" panose="020B0600070205080204" pitchFamily="34" charset="-128"/>
              </a:rPr>
              <a:t>AND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Caesar</a:t>
            </a:r>
            <a:r>
              <a:rPr lang="en-US" altLang="zh-TW" dirty="0">
                <a:ea typeface="ＭＳ Ｐゴシック" panose="020B0600070205080204" pitchFamily="34" charset="-128"/>
              </a:rPr>
              <a:t>  but </a:t>
            </a:r>
            <a:r>
              <a:rPr lang="en-US" altLang="zh-TW" i="1" dirty="0">
                <a:ea typeface="ＭＳ Ｐゴシック" panose="020B0600070205080204" pitchFamily="34" charset="-128"/>
              </a:rPr>
              <a:t>NOT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Calpurnia</a:t>
            </a:r>
            <a:r>
              <a:rPr lang="en-US" altLang="zh-TW" dirty="0">
                <a:ea typeface="ＭＳ Ｐゴシック" panose="020B0600070205080204" pitchFamily="34" charset="-128"/>
              </a:rPr>
              <a:t>?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One could </a:t>
            </a:r>
            <a:r>
              <a:rPr lang="en-US" altLang="zh-TW" dirty="0">
                <a:solidFill>
                  <a:schemeClr val="hlink"/>
                </a:solidFill>
                <a:ea typeface="ＭＳ Ｐゴシック" panose="020B0600070205080204" pitchFamily="34" charset="-128"/>
              </a:rPr>
              <a:t>grep</a:t>
            </a:r>
            <a:r>
              <a:rPr lang="en-US" altLang="zh-TW" dirty="0">
                <a:ea typeface="ＭＳ Ｐゴシック" panose="020B0600070205080204" pitchFamily="34" charset="-128"/>
              </a:rPr>
              <a:t> all of Shakespeare’s plays for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Brutus</a:t>
            </a:r>
            <a:r>
              <a:rPr lang="en-US" altLang="zh-TW" dirty="0">
                <a:ea typeface="ＭＳ Ｐゴシック" panose="020B0600070205080204" pitchFamily="34" charset="-128"/>
              </a:rPr>
              <a:t> and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Caesar,</a:t>
            </a:r>
            <a:r>
              <a:rPr lang="en-US" altLang="zh-TW" dirty="0">
                <a:ea typeface="ＭＳ Ｐゴシック" panose="020B0600070205080204" pitchFamily="34" charset="-128"/>
              </a:rPr>
              <a:t> then strip out lines containing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Calpurnia</a:t>
            </a:r>
            <a:r>
              <a:rPr lang="en-US" altLang="zh-TW" dirty="0">
                <a:ea typeface="ＭＳ Ｐゴシック" panose="020B0600070205080204" pitchFamily="34" charset="-128"/>
              </a:rPr>
              <a:t>?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Why is that not the answer?</a:t>
            </a:r>
          </a:p>
          <a:p>
            <a:pPr lvl="1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Slow (for large corpora)</a:t>
            </a:r>
          </a:p>
          <a:p>
            <a:pPr lvl="1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i="1" u="sng" dirty="0">
                <a:ea typeface="ＭＳ Ｐゴシック" panose="020B0600070205080204" pitchFamily="34" charset="-128"/>
              </a:rPr>
              <a:t>NOT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Calpurnia</a:t>
            </a:r>
            <a:r>
              <a:rPr lang="en-US" altLang="zh-TW" dirty="0">
                <a:ea typeface="ＭＳ Ｐゴシック" panose="020B0600070205080204" pitchFamily="34" charset="-128"/>
              </a:rPr>
              <a:t> is non-trivial</a:t>
            </a:r>
          </a:p>
          <a:p>
            <a:pPr lvl="1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Other operations (e.g., find the word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Romans </a:t>
            </a:r>
            <a:r>
              <a:rPr lang="en-US" altLang="zh-TW" dirty="0">
                <a:ea typeface="ＭＳ Ｐゴシック" panose="020B0600070205080204" pitchFamily="34" charset="-128"/>
              </a:rPr>
              <a:t>near</a:t>
            </a:r>
            <a:r>
              <a:rPr lang="en-US" altLang="zh-TW" b="1" dirty="0">
                <a:ea typeface="ＭＳ Ｐゴシック" panose="020B0600070205080204" pitchFamily="34" charset="-128"/>
              </a:rPr>
              <a:t>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countrymen</a:t>
            </a:r>
            <a:r>
              <a:rPr lang="en-US" altLang="zh-TW" dirty="0">
                <a:ea typeface="ＭＳ Ｐゴシック" panose="020B0600070205080204" pitchFamily="34" charset="-128"/>
              </a:rPr>
              <a:t>) not feasible</a:t>
            </a:r>
          </a:p>
          <a:p>
            <a:pPr lvl="1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Ranked retrieval (best documents to return)</a:t>
            </a:r>
          </a:p>
        </p:txBody>
      </p:sp>
      <p:sp>
        <p:nvSpPr>
          <p:cNvPr id="19460" name="Slide Number Placeholder 5">
            <a:extLst>
              <a:ext uri="{FF2B5EF4-FFF2-40B4-BE49-F238E27FC236}">
                <a16:creationId xmlns:a16="http://schemas.microsoft.com/office/drawing/2014/main" id="{F8A16038-795A-CFE8-D176-0C6ECB6FD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1938C6-47A1-4366-97EA-8AA2DCD32206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sp>
        <p:nvSpPr>
          <p:cNvPr id="19461" name="TextBox 4">
            <a:extLst>
              <a:ext uri="{FF2B5EF4-FFF2-40B4-BE49-F238E27FC236}">
                <a16:creationId xmlns:a16="http://schemas.microsoft.com/office/drawing/2014/main" id="{D2C9B1D9-51CE-E2C3-0169-A8FD75D1B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1.1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0DA1208-D3E3-8434-48DC-F68982C355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31851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Term - document incidence</a:t>
            </a:r>
          </a:p>
        </p:txBody>
      </p:sp>
      <p:graphicFrame>
        <p:nvGraphicFramePr>
          <p:cNvPr id="21507" name="Object 1028">
            <a:extLst>
              <a:ext uri="{FF2B5EF4-FFF2-40B4-BE49-F238E27FC236}">
                <a16:creationId xmlns:a16="http://schemas.microsoft.com/office/drawing/2014/main" id="{746895AA-48CD-B927-ADC6-04746C08B62D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9423165"/>
              </p:ext>
            </p:extLst>
          </p:nvPr>
        </p:nvGraphicFramePr>
        <p:xfrm>
          <a:off x="2277268" y="2008187"/>
          <a:ext cx="7637463" cy="284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525305" imgH="3543605" progId="Excel.Sheet.8">
                  <p:embed/>
                </p:oleObj>
              </mc:Choice>
              <mc:Fallback>
                <p:oleObj name="Worksheet" r:id="rId3" imgW="9525305" imgH="3543605" progId="Excel.Sheet.8">
                  <p:embed/>
                  <p:pic>
                    <p:nvPicPr>
                      <p:cNvPr id="21507" name="Object 1028">
                        <a:extLst>
                          <a:ext uri="{FF2B5EF4-FFF2-40B4-BE49-F238E27FC236}">
                            <a16:creationId xmlns:a16="http://schemas.microsoft.com/office/drawing/2014/main" id="{746895AA-48CD-B927-ADC6-04746C08B6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7268" y="2008187"/>
                        <a:ext cx="7637463" cy="284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8" name="Text Box 3">
            <a:extLst>
              <a:ext uri="{FF2B5EF4-FFF2-40B4-BE49-F238E27FC236}">
                <a16:creationId xmlns:a16="http://schemas.microsoft.com/office/drawing/2014/main" id="{2B2C199F-99FE-8422-DFC0-B24008B84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2676" y="5004532"/>
            <a:ext cx="2819400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Arial" panose="020B0604020202020204" pitchFamily="34" charset="0"/>
                <a:ea typeface="新細明體" panose="02020500000000000000" pitchFamily="18" charset="-120"/>
                <a:cs typeface="Arial Unicode MS" pitchFamily="34" charset="-120"/>
              </a:rPr>
              <a:t>1 if </a:t>
            </a:r>
            <a:r>
              <a:rPr lang="en-US" altLang="zh-TW" sz="2400">
                <a:solidFill>
                  <a:schemeClr val="folHlink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 Unicode MS" pitchFamily="34" charset="-120"/>
              </a:rPr>
              <a:t>play</a:t>
            </a:r>
            <a:r>
              <a:rPr lang="en-US" altLang="zh-TW" sz="2400">
                <a:latin typeface="Arial" panose="020B0604020202020204" pitchFamily="34" charset="0"/>
                <a:ea typeface="新細明體" panose="02020500000000000000" pitchFamily="18" charset="-120"/>
                <a:cs typeface="Arial Unicode MS" pitchFamily="34" charset="-120"/>
              </a:rPr>
              <a:t> contains </a:t>
            </a:r>
            <a:r>
              <a:rPr lang="en-US" altLang="zh-TW" sz="2400">
                <a:solidFill>
                  <a:srgbClr val="990033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 Unicode MS" pitchFamily="34" charset="-120"/>
              </a:rPr>
              <a:t>word</a:t>
            </a:r>
            <a:r>
              <a:rPr lang="en-US" altLang="zh-TW" sz="2400">
                <a:latin typeface="Arial" panose="020B0604020202020204" pitchFamily="34" charset="0"/>
                <a:ea typeface="新細明體" panose="02020500000000000000" pitchFamily="18" charset="-120"/>
                <a:cs typeface="Arial Unicode MS" pitchFamily="34" charset="-120"/>
              </a:rPr>
              <a:t>, 0 otherwise</a:t>
            </a:r>
          </a:p>
        </p:txBody>
      </p:sp>
      <p:sp>
        <p:nvSpPr>
          <p:cNvPr id="21509" name="Line 5">
            <a:extLst>
              <a:ext uri="{FF2B5EF4-FFF2-40B4-BE49-F238E27FC236}">
                <a16:creationId xmlns:a16="http://schemas.microsoft.com/office/drawing/2014/main" id="{79DA5BF2-532A-0033-CD7B-DC5D0B1564E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848600" y="3053494"/>
            <a:ext cx="1371600" cy="1828800"/>
          </a:xfrm>
          <a:prstGeom prst="line">
            <a:avLst/>
          </a:prstGeom>
          <a:noFill/>
          <a:ln w="19050">
            <a:solidFill>
              <a:srgbClr val="00008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0" name="Text Box 8">
            <a:extLst>
              <a:ext uri="{FF2B5EF4-FFF2-40B4-BE49-F238E27FC236}">
                <a16:creationId xmlns:a16="http://schemas.microsoft.com/office/drawing/2014/main" id="{49269E15-5AC5-9132-F47D-66904A897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8725" y="4653695"/>
            <a:ext cx="3978275" cy="7016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b="1" i="1" dirty="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Brutus</a:t>
            </a:r>
            <a:r>
              <a:rPr lang="en-US" altLang="zh-TW" sz="2000" dirty="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 </a:t>
            </a:r>
            <a:r>
              <a:rPr lang="en-US" altLang="zh-TW" sz="2000" i="1" dirty="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AND</a:t>
            </a:r>
            <a:r>
              <a:rPr lang="en-US" altLang="zh-TW" sz="2000" dirty="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 </a:t>
            </a:r>
            <a:r>
              <a:rPr lang="en-US" altLang="zh-TW" sz="2000" b="1" i="1" dirty="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Caesar</a:t>
            </a:r>
            <a:r>
              <a:rPr lang="en-US" altLang="zh-TW" sz="2000" dirty="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 </a:t>
            </a:r>
            <a:r>
              <a:rPr lang="en-US" altLang="zh-TW" sz="2000" i="1" dirty="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BUT</a:t>
            </a:r>
            <a:r>
              <a:rPr lang="en-US" altLang="zh-TW" sz="2000" dirty="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 </a:t>
            </a:r>
            <a:r>
              <a:rPr lang="en-US" altLang="zh-TW" sz="2000" i="1" dirty="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NOT</a:t>
            </a:r>
            <a:r>
              <a:rPr lang="en-US" altLang="zh-TW" sz="2000" dirty="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 </a:t>
            </a:r>
            <a:r>
              <a:rPr lang="en-US" altLang="zh-TW" sz="2000" b="1" i="1" dirty="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Calpurnia</a:t>
            </a:r>
          </a:p>
        </p:txBody>
      </p:sp>
      <p:sp>
        <p:nvSpPr>
          <p:cNvPr id="21511" name="TextBox 6">
            <a:extLst>
              <a:ext uri="{FF2B5EF4-FFF2-40B4-BE49-F238E27FC236}">
                <a16:creationId xmlns:a16="http://schemas.microsoft.com/office/drawing/2014/main" id="{E14F5425-4058-FBC5-1E65-085B18D27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1.1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85C98F4E-088C-977D-7CAE-EF0068FEB4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18297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Incidence vectors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B602D923-90DA-092E-A585-BB6CA1BE01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So we have a 0/1 vector for each term.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To answer query: take the vectors for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Brutus, Caesar</a:t>
            </a:r>
            <a:r>
              <a:rPr lang="en-US" altLang="zh-TW" dirty="0">
                <a:ea typeface="ＭＳ Ｐゴシック" panose="020B0600070205080204" pitchFamily="34" charset="-128"/>
              </a:rPr>
              <a:t> and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Calpurnia</a:t>
            </a:r>
            <a:r>
              <a:rPr lang="en-US" altLang="zh-TW" dirty="0">
                <a:ea typeface="ＭＳ Ｐゴシック" panose="020B0600070205080204" pitchFamily="34" charset="-128"/>
              </a:rPr>
              <a:t> (complemented) </a:t>
            </a:r>
            <a:r>
              <a:rPr lang="en-US" altLang="zh-TW" dirty="0">
                <a:ea typeface="ＭＳ Ｐゴシック" panose="020B0600070205080204" pitchFamily="34" charset="-128"/>
                <a:sym typeface="Wingdings" panose="05000000000000000000" pitchFamily="2" charset="2"/>
              </a:rPr>
              <a:t>  b</a:t>
            </a:r>
            <a:r>
              <a:rPr lang="en-US" altLang="zh-TW" dirty="0">
                <a:ea typeface="ＭＳ Ｐゴシック" panose="020B0600070205080204" pitchFamily="34" charset="-128"/>
              </a:rPr>
              <a:t>itwise </a:t>
            </a:r>
            <a:r>
              <a:rPr lang="en-US" altLang="zh-TW" i="1" dirty="0">
                <a:ea typeface="ＭＳ Ｐゴシック" panose="020B0600070205080204" pitchFamily="34" charset="-128"/>
              </a:rPr>
              <a:t>AND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110100 </a:t>
            </a:r>
            <a:r>
              <a:rPr lang="en-US" altLang="zh-TW" i="1" dirty="0">
                <a:ea typeface="ＭＳ Ｐゴシック" panose="020B0600070205080204" pitchFamily="34" charset="-128"/>
              </a:rPr>
              <a:t>AND</a:t>
            </a:r>
            <a:r>
              <a:rPr lang="en-US" altLang="zh-TW" dirty="0">
                <a:ea typeface="ＭＳ Ｐゴシック" panose="020B0600070205080204" pitchFamily="34" charset="-128"/>
              </a:rPr>
              <a:t> 110111 </a:t>
            </a:r>
            <a:r>
              <a:rPr lang="en-US" altLang="zh-TW" i="1" dirty="0">
                <a:ea typeface="ＭＳ Ｐゴシック" panose="020B0600070205080204" pitchFamily="34" charset="-128"/>
              </a:rPr>
              <a:t>AND</a:t>
            </a:r>
            <a:r>
              <a:rPr lang="en-US" altLang="zh-TW" dirty="0">
                <a:ea typeface="ＭＳ Ｐゴシック" panose="020B0600070205080204" pitchFamily="34" charset="-128"/>
              </a:rPr>
              <a:t> 101111 = 100100. </a:t>
            </a:r>
          </a:p>
        </p:txBody>
      </p:sp>
      <p:sp>
        <p:nvSpPr>
          <p:cNvPr id="23556" name="Slide Number Placeholder 5">
            <a:extLst>
              <a:ext uri="{FF2B5EF4-FFF2-40B4-BE49-F238E27FC236}">
                <a16:creationId xmlns:a16="http://schemas.microsoft.com/office/drawing/2014/main" id="{E75F6C39-B146-0DFF-27A1-30F039388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75909FC-C705-47AF-A4AD-C541E9C70D7B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sp>
        <p:nvSpPr>
          <p:cNvPr id="23557" name="TextBox 4">
            <a:extLst>
              <a:ext uri="{FF2B5EF4-FFF2-40B4-BE49-F238E27FC236}">
                <a16:creationId xmlns:a16="http://schemas.microsoft.com/office/drawing/2014/main" id="{5C0751AE-29BD-1F34-032F-F8403B771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1.1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AD835CD-7665-E71A-A6D6-755852ACB5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770672"/>
          </a:xfrm>
        </p:spPr>
        <p:txBody>
          <a:bodyPr/>
          <a:lstStyle/>
          <a:p>
            <a:pPr eaLnBrk="1" hangingPunct="1"/>
            <a:r>
              <a:rPr lang="en-US" altLang="zh-TW" sz="36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Basic assumptions of Information Retrieval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75560416-6179-F42A-D3A4-3528A97C25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357E69"/>
                </a:solidFill>
                <a:ea typeface="ＭＳ Ｐゴシック" panose="020B0600070205080204" pitchFamily="34" charset="-128"/>
              </a:rPr>
              <a:t> Collection</a:t>
            </a:r>
            <a:r>
              <a:rPr lang="en-US" altLang="zh-TW" dirty="0">
                <a:ea typeface="ＭＳ Ｐゴシック" panose="020B0600070205080204" pitchFamily="34" charset="-128"/>
              </a:rPr>
              <a:t>: Fixed set of documents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357E69"/>
                </a:solidFill>
                <a:ea typeface="ＭＳ Ｐゴシック" panose="020B0600070205080204" pitchFamily="34" charset="-128"/>
              </a:rPr>
              <a:t> Goal</a:t>
            </a:r>
            <a:r>
              <a:rPr lang="en-US" altLang="zh-TW" dirty="0">
                <a:ea typeface="ＭＳ Ｐゴシック" panose="020B0600070205080204" pitchFamily="34" charset="-128"/>
              </a:rPr>
              <a:t>: Retrieve documents with information that is </a:t>
            </a:r>
            <a:r>
              <a:rPr lang="en-US" altLang="zh-TW" u="sng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relevant</a:t>
            </a:r>
            <a:r>
              <a:rPr lang="en-US" altLang="zh-TW" dirty="0">
                <a:ea typeface="ＭＳ Ｐゴシック" panose="020B0600070205080204" pitchFamily="34" charset="-128"/>
              </a:rPr>
              <a:t> to the user’s 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information need</a:t>
            </a:r>
            <a:r>
              <a:rPr lang="en-US" altLang="zh-TW" dirty="0">
                <a:solidFill>
                  <a:schemeClr val="hlink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rgbClr val="0D0D0D"/>
                </a:solidFill>
                <a:ea typeface="ＭＳ Ｐゴシック" panose="020B0600070205080204" pitchFamily="34" charset="-128"/>
              </a:rPr>
              <a:t>and helps the user complete a </a:t>
            </a:r>
            <a:r>
              <a:rPr lang="en-US" altLang="zh-TW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task</a:t>
            </a:r>
          </a:p>
        </p:txBody>
      </p:sp>
      <p:sp>
        <p:nvSpPr>
          <p:cNvPr id="27652" name="Slide Number Placeholder 5">
            <a:extLst>
              <a:ext uri="{FF2B5EF4-FFF2-40B4-BE49-F238E27FC236}">
                <a16:creationId xmlns:a16="http://schemas.microsoft.com/office/drawing/2014/main" id="{D405F49A-E2E2-A408-DA9C-38DC42EC7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A74661C-AA68-488D-9475-FF2D1574EF59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sp>
        <p:nvSpPr>
          <p:cNvPr id="27653" name="TextBox 5">
            <a:extLst>
              <a:ext uri="{FF2B5EF4-FFF2-40B4-BE49-F238E27FC236}">
                <a16:creationId xmlns:a16="http://schemas.microsoft.com/office/drawing/2014/main" id="{0FB6BDE2-8E71-77C3-1042-BABBA41A7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1.1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E0561D4F-1F18-6E88-0523-07FB56B60D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807186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The classic search model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E6E52BA-CDA2-47BD-48A5-E6FBFAA329CB}"/>
              </a:ext>
            </a:extLst>
          </p:cNvPr>
          <p:cNvGrpSpPr/>
          <p:nvPr/>
        </p:nvGrpSpPr>
        <p:grpSpPr>
          <a:xfrm>
            <a:off x="1654890" y="1758951"/>
            <a:ext cx="8943179" cy="4562076"/>
            <a:chOff x="1688306" y="1587501"/>
            <a:chExt cx="8943179" cy="4562076"/>
          </a:xfrm>
        </p:grpSpPr>
        <p:sp>
          <p:nvSpPr>
            <p:cNvPr id="29699" name="Line 3">
              <a:extLst>
                <a:ext uri="{FF2B5EF4-FFF2-40B4-BE49-F238E27FC236}">
                  <a16:creationId xmlns:a16="http://schemas.microsoft.com/office/drawing/2014/main" id="{E907941D-3388-10AD-F9F6-8AD6ECB08C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2600" y="5761039"/>
              <a:ext cx="0" cy="23812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 type="triangle" w="med" len="med"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9700" name="AutoShape 4">
              <a:extLst>
                <a:ext uri="{FF2B5EF4-FFF2-40B4-BE49-F238E27FC236}">
                  <a16:creationId xmlns:a16="http://schemas.microsoft.com/office/drawing/2014/main" id="{4FF30EB6-30E5-1470-4B1C-66959255F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5770" y="5555059"/>
              <a:ext cx="1406526" cy="475455"/>
            </a:xfrm>
            <a:prstGeom prst="flowChartMultidocument">
              <a:avLst/>
            </a:prstGeom>
            <a:solidFill>
              <a:srgbClr val="7CA8D4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0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400" b="1" dirty="0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Corpus</a:t>
              </a:r>
            </a:p>
          </p:txBody>
        </p:sp>
        <p:sp>
          <p:nvSpPr>
            <p:cNvPr id="29701" name="Oval 5">
              <a:extLst>
                <a:ext uri="{FF2B5EF4-FFF2-40B4-BE49-F238E27FC236}">
                  <a16:creationId xmlns:a16="http://schemas.microsoft.com/office/drawing/2014/main" id="{8189813D-3C38-3BC0-0C26-681245C48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3927" y="1587501"/>
              <a:ext cx="1441448" cy="519113"/>
            </a:xfrm>
            <a:prstGeom prst="ellipse">
              <a:avLst/>
            </a:prstGeom>
            <a:solidFill>
              <a:srgbClr val="7CA8D4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 anchor="ctr" anchorCtr="0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400" b="1" dirty="0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TASK</a:t>
              </a:r>
            </a:p>
          </p:txBody>
        </p:sp>
        <p:sp>
          <p:nvSpPr>
            <p:cNvPr id="29702" name="Oval 6">
              <a:extLst>
                <a:ext uri="{FF2B5EF4-FFF2-40B4-BE49-F238E27FC236}">
                  <a16:creationId xmlns:a16="http://schemas.microsoft.com/office/drawing/2014/main" id="{314234B0-0006-3DF3-0264-BD00923E5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2970" y="2373314"/>
              <a:ext cx="1529556" cy="558801"/>
            </a:xfrm>
            <a:prstGeom prst="ellipse">
              <a:avLst/>
            </a:prstGeom>
            <a:solidFill>
              <a:srgbClr val="7CA8D4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 anchor="ctr" anchorCtr="0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TW" altLang="en-US" sz="1400" b="1" dirty="0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 </a:t>
              </a:r>
              <a:r>
                <a:rPr lang="en-US" altLang="zh-TW" sz="1400" b="1" dirty="0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Info Need</a:t>
              </a:r>
            </a:p>
          </p:txBody>
        </p:sp>
        <p:sp>
          <p:nvSpPr>
            <p:cNvPr id="29703" name="AutoShape 7">
              <a:extLst>
                <a:ext uri="{FF2B5EF4-FFF2-40B4-BE49-F238E27FC236}">
                  <a16:creationId xmlns:a16="http://schemas.microsoft.com/office/drawing/2014/main" id="{B40C054B-867D-0464-557D-688F041F2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7563" y="4033838"/>
              <a:ext cx="1617663" cy="641350"/>
            </a:xfrm>
            <a:prstGeom prst="flowChartManualInput">
              <a:avLst/>
            </a:prstGeom>
            <a:solidFill>
              <a:srgbClr val="7CA8D4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0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400" b="1" dirty="0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Query</a:t>
              </a:r>
            </a:p>
          </p:txBody>
        </p:sp>
        <p:sp>
          <p:nvSpPr>
            <p:cNvPr id="29704" name="Oval 8">
              <a:extLst>
                <a:ext uri="{FF2B5EF4-FFF2-40B4-BE49-F238E27FC236}">
                  <a16:creationId xmlns:a16="http://schemas.microsoft.com/office/drawing/2014/main" id="{318C13AD-C976-226B-41DD-743BF11F0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2176" y="3181353"/>
              <a:ext cx="1529556" cy="592932"/>
            </a:xfrm>
            <a:prstGeom prst="ellipse">
              <a:avLst/>
            </a:prstGeom>
            <a:solidFill>
              <a:srgbClr val="7CA8D4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 anchor="ctr" anchorCtr="0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TW" altLang="en-US" sz="1400" b="1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 </a:t>
              </a:r>
              <a:r>
                <a:rPr lang="en-US" altLang="zh-TW" sz="1400" b="1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Verbal form</a:t>
              </a:r>
            </a:p>
          </p:txBody>
        </p:sp>
        <p:sp>
          <p:nvSpPr>
            <p:cNvPr id="29705" name="Line 9">
              <a:extLst>
                <a:ext uri="{FF2B5EF4-FFF2-40B4-BE49-F238E27FC236}">
                  <a16:creationId xmlns:a16="http://schemas.microsoft.com/office/drawing/2014/main" id="{35FCC123-5077-5C17-9188-339D36DA88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5763" y="2122489"/>
              <a:ext cx="0" cy="25082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6" name="Line 10">
              <a:extLst>
                <a:ext uri="{FF2B5EF4-FFF2-40B4-BE49-F238E27FC236}">
                  <a16:creationId xmlns:a16="http://schemas.microsoft.com/office/drawing/2014/main" id="{2FE3EB1D-5912-534B-6274-F4298FAD20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1001" y="3782219"/>
              <a:ext cx="0" cy="3190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7" name="Line 11">
              <a:extLst>
                <a:ext uri="{FF2B5EF4-FFF2-40B4-BE49-F238E27FC236}">
                  <a16:creationId xmlns:a16="http://schemas.microsoft.com/office/drawing/2014/main" id="{49DBC0E4-63F5-4210-FA93-347CBCEB8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5763" y="2936877"/>
              <a:ext cx="0" cy="2603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8" name="AutoShape 12">
              <a:extLst>
                <a:ext uri="{FF2B5EF4-FFF2-40B4-BE49-F238E27FC236}">
                  <a16:creationId xmlns:a16="http://schemas.microsoft.com/office/drawing/2014/main" id="{A427DF58-1F82-FB64-9A78-CD8967AA4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6130" y="5674122"/>
              <a:ext cx="1617663" cy="475455"/>
            </a:xfrm>
            <a:prstGeom prst="flowChartTerminator">
              <a:avLst/>
            </a:prstGeom>
            <a:solidFill>
              <a:srgbClr val="7CA8D4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0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400" b="1" dirty="0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Results</a:t>
              </a:r>
            </a:p>
          </p:txBody>
        </p:sp>
        <p:sp>
          <p:nvSpPr>
            <p:cNvPr id="29709" name="AutoShape 13">
              <a:extLst>
                <a:ext uri="{FF2B5EF4-FFF2-40B4-BE49-F238E27FC236}">
                  <a16:creationId xmlns:a16="http://schemas.microsoft.com/office/drawing/2014/main" id="{B82EDB0A-8A0B-DCA0-8974-4805AC352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24" y="4960542"/>
              <a:ext cx="1482726" cy="475455"/>
            </a:xfrm>
            <a:prstGeom prst="flowChartProcess">
              <a:avLst/>
            </a:prstGeom>
            <a:solidFill>
              <a:srgbClr val="7CA8D4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0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400" b="1" dirty="0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SEARCH</a:t>
              </a:r>
              <a:br>
                <a:rPr lang="en-US" altLang="zh-TW" sz="1400" b="1" dirty="0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</a:br>
              <a:r>
                <a:rPr lang="en-US" altLang="zh-TW" sz="1400" b="1" dirty="0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ENGINE</a:t>
              </a:r>
            </a:p>
          </p:txBody>
        </p:sp>
        <p:sp>
          <p:nvSpPr>
            <p:cNvPr id="29710" name="Oval 14">
              <a:extLst>
                <a:ext uri="{FF2B5EF4-FFF2-40B4-BE49-F238E27FC236}">
                  <a16:creationId xmlns:a16="http://schemas.microsoft.com/office/drawing/2014/main" id="{B67F40D5-C214-499E-B504-D961142FE0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8306" y="5391150"/>
              <a:ext cx="1617664" cy="533399"/>
            </a:xfrm>
            <a:prstGeom prst="ellipse">
              <a:avLst/>
            </a:prstGeom>
            <a:solidFill>
              <a:srgbClr val="7CA8D4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 anchor="ctr" anchorCtr="0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400" b="1" dirty="0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Query</a:t>
              </a:r>
              <a:br>
                <a:rPr lang="en-US" altLang="zh-TW" sz="1400" b="1" dirty="0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</a:br>
              <a:r>
                <a:rPr lang="en-US" altLang="zh-TW" sz="1400" b="1" dirty="0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Refinement </a:t>
              </a:r>
            </a:p>
          </p:txBody>
        </p:sp>
        <p:sp>
          <p:nvSpPr>
            <p:cNvPr id="29711" name="Line 15">
              <a:extLst>
                <a:ext uri="{FF2B5EF4-FFF2-40B4-BE49-F238E27FC236}">
                  <a16:creationId xmlns:a16="http://schemas.microsoft.com/office/drawing/2014/main" id="{B604E333-162C-AFFF-8CBE-A91DFE8A28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0200" y="4685508"/>
              <a:ext cx="1293812" cy="26511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2" name="Line 16">
              <a:extLst>
                <a:ext uri="{FF2B5EF4-FFF2-40B4-BE49-F238E27FC236}">
                  <a16:creationId xmlns:a16="http://schemas.microsoft.com/office/drawing/2014/main" id="{47447B97-988C-7B11-239C-169EBCF5AB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156324" y="5224461"/>
              <a:ext cx="1482709" cy="33654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3" name="Line 17">
              <a:extLst>
                <a:ext uri="{FF2B5EF4-FFF2-40B4-BE49-F238E27FC236}">
                  <a16:creationId xmlns:a16="http://schemas.microsoft.com/office/drawing/2014/main" id="{112D81E4-E0A1-31B5-0B42-A62AD67793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05970" y="5698333"/>
              <a:ext cx="1305718" cy="2397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4" name="Line 18">
              <a:extLst>
                <a:ext uri="{FF2B5EF4-FFF2-40B4-BE49-F238E27FC236}">
                  <a16:creationId xmlns:a16="http://schemas.microsoft.com/office/drawing/2014/main" id="{06A81545-E680-692E-3D80-907A48561D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7138" y="4386263"/>
              <a:ext cx="0" cy="10048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5" name="Line 19">
              <a:extLst>
                <a:ext uri="{FF2B5EF4-FFF2-40B4-BE49-F238E27FC236}">
                  <a16:creationId xmlns:a16="http://schemas.microsoft.com/office/drawing/2014/main" id="{77EB54CC-545B-1750-BF9D-B5ED10D19D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7138" y="4386263"/>
              <a:ext cx="86042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9716" name="Line 20">
              <a:extLst>
                <a:ext uri="{FF2B5EF4-FFF2-40B4-BE49-F238E27FC236}">
                  <a16:creationId xmlns:a16="http://schemas.microsoft.com/office/drawing/2014/main" id="{63920320-A820-8EA4-CF45-8FD207A8DC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4962" y="5435997"/>
              <a:ext cx="0" cy="23812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54741" name="Text Box 21">
              <a:extLst>
                <a:ext uri="{FF2B5EF4-FFF2-40B4-BE49-F238E27FC236}">
                  <a16:creationId xmlns:a16="http://schemas.microsoft.com/office/drawing/2014/main" id="{9E78EBAF-DFA7-A912-EAB4-71298D5BCA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16804" y="1710676"/>
              <a:ext cx="2951163" cy="701675"/>
            </a:xfrm>
            <a:prstGeom prst="rect">
              <a:avLst/>
            </a:prstGeom>
            <a:solidFill>
              <a:srgbClr val="FFD52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folHlink"/>
                </a:buClr>
                <a:buSzPct val="75000"/>
                <a:buFont typeface="Comic Sans MS" pitchFamily="66" charset="0"/>
                <a:buNone/>
                <a:defRPr/>
              </a:pPr>
              <a:r>
                <a:rPr kumimoji="1" lang="en-US" altLang="zh-TW" sz="2000" dirty="0">
                  <a:solidFill>
                    <a:schemeClr val="tx2"/>
                  </a:solidFill>
                  <a:latin typeface="Times New Roman" pitchFamily="18" charset="0"/>
                  <a:ea typeface="新細明體" pitchFamily="18" charset="-120"/>
                </a:rPr>
                <a:t>Get rid of mice in a politically correct way</a:t>
              </a:r>
              <a:endParaRPr kumimoji="1" lang="en-US" altLang="zh-TW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新細明體" pitchFamily="18" charset="-120"/>
              </a:endParaRPr>
            </a:p>
          </p:txBody>
        </p:sp>
        <p:sp>
          <p:nvSpPr>
            <p:cNvPr id="29718" name="Text Box 22">
              <a:extLst>
                <a:ext uri="{FF2B5EF4-FFF2-40B4-BE49-F238E27FC236}">
                  <a16:creationId xmlns:a16="http://schemas.microsoft.com/office/drawing/2014/main" id="{F3CF7962-D87F-1EA6-0E7D-99A8101591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16803" y="2702678"/>
              <a:ext cx="2951157" cy="614079"/>
            </a:xfrm>
            <a:prstGeom prst="rect">
              <a:avLst/>
            </a:prstGeom>
            <a:solidFill>
              <a:srgbClr val="FFD5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70000"/>
                </a:lnSpc>
                <a:spcBef>
                  <a:spcPct val="50000"/>
                </a:spcBef>
                <a:buClr>
                  <a:schemeClr val="folHlink"/>
                </a:buClr>
                <a:buSzPct val="75000"/>
                <a:buFont typeface="Comic Sans MS" panose="030F0702030302020204" pitchFamily="66" charset="0"/>
                <a:buNone/>
              </a:pPr>
              <a:r>
                <a:rPr kumimoji="1" lang="en-US" altLang="zh-TW" sz="2000" dirty="0">
                  <a:solidFill>
                    <a:schemeClr val="tx2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Info about removing mice</a:t>
              </a:r>
            </a:p>
            <a:p>
              <a:pPr>
                <a:lnSpc>
                  <a:spcPct val="40000"/>
                </a:lnSpc>
                <a:spcBef>
                  <a:spcPct val="50000"/>
                </a:spcBef>
                <a:buClr>
                  <a:schemeClr val="folHlink"/>
                </a:buClr>
                <a:buSzPct val="75000"/>
                <a:buFont typeface="Comic Sans MS" panose="030F0702030302020204" pitchFamily="66" charset="0"/>
                <a:buNone/>
              </a:pPr>
              <a:r>
                <a:rPr kumimoji="1" lang="en-US" altLang="zh-TW" sz="2000" dirty="0">
                  <a:solidFill>
                    <a:schemeClr val="tx2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without killing them </a:t>
              </a:r>
            </a:p>
          </p:txBody>
        </p:sp>
        <p:sp>
          <p:nvSpPr>
            <p:cNvPr id="1054743" name="Text Box 23">
              <a:extLst>
                <a:ext uri="{FF2B5EF4-FFF2-40B4-BE49-F238E27FC236}">
                  <a16:creationId xmlns:a16="http://schemas.microsoft.com/office/drawing/2014/main" id="{09C0DEB7-D962-9F94-53DE-8F3E215A46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13622" y="3669957"/>
              <a:ext cx="2954337" cy="396875"/>
            </a:xfrm>
            <a:prstGeom prst="rect">
              <a:avLst/>
            </a:prstGeom>
            <a:solidFill>
              <a:srgbClr val="FFD52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folHlink"/>
                </a:buClr>
                <a:buSzPct val="75000"/>
                <a:buFont typeface="Comic Sans MS" pitchFamily="66" charset="0"/>
                <a:buNone/>
                <a:defRPr/>
              </a:pPr>
              <a:r>
                <a:rPr kumimoji="1" lang="zh-TW" altLang="en-US" sz="200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新細明體" pitchFamily="18" charset="-120"/>
                </a:rPr>
                <a:t> </a:t>
              </a:r>
              <a:r>
                <a:rPr kumimoji="1" lang="en-US" altLang="zh-TW" sz="2000">
                  <a:solidFill>
                    <a:schemeClr val="tx2"/>
                  </a:solidFill>
                  <a:latin typeface="Times New Roman" pitchFamily="18" charset="0"/>
                  <a:ea typeface="新細明體" pitchFamily="18" charset="-120"/>
                </a:rPr>
                <a:t>How do I trap mice alive?</a:t>
              </a:r>
              <a:endParaRPr kumimoji="1" lang="en-US" altLang="zh-TW" sz="2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新細明體" pitchFamily="18" charset="-120"/>
              </a:endParaRPr>
            </a:p>
          </p:txBody>
        </p:sp>
        <p:pic>
          <p:nvPicPr>
            <p:cNvPr id="29720" name="Picture 24" descr="search_lg">
              <a:extLst>
                <a:ext uri="{FF2B5EF4-FFF2-40B4-BE49-F238E27FC236}">
                  <a16:creationId xmlns:a16="http://schemas.microsoft.com/office/drawing/2014/main" id="{D666E700-37F3-F74A-C154-9D8F21623D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524" t="-3798"/>
            <a:stretch>
              <a:fillRect/>
            </a:stretch>
          </p:blipFill>
          <p:spPr bwMode="auto">
            <a:xfrm>
              <a:off x="7077073" y="4472380"/>
              <a:ext cx="3554412" cy="958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721" name="Text Box 25">
              <a:extLst>
                <a:ext uri="{FF2B5EF4-FFF2-40B4-BE49-F238E27FC236}">
                  <a16:creationId xmlns:a16="http://schemas.microsoft.com/office/drawing/2014/main" id="{6B964B7E-E164-72C4-8EBA-FA3027059C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93039" y="4593433"/>
              <a:ext cx="14065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chemeClr val="folHlink"/>
                </a:buClr>
                <a:buSzPct val="75000"/>
                <a:buFont typeface="Comic Sans MS" panose="030F0702030302020204" pitchFamily="66" charset="0"/>
                <a:buNone/>
              </a:pPr>
              <a:r>
                <a:rPr kumimoji="1" lang="en-US" altLang="zh-TW" sz="1600" b="1" dirty="0">
                  <a:solidFill>
                    <a:schemeClr val="tx2"/>
                  </a:solidFill>
                  <a:latin typeface="Courier New" panose="02070309020205020404" pitchFamily="49" charset="0"/>
                  <a:ea typeface="新細明體" panose="02020500000000000000" pitchFamily="18" charset="-120"/>
                  <a:cs typeface="Arial Unicode MS" pitchFamily="34" charset="-120"/>
                </a:rPr>
                <a:t>mouse trap</a:t>
              </a:r>
              <a:endParaRPr kumimoji="1" lang="en-US" altLang="zh-TW" dirty="0">
                <a:solidFill>
                  <a:schemeClr val="tx2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 Unicode MS" pitchFamily="34" charset="-120"/>
              </a:endParaRPr>
            </a:p>
          </p:txBody>
        </p:sp>
        <p:cxnSp>
          <p:nvCxnSpPr>
            <p:cNvPr id="29725" name="AutoShape 29">
              <a:extLst>
                <a:ext uri="{FF2B5EF4-FFF2-40B4-BE49-F238E27FC236}">
                  <a16:creationId xmlns:a16="http://schemas.microsoft.com/office/drawing/2014/main" id="{07816215-17B7-DBAE-D5B5-3869ED0E395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398964" y="2357438"/>
              <a:ext cx="250825" cy="0"/>
            </a:xfrm>
            <a:prstGeom prst="straightConnector1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 type="triangle" w="med" len="med"/>
                </a14:hiddenLine>
              </a:ext>
            </a:extLst>
          </p:spPr>
        </p:cxnSp>
        <p:sp>
          <p:nvSpPr>
            <p:cNvPr id="29735" name="Text Box 31">
              <a:extLst>
                <a:ext uri="{FF2B5EF4-FFF2-40B4-BE49-F238E27FC236}">
                  <a16:creationId xmlns:a16="http://schemas.microsoft.com/office/drawing/2014/main" id="{CE197736-2ED0-1D36-7617-555E5BA3C5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5240" y="2032401"/>
              <a:ext cx="1789113" cy="369887"/>
            </a:xfrm>
            <a:prstGeom prst="rect">
              <a:avLst/>
            </a:prstGeom>
            <a:solidFill>
              <a:srgbClr val="88F29C"/>
            </a:solidFill>
            <a:ln w="28575">
              <a:solidFill>
                <a:srgbClr val="98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chemeClr val="folHlink"/>
                </a:buClr>
                <a:buSzPct val="75000"/>
                <a:buFont typeface="Comic Sans MS" panose="030F0702030302020204" pitchFamily="66" charset="0"/>
                <a:buNone/>
              </a:pPr>
              <a:r>
                <a:rPr kumimoji="1" lang="en-US" altLang="zh-TW" sz="1800">
                  <a:solidFill>
                    <a:srgbClr val="980000"/>
                  </a:solidFill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Misconception?</a:t>
              </a:r>
              <a:endParaRPr kumimoji="1" lang="en-US" altLang="zh-TW">
                <a:solidFill>
                  <a:srgbClr val="9800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 Unicode MS" pitchFamily="34" charset="-120"/>
              </a:endParaRPr>
            </a:p>
          </p:txBody>
        </p:sp>
        <p:sp>
          <p:nvSpPr>
            <p:cNvPr id="29732" name="Text Box 35">
              <a:extLst>
                <a:ext uri="{FF2B5EF4-FFF2-40B4-BE49-F238E27FC236}">
                  <a16:creationId xmlns:a16="http://schemas.microsoft.com/office/drawing/2014/main" id="{71235AB9-1F77-763E-2DF6-A7E02E7DD4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0965" y="2871592"/>
              <a:ext cx="1793875" cy="369887"/>
            </a:xfrm>
            <a:prstGeom prst="rect">
              <a:avLst/>
            </a:prstGeom>
            <a:solidFill>
              <a:srgbClr val="88F29C"/>
            </a:solidFill>
            <a:ln w="28575">
              <a:solidFill>
                <a:srgbClr val="98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chemeClr val="folHlink"/>
                </a:buClr>
                <a:buSzPct val="75000"/>
                <a:buFont typeface="Comic Sans MS" panose="030F0702030302020204" pitchFamily="66" charset="0"/>
                <a:buNone/>
              </a:pPr>
              <a:r>
                <a:rPr kumimoji="1" lang="en-US" altLang="zh-TW" sz="1800">
                  <a:solidFill>
                    <a:srgbClr val="980000"/>
                  </a:solidFill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Mistranslation?</a:t>
              </a:r>
              <a:endParaRPr kumimoji="1" lang="en-US" altLang="zh-TW">
                <a:solidFill>
                  <a:srgbClr val="9800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 Unicode MS" pitchFamily="34" charset="-120"/>
              </a:endParaRPr>
            </a:p>
          </p:txBody>
        </p:sp>
        <p:sp>
          <p:nvSpPr>
            <p:cNvPr id="29729" name="Text Box 39">
              <a:extLst>
                <a:ext uri="{FF2B5EF4-FFF2-40B4-BE49-F238E27FC236}">
                  <a16:creationId xmlns:a16="http://schemas.microsoft.com/office/drawing/2014/main" id="{15B5473D-F7B7-6023-5834-C3A4CDC808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9840" y="3752758"/>
              <a:ext cx="1814513" cy="369888"/>
            </a:xfrm>
            <a:prstGeom prst="rect">
              <a:avLst/>
            </a:prstGeom>
            <a:solidFill>
              <a:srgbClr val="88F29C"/>
            </a:solidFill>
            <a:ln w="28575">
              <a:solidFill>
                <a:srgbClr val="98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chemeClr val="folHlink"/>
                </a:buClr>
                <a:buSzPct val="75000"/>
                <a:buFont typeface="Comic Sans MS" panose="030F0702030302020204" pitchFamily="66" charset="0"/>
                <a:buNone/>
              </a:pPr>
              <a:r>
                <a:rPr kumimoji="1" lang="en-US" altLang="zh-TW" sz="1800">
                  <a:solidFill>
                    <a:srgbClr val="980000"/>
                  </a:solidFill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Misformulation?</a:t>
              </a:r>
              <a:endParaRPr kumimoji="1" lang="en-US" altLang="zh-TW">
                <a:solidFill>
                  <a:srgbClr val="9800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 Unicode MS" pitchFamily="34" charset="-120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7A55F47-893A-FB11-4369-EC7A3AEDBC1D}"/>
                </a:ext>
              </a:extLst>
            </p:cNvPr>
            <p:cNvCxnSpPr>
              <a:stCxn id="1054741" idx="2"/>
              <a:endCxn id="29718" idx="0"/>
            </p:cNvCxnSpPr>
            <p:nvPr/>
          </p:nvCxnSpPr>
          <p:spPr>
            <a:xfrm flipH="1">
              <a:off x="8892382" y="2412351"/>
              <a:ext cx="4" cy="29032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F87334F-B786-DA12-71F1-79B034CBCF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06875" y="2217344"/>
              <a:ext cx="968365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: Elbow 12">
              <a:extLst>
                <a:ext uri="{FF2B5EF4-FFF2-40B4-BE49-F238E27FC236}">
                  <a16:creationId xmlns:a16="http://schemas.microsoft.com/office/drawing/2014/main" id="{E9B95A6B-FE3A-F56D-CF5B-E2E0336244F9}"/>
                </a:ext>
              </a:extLst>
            </p:cNvPr>
            <p:cNvCxnSpPr>
              <a:stCxn id="29735" idx="3"/>
            </p:cNvCxnSpPr>
            <p:nvPr/>
          </p:nvCxnSpPr>
          <p:spPr>
            <a:xfrm>
              <a:off x="6964353" y="2217345"/>
              <a:ext cx="1928028" cy="340169"/>
            </a:xfrm>
            <a:prstGeom prst="bentConnector3">
              <a:avLst>
                <a:gd name="adj1" fmla="val 13936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5FA8A2C-E0B0-F3CF-8600-0AB809CC40B1}"/>
                </a:ext>
              </a:extLst>
            </p:cNvPr>
            <p:cNvCxnSpPr>
              <a:stCxn id="29718" idx="2"/>
              <a:endCxn id="1054743" idx="0"/>
            </p:cNvCxnSpPr>
            <p:nvPr/>
          </p:nvCxnSpPr>
          <p:spPr>
            <a:xfrm flipH="1">
              <a:off x="8890791" y="3316757"/>
              <a:ext cx="1591" cy="3532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2B9CAF0-9965-A951-6AF6-FBA3B8FCBB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85444" y="3056536"/>
              <a:ext cx="994571" cy="99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F0B8CF98-A1B5-0121-5A16-9064A23A466D}"/>
                </a:ext>
              </a:extLst>
            </p:cNvPr>
            <p:cNvCxnSpPr>
              <a:cxnSpLocks/>
              <a:stCxn id="29732" idx="3"/>
            </p:cNvCxnSpPr>
            <p:nvPr/>
          </p:nvCxnSpPr>
          <p:spPr>
            <a:xfrm>
              <a:off x="6954840" y="3056536"/>
              <a:ext cx="1935950" cy="421283"/>
            </a:xfrm>
            <a:prstGeom prst="bentConnector3">
              <a:avLst>
                <a:gd name="adj1" fmla="val 14576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DAAE37A-9E2F-75C1-92F7-34DEB3D42C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0790" y="4076357"/>
              <a:ext cx="1" cy="45040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D2A7DD29-CC91-1908-78F8-D028E9A74D17}"/>
                </a:ext>
              </a:extLst>
            </p:cNvPr>
            <p:cNvCxnSpPr>
              <a:stCxn id="29729" idx="1"/>
            </p:cNvCxnSpPr>
            <p:nvPr/>
          </p:nvCxnSpPr>
          <p:spPr>
            <a:xfrm flipH="1">
              <a:off x="4191001" y="3937702"/>
              <a:ext cx="958839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83876E81-3BA6-4B62-6C99-A02FE36E77C2}"/>
                </a:ext>
              </a:extLst>
            </p:cNvPr>
            <p:cNvCxnSpPr>
              <a:cxnSpLocks/>
              <a:stCxn id="29729" idx="3"/>
            </p:cNvCxnSpPr>
            <p:nvPr/>
          </p:nvCxnSpPr>
          <p:spPr>
            <a:xfrm>
              <a:off x="6964353" y="3937702"/>
              <a:ext cx="1926437" cy="393049"/>
            </a:xfrm>
            <a:prstGeom prst="bentConnector3">
              <a:avLst>
                <a:gd name="adj1" fmla="val 15389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6E0D26D-1CDB-DEEE-A874-B117092DC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915211A4-CCF5-F74A-FABE-5178F8EFA9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807186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The modern search model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9F1A437-77B6-B655-5468-31102561E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1644" y="1764572"/>
            <a:ext cx="8188712" cy="4415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1853625"/>
      </p:ext>
    </p:extLst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A2E686B7-C7CB-C753-C3E0-E856FFB41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84972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How good are the retrieved docs?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717BB977-6212-636D-9CAF-ADB7B0F36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139CB7"/>
                </a:solidFill>
                <a:ea typeface="ＭＳ Ｐゴシック" panose="020B0600070205080204" pitchFamily="34" charset="-128"/>
              </a:rPr>
              <a:t> Precision </a:t>
            </a:r>
            <a:r>
              <a:rPr lang="en-US" altLang="zh-TW" dirty="0">
                <a:ea typeface="ＭＳ Ｐゴシック" panose="020B0600070205080204" pitchFamily="34" charset="-128"/>
              </a:rPr>
              <a:t>: Fraction of retrieved docs that are relevant to user’s information need</a:t>
            </a:r>
          </a:p>
          <a:p>
            <a:pPr algn="just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139CB7"/>
                </a:solidFill>
                <a:ea typeface="ＭＳ Ｐゴシック" panose="020B0600070205080204" pitchFamily="34" charset="-128"/>
              </a:rPr>
              <a:t> Recall </a:t>
            </a:r>
            <a:r>
              <a:rPr lang="en-US" altLang="zh-TW" dirty="0">
                <a:ea typeface="ＭＳ Ｐゴシック" panose="020B0600070205080204" pitchFamily="34" charset="-128"/>
              </a:rPr>
              <a:t>: Fraction of relevant docs in collection that are retrieved.</a:t>
            </a:r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035E04E1-4E02-1539-6C00-BDDCD9DC6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EF50A0C-7423-41C1-AF75-E6EABF7F482C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sp>
        <p:nvSpPr>
          <p:cNvPr id="31749" name="TextBox 4">
            <a:extLst>
              <a:ext uri="{FF2B5EF4-FFF2-40B4-BE49-F238E27FC236}">
                <a16:creationId xmlns:a16="http://schemas.microsoft.com/office/drawing/2014/main" id="{EDCC9F65-421E-15A3-372D-3AF94148F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1.1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E8D04807-B2C1-666B-142D-0AF71E4A6E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18297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Bigger collections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4FBDE0E5-CE4B-7753-B122-16DBD2BE1F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Consider </a:t>
            </a:r>
            <a:r>
              <a:rPr lang="en-US" altLang="zh-TW" i="1" dirty="0">
                <a:ea typeface="ＭＳ Ｐゴシック" panose="020B0600070205080204" pitchFamily="34" charset="-128"/>
              </a:rPr>
              <a:t>N </a:t>
            </a:r>
            <a:r>
              <a:rPr lang="en-US" altLang="zh-TW" dirty="0">
                <a:ea typeface="ＭＳ Ｐゴシック" panose="020B0600070205080204" pitchFamily="34" charset="-128"/>
              </a:rPr>
              <a:t>= 1 million documents, each with about 1000 words.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Avg 6 bytes/word including spaces/punctuation 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6GB of data in the documents.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Say there are </a:t>
            </a:r>
            <a:r>
              <a:rPr lang="en-US" altLang="zh-TW" i="1" dirty="0">
                <a:ea typeface="ＭＳ Ｐゴシック" panose="020B0600070205080204" pitchFamily="34" charset="-128"/>
              </a:rPr>
              <a:t>M </a:t>
            </a:r>
            <a:r>
              <a:rPr lang="en-US" altLang="zh-TW" dirty="0">
                <a:ea typeface="ＭＳ Ｐゴシック" panose="020B0600070205080204" pitchFamily="34" charset="-128"/>
              </a:rPr>
              <a:t>= 500K </a:t>
            </a:r>
            <a:r>
              <a:rPr lang="en-US" altLang="zh-TW" i="1" dirty="0">
                <a:solidFill>
                  <a:srgbClr val="139CB7"/>
                </a:solidFill>
                <a:ea typeface="ＭＳ Ｐゴシック" panose="020B0600070205080204" pitchFamily="34" charset="-128"/>
              </a:rPr>
              <a:t>distinct</a:t>
            </a:r>
            <a:r>
              <a:rPr lang="en-US" altLang="zh-TW" dirty="0">
                <a:ea typeface="ＭＳ Ｐゴシック" panose="020B0600070205080204" pitchFamily="34" charset="-128"/>
              </a:rPr>
              <a:t> terms among these.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endParaRPr lang="en-US" altLang="zh-TW" dirty="0">
              <a:ea typeface="ＭＳ Ｐゴシック" panose="020B0600070205080204" pitchFamily="34" charset="-128"/>
            </a:endParaRPr>
          </a:p>
        </p:txBody>
      </p:sp>
      <p:sp>
        <p:nvSpPr>
          <p:cNvPr id="33796" name="Slide Number Placeholder 5">
            <a:extLst>
              <a:ext uri="{FF2B5EF4-FFF2-40B4-BE49-F238E27FC236}">
                <a16:creationId xmlns:a16="http://schemas.microsoft.com/office/drawing/2014/main" id="{7EED9D80-260C-245C-6AF4-83FDF6A7B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D3283E-7E5E-4FC6-91BF-44478950AD7A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sp>
        <p:nvSpPr>
          <p:cNvPr id="33797" name="TextBox 4">
            <a:extLst>
              <a:ext uri="{FF2B5EF4-FFF2-40B4-BE49-F238E27FC236}">
                <a16:creationId xmlns:a16="http://schemas.microsoft.com/office/drawing/2014/main" id="{7E757A7F-6F17-EB87-393E-D6A5686F17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1.1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87D97-6CB7-A24B-FF0D-7AB5F4BFB7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566" y="3857414"/>
            <a:ext cx="3893219" cy="2421856"/>
          </a:xfrm>
          <a:prstGeom prst="rect">
            <a:avLst/>
          </a:prstGeom>
        </p:spPr>
      </p:pic>
      <p:pic>
        <p:nvPicPr>
          <p:cNvPr id="3074" name="Picture 2" descr="Search engines global market share">
            <a:extLst>
              <a:ext uri="{FF2B5EF4-FFF2-40B4-BE49-F238E27FC236}">
                <a16:creationId xmlns:a16="http://schemas.microsoft.com/office/drawing/2014/main" id="{9E8DD488-70B6-0872-C327-D7BE5894C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5070" y="2572059"/>
            <a:ext cx="3489650" cy="374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7B420956-73A6-6831-B229-0E66915691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846872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Can’t build the matrix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3E8917A4-C7F2-C27E-2AF8-C332E0F0DD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500K x 1M matrix has half-a-trillion 0’s and 1’s.</a:t>
            </a:r>
          </a:p>
          <a:p>
            <a:pPr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But it has no more than one billion 1’s.</a:t>
            </a:r>
          </a:p>
          <a:p>
            <a:pPr lvl="1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matrix is extremely sparse.</a:t>
            </a:r>
          </a:p>
          <a:p>
            <a:pPr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What’s a better representation?</a:t>
            </a:r>
          </a:p>
          <a:p>
            <a:pPr lvl="1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We only record the 1 positions.</a:t>
            </a:r>
          </a:p>
        </p:txBody>
      </p:sp>
      <p:sp>
        <p:nvSpPr>
          <p:cNvPr id="35844" name="Slide Number Placeholder 5">
            <a:extLst>
              <a:ext uri="{FF2B5EF4-FFF2-40B4-BE49-F238E27FC236}">
                <a16:creationId xmlns:a16="http://schemas.microsoft.com/office/drawing/2014/main" id="{3E7DD86A-5293-AAF4-92A1-6BC4357D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30F0DED-8794-4DEC-BC94-6195B9194C6F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sp>
        <p:nvSpPr>
          <p:cNvPr id="35845" name="AutoShape 4">
            <a:extLst>
              <a:ext uri="{FF2B5EF4-FFF2-40B4-BE49-F238E27FC236}">
                <a16:creationId xmlns:a16="http://schemas.microsoft.com/office/drawing/2014/main" id="{D5675A3A-FA27-220E-8E88-96CE1B5ED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0" y="2962275"/>
            <a:ext cx="1447800" cy="609600"/>
          </a:xfrm>
          <a:prstGeom prst="leftArrowCallout">
            <a:avLst>
              <a:gd name="adj1" fmla="val 25000"/>
              <a:gd name="adj2" fmla="val 25000"/>
              <a:gd name="adj3" fmla="val 39583"/>
              <a:gd name="adj4" fmla="val 66667"/>
            </a:avLst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Arial" panose="020B0604020202020204" pitchFamily="34" charset="0"/>
                <a:ea typeface="新細明體" panose="02020500000000000000" pitchFamily="18" charset="-120"/>
                <a:cs typeface="Arial Unicode MS" pitchFamily="34" charset="-120"/>
              </a:rPr>
              <a:t>Why?</a:t>
            </a:r>
          </a:p>
        </p:txBody>
      </p:sp>
      <p:sp>
        <p:nvSpPr>
          <p:cNvPr id="35846" name="TextBox 4">
            <a:extLst>
              <a:ext uri="{FF2B5EF4-FFF2-40B4-BE49-F238E27FC236}">
                <a16:creationId xmlns:a16="http://schemas.microsoft.com/office/drawing/2014/main" id="{0EF97384-AA22-738F-50D6-C25978A01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1.1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uiExpand="1" build="p"/>
      <p:bldP spid="3584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F1C8345D-123E-FBC6-7F29-BF24FF6614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51629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The first look of Inverted index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88A9D37F-28D5-3460-C761-DA46D7F54B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For each term </a:t>
            </a:r>
            <a:r>
              <a:rPr lang="en-US" altLang="zh-TW" i="1" dirty="0">
                <a:ea typeface="ＭＳ Ｐゴシック" panose="020B0600070205080204" pitchFamily="34" charset="-128"/>
              </a:rPr>
              <a:t>t</a:t>
            </a:r>
            <a:r>
              <a:rPr lang="en-US" altLang="zh-TW" dirty="0">
                <a:ea typeface="ＭＳ Ｐゴシック" panose="020B0600070205080204" pitchFamily="34" charset="-128"/>
              </a:rPr>
              <a:t>, we must store a </a:t>
            </a:r>
            <a:r>
              <a:rPr lang="en-US" altLang="zh-TW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list</a:t>
            </a:r>
            <a:r>
              <a:rPr lang="en-US" altLang="zh-TW" dirty="0">
                <a:ea typeface="ＭＳ Ｐゴシック" panose="020B0600070205080204" pitchFamily="34" charset="-128"/>
              </a:rPr>
              <a:t> of all documents that contain </a:t>
            </a:r>
            <a:r>
              <a:rPr lang="en-US" altLang="zh-TW" i="1" dirty="0">
                <a:ea typeface="ＭＳ Ｐゴシック" panose="020B0600070205080204" pitchFamily="34" charset="-128"/>
              </a:rPr>
              <a:t>t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pPr lvl="1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Identify each by a </a:t>
            </a:r>
            <a:r>
              <a:rPr lang="en-US" altLang="zh-TW" b="1" dirty="0" err="1">
                <a:ea typeface="ＭＳ Ｐゴシック" panose="020B0600070205080204" pitchFamily="34" charset="-128"/>
              </a:rPr>
              <a:t>docID</a:t>
            </a:r>
            <a:r>
              <a:rPr lang="en-US" altLang="zh-TW" dirty="0">
                <a:ea typeface="ＭＳ Ｐゴシック" panose="020B0600070205080204" pitchFamily="34" charset="-128"/>
              </a:rPr>
              <a:t>, a document serial number</a:t>
            </a:r>
          </a:p>
          <a:p>
            <a:pPr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Can we used fixed-size arrays for this?</a:t>
            </a:r>
          </a:p>
        </p:txBody>
      </p:sp>
      <p:sp>
        <p:nvSpPr>
          <p:cNvPr id="37892" name="Slide Number Placeholder 5">
            <a:extLst>
              <a:ext uri="{FF2B5EF4-FFF2-40B4-BE49-F238E27FC236}">
                <a16:creationId xmlns:a16="http://schemas.microsoft.com/office/drawing/2014/main" id="{5F383B3F-C3C8-2A4B-599A-5E9FD3037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7B58D5E-DCE1-4009-BECA-1FABDE6A6D4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sp>
        <p:nvSpPr>
          <p:cNvPr id="1199158" name="Text Box 54">
            <a:extLst>
              <a:ext uri="{FF2B5EF4-FFF2-40B4-BE49-F238E27FC236}">
                <a16:creationId xmlns:a16="http://schemas.microsoft.com/office/drawing/2014/main" id="{9DE95C9C-6BA4-453B-097E-697D8E4BE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5562601"/>
            <a:ext cx="5334000" cy="830997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What happens if the word </a:t>
            </a:r>
            <a:r>
              <a:rPr lang="en-US" altLang="zh-TW" sz="2400" b="1" i="1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Caesar</a:t>
            </a:r>
            <a:r>
              <a:rPr lang="en-US" altLang="zh-TW" sz="240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 is added to document 14? </a:t>
            </a:r>
          </a:p>
        </p:txBody>
      </p:sp>
      <p:sp>
        <p:nvSpPr>
          <p:cNvPr id="37905" name="TextBox 49">
            <a:extLst>
              <a:ext uri="{FF2B5EF4-FFF2-40B4-BE49-F238E27FC236}">
                <a16:creationId xmlns:a16="http://schemas.microsoft.com/office/drawing/2014/main" id="{9676FCEE-0C00-6C95-F7F3-E94E2F883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1.2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8A2A48-8F5E-2F30-10CF-4C85E07E0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495" y="3899921"/>
            <a:ext cx="6569009" cy="14860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9158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29754001-37EB-A4B6-2086-BE15BC8DF0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789722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The first look of Inverted index</a:t>
            </a:r>
            <a:endParaRPr lang="en-US" altLang="zh-TW" dirty="0">
              <a:ea typeface="ＭＳ Ｐゴシック" panose="020B0600070205080204" pitchFamily="34" charset="-128"/>
            </a:endParaRP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FA027FE5-FEC2-381F-5EFA-A998ADAA4D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We need variable-size postings lists</a:t>
            </a:r>
          </a:p>
          <a:p>
            <a:pPr lvl="1" algn="just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On disk, a continuous run of postings is normal and best</a:t>
            </a:r>
          </a:p>
          <a:p>
            <a:pPr lvl="1" algn="just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In memory, can use linked lists or variable length arrays</a:t>
            </a:r>
          </a:p>
        </p:txBody>
      </p:sp>
      <p:sp>
        <p:nvSpPr>
          <p:cNvPr id="39940" name="Slide Number Placeholder 5">
            <a:extLst>
              <a:ext uri="{FF2B5EF4-FFF2-40B4-BE49-F238E27FC236}">
                <a16:creationId xmlns:a16="http://schemas.microsoft.com/office/drawing/2014/main" id="{7000B5CD-E23B-6808-D21A-6283F7309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006A3B1-6205-45E3-B13E-906DB6F38B7C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sp>
        <p:nvSpPr>
          <p:cNvPr id="1200183" name="Text Box 55">
            <a:extLst>
              <a:ext uri="{FF2B5EF4-FFF2-40B4-BE49-F238E27FC236}">
                <a16:creationId xmlns:a16="http://schemas.microsoft.com/office/drawing/2014/main" id="{F269C2FA-3C20-AC0F-732B-F02CBEE19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6477" y="6384641"/>
            <a:ext cx="5710218" cy="46166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Sorted by </a:t>
            </a:r>
            <a:r>
              <a:rPr lang="en-US" altLang="zh-TW" sz="2400" b="1" dirty="0" err="1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docID</a:t>
            </a:r>
            <a:r>
              <a:rPr lang="en-US" altLang="zh-TW" sz="2400" dirty="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 (more later on why).</a:t>
            </a:r>
          </a:p>
        </p:txBody>
      </p:sp>
      <p:sp>
        <p:nvSpPr>
          <p:cNvPr id="39946" name="TextBox 52">
            <a:extLst>
              <a:ext uri="{FF2B5EF4-FFF2-40B4-BE49-F238E27FC236}">
                <a16:creationId xmlns:a16="http://schemas.microsoft.com/office/drawing/2014/main" id="{2E2320CA-BEF0-B338-0B23-256DABE60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1.2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4C93F3-C29C-BCAD-1308-D113AA329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083" y="3453908"/>
            <a:ext cx="7315834" cy="27281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0183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>
            <a:extLst>
              <a:ext uri="{FF2B5EF4-FFF2-40B4-BE49-F238E27FC236}">
                <a16:creationId xmlns:a16="http://schemas.microsoft.com/office/drawing/2014/main" id="{50271A46-9C23-5C5B-66A1-BBEB65B025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06473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Inverted index construction</a:t>
            </a:r>
          </a:p>
        </p:txBody>
      </p:sp>
      <p:sp>
        <p:nvSpPr>
          <p:cNvPr id="41998" name="TextBox 56">
            <a:extLst>
              <a:ext uri="{FF2B5EF4-FFF2-40B4-BE49-F238E27FC236}">
                <a16:creationId xmlns:a16="http://schemas.microsoft.com/office/drawing/2014/main" id="{402A58FD-BB91-385E-B57A-1D4F5C19F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1.2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40BA6F-22DD-BD49-FE77-97783BD53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2841" y="1862774"/>
            <a:ext cx="7346317" cy="42675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050">
            <a:extLst>
              <a:ext uri="{FF2B5EF4-FFF2-40B4-BE49-F238E27FC236}">
                <a16:creationId xmlns:a16="http://schemas.microsoft.com/office/drawing/2014/main" id="{665A71CF-ED61-56D0-714C-AF1269722C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784957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Query processing: AND</a:t>
            </a:r>
          </a:p>
        </p:txBody>
      </p:sp>
      <p:sp>
        <p:nvSpPr>
          <p:cNvPr id="54275" name="Rectangle 2051">
            <a:extLst>
              <a:ext uri="{FF2B5EF4-FFF2-40B4-BE49-F238E27FC236}">
                <a16:creationId xmlns:a16="http://schemas.microsoft.com/office/drawing/2014/main" id="{9EB78FD3-CCE4-1393-629A-BC52FFCE1C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Consider processing the query: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Brutus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i="1" dirty="0">
                <a:ea typeface="ＭＳ Ｐゴシック" panose="020B0600070205080204" pitchFamily="34" charset="-128"/>
              </a:rPr>
              <a:t>AND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Caesar</a:t>
            </a:r>
            <a:endParaRPr lang="en-US" altLang="zh-TW" dirty="0">
              <a:ea typeface="ＭＳ Ｐゴシック" panose="020B0600070205080204" pitchFamily="34" charset="-128"/>
            </a:endParaRP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Locate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Brutus</a:t>
            </a:r>
            <a:r>
              <a:rPr lang="en-US" altLang="zh-TW" dirty="0">
                <a:ea typeface="ＭＳ Ｐゴシック" panose="020B0600070205080204" pitchFamily="34" charset="-128"/>
              </a:rPr>
              <a:t> in the Dictionary;</a:t>
            </a:r>
          </a:p>
          <a:p>
            <a:pPr lvl="2" algn="just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Retrieve its postings.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Locate </a:t>
            </a:r>
            <a:r>
              <a:rPr lang="en-US" altLang="zh-TW" i="1" dirty="0">
                <a:ea typeface="ＭＳ Ｐゴシック" panose="020B0600070205080204" pitchFamily="34" charset="-128"/>
              </a:rPr>
              <a:t>Caesar</a:t>
            </a:r>
            <a:r>
              <a:rPr lang="en-US" altLang="zh-TW" dirty="0">
                <a:ea typeface="ＭＳ Ｐゴシック" panose="020B0600070205080204" pitchFamily="34" charset="-128"/>
              </a:rPr>
              <a:t> in the Dictionary;</a:t>
            </a:r>
          </a:p>
          <a:p>
            <a:pPr lvl="2" algn="just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Retrieve its postings.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“Merge” the two postings:</a:t>
            </a:r>
          </a:p>
        </p:txBody>
      </p:sp>
      <p:sp>
        <p:nvSpPr>
          <p:cNvPr id="54276" name="Slide Number Placeholder 5">
            <a:extLst>
              <a:ext uri="{FF2B5EF4-FFF2-40B4-BE49-F238E27FC236}">
                <a16:creationId xmlns:a16="http://schemas.microsoft.com/office/drawing/2014/main" id="{F3BDE6EB-AC3C-FB30-835B-C478766BE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35018D2-7B48-4ADE-8CAF-DA060AF66D7D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9E4BFEE-36F8-450D-41AF-1E00C8140DF6}"/>
              </a:ext>
            </a:extLst>
          </p:cNvPr>
          <p:cNvGrpSpPr/>
          <p:nvPr/>
        </p:nvGrpSpPr>
        <p:grpSpPr>
          <a:xfrm>
            <a:off x="1461073" y="5128839"/>
            <a:ext cx="7220322" cy="1000125"/>
            <a:chOff x="3289872" y="5019676"/>
            <a:chExt cx="7220322" cy="1000125"/>
          </a:xfrm>
        </p:grpSpPr>
        <p:sp>
          <p:nvSpPr>
            <p:cNvPr id="54277" name="Text Box 2058">
              <a:extLst>
                <a:ext uri="{FF2B5EF4-FFF2-40B4-BE49-F238E27FC236}">
                  <a16:creationId xmlns:a16="http://schemas.microsoft.com/office/drawing/2014/main" id="{D7E2FFED-7213-C698-63AE-79397E4FB7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02638" y="5019676"/>
              <a:ext cx="703262" cy="4667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128</a:t>
              </a:r>
            </a:p>
          </p:txBody>
        </p:sp>
        <p:sp>
          <p:nvSpPr>
            <p:cNvPr id="54278" name="Text Box 2065">
              <a:extLst>
                <a:ext uri="{FF2B5EF4-FFF2-40B4-BE49-F238E27FC236}">
                  <a16:creationId xmlns:a16="http://schemas.microsoft.com/office/drawing/2014/main" id="{E16A1CA1-9E84-8C11-7F0E-C268973092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07438" y="5553076"/>
              <a:ext cx="533400" cy="4667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34</a:t>
              </a:r>
            </a:p>
          </p:txBody>
        </p:sp>
        <p:grpSp>
          <p:nvGrpSpPr>
            <p:cNvPr id="54279" name="Group 2083">
              <a:extLst>
                <a:ext uri="{FF2B5EF4-FFF2-40B4-BE49-F238E27FC236}">
                  <a16:creationId xmlns:a16="http://schemas.microsoft.com/office/drawing/2014/main" id="{CB953793-8AAF-98A6-FE4D-800A8209E7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8600" y="5019676"/>
              <a:ext cx="647700" cy="466725"/>
              <a:chOff x="1584" y="3162"/>
              <a:chExt cx="408" cy="294"/>
            </a:xfrm>
          </p:grpSpPr>
          <p:sp>
            <p:nvSpPr>
              <p:cNvPr id="54320" name="Text Box 2052">
                <a:extLst>
                  <a:ext uri="{FF2B5EF4-FFF2-40B4-BE49-F238E27FC236}">
                    <a16:creationId xmlns:a16="http://schemas.microsoft.com/office/drawing/2014/main" id="{82960F95-E083-24A5-4AD0-D0F7AAF34C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84" y="3162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2</a:t>
                </a:r>
              </a:p>
            </p:txBody>
          </p:sp>
          <p:cxnSp>
            <p:nvCxnSpPr>
              <p:cNvPr id="54321" name="AutoShape 2066">
                <a:extLst>
                  <a:ext uri="{FF2B5EF4-FFF2-40B4-BE49-F238E27FC236}">
                    <a16:creationId xmlns:a16="http://schemas.microsoft.com/office/drawing/2014/main" id="{E01CC4BF-F2F5-1794-AFD3-183ED68A7C1D}"/>
                  </a:ext>
                </a:extLst>
              </p:cNvPr>
              <p:cNvCxnSpPr>
                <a:cxnSpLocks noChangeShapeType="1"/>
                <a:stCxn id="54320" idx="3"/>
                <a:endCxn id="54318" idx="1"/>
              </p:cNvCxnSpPr>
              <p:nvPr/>
            </p:nvCxnSpPr>
            <p:spPr bwMode="auto">
              <a:xfrm>
                <a:off x="1813" y="3309"/>
                <a:ext cx="1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4280" name="Group 2084">
              <a:extLst>
                <a:ext uri="{FF2B5EF4-FFF2-40B4-BE49-F238E27FC236}">
                  <a16:creationId xmlns:a16="http://schemas.microsoft.com/office/drawing/2014/main" id="{38A91978-F6B5-20FA-8785-5C991B7807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86300" y="5019676"/>
              <a:ext cx="668338" cy="466725"/>
              <a:chOff x="1992" y="3162"/>
              <a:chExt cx="421" cy="294"/>
            </a:xfrm>
          </p:grpSpPr>
          <p:sp>
            <p:nvSpPr>
              <p:cNvPr id="54318" name="Text Box 2053">
                <a:extLst>
                  <a:ext uri="{FF2B5EF4-FFF2-40B4-BE49-F238E27FC236}">
                    <a16:creationId xmlns:a16="http://schemas.microsoft.com/office/drawing/2014/main" id="{B53C2F1B-00D5-084F-CDBB-2D07B69C1D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92" y="3162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4</a:t>
                </a:r>
              </a:p>
            </p:txBody>
          </p:sp>
          <p:cxnSp>
            <p:nvCxnSpPr>
              <p:cNvPr id="54319" name="AutoShape 2067">
                <a:extLst>
                  <a:ext uri="{FF2B5EF4-FFF2-40B4-BE49-F238E27FC236}">
                    <a16:creationId xmlns:a16="http://schemas.microsoft.com/office/drawing/2014/main" id="{D44F2EFC-765D-B239-37EA-6B89DFE4A7E5}"/>
                  </a:ext>
                </a:extLst>
              </p:cNvPr>
              <p:cNvCxnSpPr>
                <a:cxnSpLocks noChangeShapeType="1"/>
                <a:stCxn id="54318" idx="3"/>
                <a:endCxn id="54316" idx="1"/>
              </p:cNvCxnSpPr>
              <p:nvPr/>
            </p:nvCxnSpPr>
            <p:spPr bwMode="auto">
              <a:xfrm>
                <a:off x="2221" y="3309"/>
                <a:ext cx="192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4281" name="Group 2085">
              <a:extLst>
                <a:ext uri="{FF2B5EF4-FFF2-40B4-BE49-F238E27FC236}">
                  <a16:creationId xmlns:a16="http://schemas.microsoft.com/office/drawing/2014/main" id="{374A8FEA-029E-2D9E-6E67-B6B9FE8DA7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54638" y="5019676"/>
              <a:ext cx="609600" cy="466725"/>
              <a:chOff x="2413" y="3162"/>
              <a:chExt cx="384" cy="294"/>
            </a:xfrm>
          </p:grpSpPr>
          <p:sp>
            <p:nvSpPr>
              <p:cNvPr id="54316" name="Text Box 2054">
                <a:extLst>
                  <a:ext uri="{FF2B5EF4-FFF2-40B4-BE49-F238E27FC236}">
                    <a16:creationId xmlns:a16="http://schemas.microsoft.com/office/drawing/2014/main" id="{90F3266E-14D0-A816-CB0D-7202262F56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3" y="3162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8</a:t>
                </a:r>
              </a:p>
            </p:txBody>
          </p:sp>
          <p:cxnSp>
            <p:nvCxnSpPr>
              <p:cNvPr id="54317" name="AutoShape 2068">
                <a:extLst>
                  <a:ext uri="{FF2B5EF4-FFF2-40B4-BE49-F238E27FC236}">
                    <a16:creationId xmlns:a16="http://schemas.microsoft.com/office/drawing/2014/main" id="{C1775FD4-59A4-744B-4B2A-E24400DD1FE4}"/>
                  </a:ext>
                </a:extLst>
              </p:cNvPr>
              <p:cNvCxnSpPr>
                <a:cxnSpLocks noChangeShapeType="1"/>
                <a:stCxn id="54316" idx="3"/>
                <a:endCxn id="54314" idx="1"/>
              </p:cNvCxnSpPr>
              <p:nvPr/>
            </p:nvCxnSpPr>
            <p:spPr bwMode="auto">
              <a:xfrm>
                <a:off x="2642" y="3309"/>
                <a:ext cx="155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4282" name="Group 2086">
              <a:extLst>
                <a:ext uri="{FF2B5EF4-FFF2-40B4-BE49-F238E27FC236}">
                  <a16:creationId xmlns:a16="http://schemas.microsoft.com/office/drawing/2014/main" id="{09648FF1-8427-2466-8ADC-1AE998784D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64238" y="5019676"/>
              <a:ext cx="762000" cy="466725"/>
              <a:chOff x="2797" y="3162"/>
              <a:chExt cx="480" cy="294"/>
            </a:xfrm>
          </p:grpSpPr>
          <p:sp>
            <p:nvSpPr>
              <p:cNvPr id="54314" name="Text Box 2055">
                <a:extLst>
                  <a:ext uri="{FF2B5EF4-FFF2-40B4-BE49-F238E27FC236}">
                    <a16:creationId xmlns:a16="http://schemas.microsoft.com/office/drawing/2014/main" id="{5ED4F1D3-8254-5FA3-5558-7CB9A5E75D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97" y="3162"/>
                <a:ext cx="336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16</a:t>
                </a:r>
              </a:p>
            </p:txBody>
          </p:sp>
          <p:cxnSp>
            <p:nvCxnSpPr>
              <p:cNvPr id="54315" name="AutoShape 2069">
                <a:extLst>
                  <a:ext uri="{FF2B5EF4-FFF2-40B4-BE49-F238E27FC236}">
                    <a16:creationId xmlns:a16="http://schemas.microsoft.com/office/drawing/2014/main" id="{AE9CF667-30F5-63C1-5E72-3496FFB2FDB5}"/>
                  </a:ext>
                </a:extLst>
              </p:cNvPr>
              <p:cNvCxnSpPr>
                <a:cxnSpLocks noChangeShapeType="1"/>
                <a:stCxn id="54314" idx="3"/>
                <a:endCxn id="54312" idx="1"/>
              </p:cNvCxnSpPr>
              <p:nvPr/>
            </p:nvCxnSpPr>
            <p:spPr bwMode="auto">
              <a:xfrm>
                <a:off x="3133" y="3309"/>
                <a:ext cx="144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4283" name="Group 2087">
              <a:extLst>
                <a:ext uri="{FF2B5EF4-FFF2-40B4-BE49-F238E27FC236}">
                  <a16:creationId xmlns:a16="http://schemas.microsoft.com/office/drawing/2014/main" id="{297CEA68-DA16-E511-8A1B-4FAE110BCC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6238" y="5019676"/>
              <a:ext cx="838200" cy="466725"/>
              <a:chOff x="3277" y="3162"/>
              <a:chExt cx="528" cy="294"/>
            </a:xfrm>
          </p:grpSpPr>
          <p:sp>
            <p:nvSpPr>
              <p:cNvPr id="54312" name="Text Box 2056">
                <a:extLst>
                  <a:ext uri="{FF2B5EF4-FFF2-40B4-BE49-F238E27FC236}">
                    <a16:creationId xmlns:a16="http://schemas.microsoft.com/office/drawing/2014/main" id="{91E38992-2E25-1195-1CCB-689BA1C73F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77" y="3162"/>
                <a:ext cx="336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32</a:t>
                </a:r>
              </a:p>
            </p:txBody>
          </p:sp>
          <p:cxnSp>
            <p:nvCxnSpPr>
              <p:cNvPr id="54313" name="AutoShape 2070">
                <a:extLst>
                  <a:ext uri="{FF2B5EF4-FFF2-40B4-BE49-F238E27FC236}">
                    <a16:creationId xmlns:a16="http://schemas.microsoft.com/office/drawing/2014/main" id="{24D269AD-8AEF-C750-6E5F-40392A549DAF}"/>
                  </a:ext>
                </a:extLst>
              </p:cNvPr>
              <p:cNvCxnSpPr>
                <a:cxnSpLocks noChangeShapeType="1"/>
                <a:stCxn id="54312" idx="3"/>
                <a:endCxn id="54310" idx="1"/>
              </p:cNvCxnSpPr>
              <p:nvPr/>
            </p:nvCxnSpPr>
            <p:spPr bwMode="auto">
              <a:xfrm>
                <a:off x="3613" y="3309"/>
                <a:ext cx="192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4284" name="Group 2088">
              <a:extLst>
                <a:ext uri="{FF2B5EF4-FFF2-40B4-BE49-F238E27FC236}">
                  <a16:creationId xmlns:a16="http://schemas.microsoft.com/office/drawing/2014/main" id="{9799615F-9787-7960-CBCA-8941E99F5F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64438" y="5019676"/>
              <a:ext cx="838200" cy="466725"/>
              <a:chOff x="3805" y="3162"/>
              <a:chExt cx="528" cy="294"/>
            </a:xfrm>
          </p:grpSpPr>
          <p:sp>
            <p:nvSpPr>
              <p:cNvPr id="54310" name="Text Box 2057">
                <a:extLst>
                  <a:ext uri="{FF2B5EF4-FFF2-40B4-BE49-F238E27FC236}">
                    <a16:creationId xmlns:a16="http://schemas.microsoft.com/office/drawing/2014/main" id="{35D464F3-9600-8084-2E99-B1EB6532DA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05" y="3162"/>
                <a:ext cx="336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64</a:t>
                </a:r>
              </a:p>
            </p:txBody>
          </p:sp>
          <p:cxnSp>
            <p:nvCxnSpPr>
              <p:cNvPr id="54311" name="AutoShape 2071">
                <a:extLst>
                  <a:ext uri="{FF2B5EF4-FFF2-40B4-BE49-F238E27FC236}">
                    <a16:creationId xmlns:a16="http://schemas.microsoft.com/office/drawing/2014/main" id="{F78F7545-D339-797A-9CF8-A06284FE2FF9}"/>
                  </a:ext>
                </a:extLst>
              </p:cNvPr>
              <p:cNvCxnSpPr>
                <a:cxnSpLocks noChangeShapeType="1"/>
                <a:stCxn id="54310" idx="3"/>
                <a:endCxn id="54277" idx="1"/>
              </p:cNvCxnSpPr>
              <p:nvPr/>
            </p:nvCxnSpPr>
            <p:spPr bwMode="auto">
              <a:xfrm>
                <a:off x="4141" y="3309"/>
                <a:ext cx="192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4285" name="Group 2089">
              <a:extLst>
                <a:ext uri="{FF2B5EF4-FFF2-40B4-BE49-F238E27FC236}">
                  <a16:creationId xmlns:a16="http://schemas.microsoft.com/office/drawing/2014/main" id="{1BD8E26A-DE22-D8A3-0D53-2971F3C1B4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59238" y="5553076"/>
              <a:ext cx="647700" cy="466725"/>
              <a:chOff x="1597" y="3498"/>
              <a:chExt cx="408" cy="294"/>
            </a:xfrm>
          </p:grpSpPr>
          <p:sp>
            <p:nvSpPr>
              <p:cNvPr id="54308" name="Text Box 2072">
                <a:extLst>
                  <a:ext uri="{FF2B5EF4-FFF2-40B4-BE49-F238E27FC236}">
                    <a16:creationId xmlns:a16="http://schemas.microsoft.com/office/drawing/2014/main" id="{E0D402EF-A7D5-BA84-9F75-60537A3A61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97" y="3498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1</a:t>
                </a:r>
              </a:p>
            </p:txBody>
          </p:sp>
          <p:cxnSp>
            <p:nvCxnSpPr>
              <p:cNvPr id="54309" name="AutoShape 2073">
                <a:extLst>
                  <a:ext uri="{FF2B5EF4-FFF2-40B4-BE49-F238E27FC236}">
                    <a16:creationId xmlns:a16="http://schemas.microsoft.com/office/drawing/2014/main" id="{13049D3A-98AC-347B-767F-B9BC55219423}"/>
                  </a:ext>
                </a:extLst>
              </p:cNvPr>
              <p:cNvCxnSpPr>
                <a:cxnSpLocks noChangeShapeType="1"/>
                <a:stCxn id="54308" idx="3"/>
                <a:endCxn id="54306" idx="1"/>
              </p:cNvCxnSpPr>
              <p:nvPr/>
            </p:nvCxnSpPr>
            <p:spPr bwMode="auto">
              <a:xfrm>
                <a:off x="1826" y="3645"/>
                <a:ext cx="1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4286" name="Group 2090">
              <a:extLst>
                <a:ext uri="{FF2B5EF4-FFF2-40B4-BE49-F238E27FC236}">
                  <a16:creationId xmlns:a16="http://schemas.microsoft.com/office/drawing/2014/main" id="{BCA8D4F2-7F8F-3ACC-7C7B-13FBAD1692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6938" y="5553076"/>
              <a:ext cx="647700" cy="466725"/>
              <a:chOff x="2005" y="3498"/>
              <a:chExt cx="408" cy="294"/>
            </a:xfrm>
          </p:grpSpPr>
          <p:sp>
            <p:nvSpPr>
              <p:cNvPr id="54306" name="Text Box 2059">
                <a:extLst>
                  <a:ext uri="{FF2B5EF4-FFF2-40B4-BE49-F238E27FC236}">
                    <a16:creationId xmlns:a16="http://schemas.microsoft.com/office/drawing/2014/main" id="{5E465250-3E02-913B-83C0-47AA0EA571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05" y="3498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2</a:t>
                </a:r>
              </a:p>
            </p:txBody>
          </p:sp>
          <p:cxnSp>
            <p:nvCxnSpPr>
              <p:cNvPr id="54307" name="AutoShape 2074">
                <a:extLst>
                  <a:ext uri="{FF2B5EF4-FFF2-40B4-BE49-F238E27FC236}">
                    <a16:creationId xmlns:a16="http://schemas.microsoft.com/office/drawing/2014/main" id="{D0A295F7-EF5A-4811-E285-7CF163BDFCB6}"/>
                  </a:ext>
                </a:extLst>
              </p:cNvPr>
              <p:cNvCxnSpPr>
                <a:cxnSpLocks noChangeShapeType="1"/>
                <a:stCxn id="54306" idx="3"/>
                <a:endCxn id="54304" idx="1"/>
              </p:cNvCxnSpPr>
              <p:nvPr/>
            </p:nvCxnSpPr>
            <p:spPr bwMode="auto">
              <a:xfrm>
                <a:off x="2234" y="3645"/>
                <a:ext cx="1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4287" name="Group 2091">
              <a:extLst>
                <a:ext uri="{FF2B5EF4-FFF2-40B4-BE49-F238E27FC236}">
                  <a16:creationId xmlns:a16="http://schemas.microsoft.com/office/drawing/2014/main" id="{13010A27-85F8-B823-5746-03A41D63ED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54639" y="5553076"/>
              <a:ext cx="630237" cy="466725"/>
              <a:chOff x="2413" y="3498"/>
              <a:chExt cx="397" cy="294"/>
            </a:xfrm>
          </p:grpSpPr>
          <p:sp>
            <p:nvSpPr>
              <p:cNvPr id="54304" name="Text Box 2060">
                <a:extLst>
                  <a:ext uri="{FF2B5EF4-FFF2-40B4-BE49-F238E27FC236}">
                    <a16:creationId xmlns:a16="http://schemas.microsoft.com/office/drawing/2014/main" id="{A04D8456-834F-FC70-A3E3-A65447260E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3" y="3498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3</a:t>
                </a:r>
              </a:p>
            </p:txBody>
          </p:sp>
          <p:cxnSp>
            <p:nvCxnSpPr>
              <p:cNvPr id="54305" name="AutoShape 2075">
                <a:extLst>
                  <a:ext uri="{FF2B5EF4-FFF2-40B4-BE49-F238E27FC236}">
                    <a16:creationId xmlns:a16="http://schemas.microsoft.com/office/drawing/2014/main" id="{5DDA8D6D-7B75-16F5-0845-8140DCBAC899}"/>
                  </a:ext>
                </a:extLst>
              </p:cNvPr>
              <p:cNvCxnSpPr>
                <a:cxnSpLocks noChangeShapeType="1"/>
                <a:stCxn id="54304" idx="3"/>
                <a:endCxn id="54302" idx="1"/>
              </p:cNvCxnSpPr>
              <p:nvPr/>
            </p:nvCxnSpPr>
            <p:spPr bwMode="auto">
              <a:xfrm>
                <a:off x="2642" y="3645"/>
                <a:ext cx="168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4288" name="Group 2092">
              <a:extLst>
                <a:ext uri="{FF2B5EF4-FFF2-40B4-BE49-F238E27FC236}">
                  <a16:creationId xmlns:a16="http://schemas.microsoft.com/office/drawing/2014/main" id="{6F4F8C6F-9B2E-B6AA-513F-959835585A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84876" y="5553076"/>
              <a:ext cx="606425" cy="466725"/>
              <a:chOff x="2810" y="3498"/>
              <a:chExt cx="382" cy="294"/>
            </a:xfrm>
          </p:grpSpPr>
          <p:sp>
            <p:nvSpPr>
              <p:cNvPr id="54302" name="Text Box 2061">
                <a:extLst>
                  <a:ext uri="{FF2B5EF4-FFF2-40B4-BE49-F238E27FC236}">
                    <a16:creationId xmlns:a16="http://schemas.microsoft.com/office/drawing/2014/main" id="{F23B4C89-E6FC-0C91-CC57-0B3E637B71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" y="3498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5</a:t>
                </a:r>
              </a:p>
            </p:txBody>
          </p:sp>
          <p:cxnSp>
            <p:nvCxnSpPr>
              <p:cNvPr id="54303" name="AutoShape 2076">
                <a:extLst>
                  <a:ext uri="{FF2B5EF4-FFF2-40B4-BE49-F238E27FC236}">
                    <a16:creationId xmlns:a16="http://schemas.microsoft.com/office/drawing/2014/main" id="{AA8F29BA-FB01-F76B-1B5D-444E068153C7}"/>
                  </a:ext>
                </a:extLst>
              </p:cNvPr>
              <p:cNvCxnSpPr>
                <a:cxnSpLocks noChangeShapeType="1"/>
                <a:stCxn id="54302" idx="3"/>
                <a:endCxn id="54300" idx="1"/>
              </p:cNvCxnSpPr>
              <p:nvPr/>
            </p:nvCxnSpPr>
            <p:spPr bwMode="auto">
              <a:xfrm>
                <a:off x="3039" y="3645"/>
                <a:ext cx="153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4289" name="Group 2093">
              <a:extLst>
                <a:ext uri="{FF2B5EF4-FFF2-40B4-BE49-F238E27FC236}">
                  <a16:creationId xmlns:a16="http://schemas.microsoft.com/office/drawing/2014/main" id="{D858B0A7-E628-3CD7-453C-7C0550ADFE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91300" y="5553076"/>
              <a:ext cx="592138" cy="466725"/>
              <a:chOff x="3192" y="3498"/>
              <a:chExt cx="373" cy="294"/>
            </a:xfrm>
          </p:grpSpPr>
          <p:sp>
            <p:nvSpPr>
              <p:cNvPr id="54300" name="Text Box 2062">
                <a:extLst>
                  <a:ext uri="{FF2B5EF4-FFF2-40B4-BE49-F238E27FC236}">
                    <a16:creationId xmlns:a16="http://schemas.microsoft.com/office/drawing/2014/main" id="{7BC142ED-4DA4-B6A2-D585-847658BC63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2" y="3498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8</a:t>
                </a:r>
              </a:p>
            </p:txBody>
          </p:sp>
          <p:cxnSp>
            <p:nvCxnSpPr>
              <p:cNvPr id="54301" name="AutoShape 2077">
                <a:extLst>
                  <a:ext uri="{FF2B5EF4-FFF2-40B4-BE49-F238E27FC236}">
                    <a16:creationId xmlns:a16="http://schemas.microsoft.com/office/drawing/2014/main" id="{E43BCC85-FB4C-8F26-CA12-5800CDB6478F}"/>
                  </a:ext>
                </a:extLst>
              </p:cNvPr>
              <p:cNvCxnSpPr>
                <a:cxnSpLocks noChangeShapeType="1"/>
                <a:stCxn id="54300" idx="3"/>
                <a:endCxn id="54298" idx="1"/>
              </p:cNvCxnSpPr>
              <p:nvPr/>
            </p:nvCxnSpPr>
            <p:spPr bwMode="auto">
              <a:xfrm>
                <a:off x="3421" y="3645"/>
                <a:ext cx="144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4290" name="Group 2094">
              <a:extLst>
                <a:ext uri="{FF2B5EF4-FFF2-40B4-BE49-F238E27FC236}">
                  <a16:creationId xmlns:a16="http://schemas.microsoft.com/office/drawing/2014/main" id="{29C7A135-C3AF-3175-6CF2-1147216013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83438" y="5553076"/>
              <a:ext cx="762000" cy="466725"/>
              <a:chOff x="3565" y="3498"/>
              <a:chExt cx="480" cy="294"/>
            </a:xfrm>
          </p:grpSpPr>
          <p:sp>
            <p:nvSpPr>
              <p:cNvPr id="54298" name="Text Box 2063">
                <a:extLst>
                  <a:ext uri="{FF2B5EF4-FFF2-40B4-BE49-F238E27FC236}">
                    <a16:creationId xmlns:a16="http://schemas.microsoft.com/office/drawing/2014/main" id="{4239CFD1-BA16-7887-1E25-35E42C0318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5" y="3498"/>
                <a:ext cx="336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13</a:t>
                </a:r>
              </a:p>
            </p:txBody>
          </p:sp>
          <p:cxnSp>
            <p:nvCxnSpPr>
              <p:cNvPr id="54299" name="AutoShape 2078">
                <a:extLst>
                  <a:ext uri="{FF2B5EF4-FFF2-40B4-BE49-F238E27FC236}">
                    <a16:creationId xmlns:a16="http://schemas.microsoft.com/office/drawing/2014/main" id="{F92A750D-FBE4-2B23-8C53-8EC5EFD0E585}"/>
                  </a:ext>
                </a:extLst>
              </p:cNvPr>
              <p:cNvCxnSpPr>
                <a:cxnSpLocks noChangeShapeType="1"/>
                <a:stCxn id="54298" idx="3"/>
                <a:endCxn id="54296" idx="1"/>
              </p:cNvCxnSpPr>
              <p:nvPr/>
            </p:nvCxnSpPr>
            <p:spPr bwMode="auto">
              <a:xfrm>
                <a:off x="3901" y="3645"/>
                <a:ext cx="144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4291" name="Group 2095">
              <a:extLst>
                <a:ext uri="{FF2B5EF4-FFF2-40B4-BE49-F238E27FC236}">
                  <a16:creationId xmlns:a16="http://schemas.microsoft.com/office/drawing/2014/main" id="{4B6C1DF7-B036-8155-1C79-E4BD9813BA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45438" y="5553076"/>
              <a:ext cx="762000" cy="466725"/>
              <a:chOff x="4045" y="3498"/>
              <a:chExt cx="480" cy="294"/>
            </a:xfrm>
          </p:grpSpPr>
          <p:sp>
            <p:nvSpPr>
              <p:cNvPr id="54296" name="Text Box 2064">
                <a:extLst>
                  <a:ext uri="{FF2B5EF4-FFF2-40B4-BE49-F238E27FC236}">
                    <a16:creationId xmlns:a16="http://schemas.microsoft.com/office/drawing/2014/main" id="{8D5B7A1C-49CE-2742-BC58-B518F1DC23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45" y="3498"/>
                <a:ext cx="336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21</a:t>
                </a:r>
              </a:p>
            </p:txBody>
          </p:sp>
          <p:cxnSp>
            <p:nvCxnSpPr>
              <p:cNvPr id="54297" name="AutoShape 2079">
                <a:extLst>
                  <a:ext uri="{FF2B5EF4-FFF2-40B4-BE49-F238E27FC236}">
                    <a16:creationId xmlns:a16="http://schemas.microsoft.com/office/drawing/2014/main" id="{371C8069-220B-E35F-8F93-97827167C3EB}"/>
                  </a:ext>
                </a:extLst>
              </p:cNvPr>
              <p:cNvCxnSpPr>
                <a:cxnSpLocks noChangeShapeType="1"/>
                <a:stCxn id="54296" idx="3"/>
                <a:endCxn id="54278" idx="1"/>
              </p:cNvCxnSpPr>
              <p:nvPr/>
            </p:nvCxnSpPr>
            <p:spPr bwMode="auto">
              <a:xfrm>
                <a:off x="4381" y="3645"/>
                <a:ext cx="144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4292" name="Text Box 2080">
              <a:extLst>
                <a:ext uri="{FF2B5EF4-FFF2-40B4-BE49-F238E27FC236}">
                  <a16:creationId xmlns:a16="http://schemas.microsoft.com/office/drawing/2014/main" id="{7DC1E03D-4DAB-DCFF-5BB0-64A048DD0D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96401" y="5038726"/>
              <a:ext cx="11769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 b="1" i="1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Brutus</a:t>
              </a:r>
            </a:p>
          </p:txBody>
        </p:sp>
        <p:sp>
          <p:nvSpPr>
            <p:cNvPr id="54293" name="Text Box 2081">
              <a:extLst>
                <a:ext uri="{FF2B5EF4-FFF2-40B4-BE49-F238E27FC236}">
                  <a16:creationId xmlns:a16="http://schemas.microsoft.com/office/drawing/2014/main" id="{B4486EB1-6CA3-058F-F6C2-6CA34E389E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96400" y="5495926"/>
              <a:ext cx="121379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 b="1" i="1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Caesar</a:t>
              </a:r>
            </a:p>
          </p:txBody>
        </p:sp>
        <p:sp>
          <p:nvSpPr>
            <p:cNvPr id="54294" name="AutoShape 2082">
              <a:extLst>
                <a:ext uri="{FF2B5EF4-FFF2-40B4-BE49-F238E27FC236}">
                  <a16:creationId xmlns:a16="http://schemas.microsoft.com/office/drawing/2014/main" id="{74F801B3-D1DD-2C9D-52C6-055A9F49EA3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289872" y="5089774"/>
              <a:ext cx="368747" cy="917079"/>
            </a:xfrm>
            <a:prstGeom prst="notchedRightArrow">
              <a:avLst>
                <a:gd name="adj1" fmla="val 50000"/>
                <a:gd name="adj2" fmla="val 50245"/>
              </a:avLst>
            </a:prstGeom>
            <a:solidFill>
              <a:srgbClr val="C0504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endParaRPr>
            </a:p>
          </p:txBody>
        </p:sp>
      </p:grpSp>
      <p:sp>
        <p:nvSpPr>
          <p:cNvPr id="54295" name="TextBox 48">
            <a:extLst>
              <a:ext uri="{FF2B5EF4-FFF2-40B4-BE49-F238E27FC236}">
                <a16:creationId xmlns:a16="http://schemas.microsoft.com/office/drawing/2014/main" id="{0117141A-F1D2-8288-9F15-0A0B7D577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1.3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0D0C5998-7ADA-3987-1F03-DA6055080C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23307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The merge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56399C04-4DA5-EE14-3DF4-F7C1B04134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Walk through the two postings simultaneously, in time linear in the total number of postings entries</a:t>
            </a:r>
          </a:p>
        </p:txBody>
      </p:sp>
      <p:sp>
        <p:nvSpPr>
          <p:cNvPr id="56324" name="Slide Number Placeholder 5">
            <a:extLst>
              <a:ext uri="{FF2B5EF4-FFF2-40B4-BE49-F238E27FC236}">
                <a16:creationId xmlns:a16="http://schemas.microsoft.com/office/drawing/2014/main" id="{8159E110-E362-834B-B336-511493D33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62C3C46-6DDF-48C9-AB26-908045950AC7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grpSp>
        <p:nvGrpSpPr>
          <p:cNvPr id="56325" name="Group 99">
            <a:extLst>
              <a:ext uri="{FF2B5EF4-FFF2-40B4-BE49-F238E27FC236}">
                <a16:creationId xmlns:a16="http://schemas.microsoft.com/office/drawing/2014/main" id="{1DC9019A-79A2-9086-C583-3B0176A84AC8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3429000"/>
            <a:ext cx="5202238" cy="1009650"/>
            <a:chOff x="1584" y="3264"/>
            <a:chExt cx="3277" cy="636"/>
          </a:xfrm>
        </p:grpSpPr>
        <p:sp>
          <p:nvSpPr>
            <p:cNvPr id="56377" name="Text Box 54">
              <a:extLst>
                <a:ext uri="{FF2B5EF4-FFF2-40B4-BE49-F238E27FC236}">
                  <a16:creationId xmlns:a16="http://schemas.microsoft.com/office/drawing/2014/main" id="{EFC05410-0F8B-58BA-F803-CC51D4B171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5" y="3600"/>
              <a:ext cx="336" cy="294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solidFill>
                    <a:srgbClr val="B2B2B2"/>
                  </a:solidFill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34</a:t>
              </a:r>
            </a:p>
          </p:txBody>
        </p:sp>
        <p:grpSp>
          <p:nvGrpSpPr>
            <p:cNvPr id="56378" name="Group 96">
              <a:extLst>
                <a:ext uri="{FF2B5EF4-FFF2-40B4-BE49-F238E27FC236}">
                  <a16:creationId xmlns:a16="http://schemas.microsoft.com/office/drawing/2014/main" id="{3DA0DFF9-EEF1-9C05-A72E-E1B108664D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4" y="3264"/>
              <a:ext cx="3179" cy="300"/>
              <a:chOff x="1584" y="3060"/>
              <a:chExt cx="3179" cy="300"/>
            </a:xfrm>
          </p:grpSpPr>
          <p:sp>
            <p:nvSpPr>
              <p:cNvPr id="56399" name="Text Box 53">
                <a:extLst>
                  <a:ext uri="{FF2B5EF4-FFF2-40B4-BE49-F238E27FC236}">
                    <a16:creationId xmlns:a16="http://schemas.microsoft.com/office/drawing/2014/main" id="{7ADF1579-CC01-4A81-ED1C-566F4CD437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0" y="3060"/>
                <a:ext cx="443" cy="294"/>
              </a:xfrm>
              <a:prstGeom prst="rect">
                <a:avLst/>
              </a:prstGeom>
              <a:noFill/>
              <a:ln w="9525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solidFill>
                      <a:srgbClr val="B2B2B2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128</a:t>
                </a:r>
              </a:p>
            </p:txBody>
          </p:sp>
          <p:grpSp>
            <p:nvGrpSpPr>
              <p:cNvPr id="56400" name="Group 55">
                <a:extLst>
                  <a:ext uri="{FF2B5EF4-FFF2-40B4-BE49-F238E27FC236}">
                    <a16:creationId xmlns:a16="http://schemas.microsoft.com/office/drawing/2014/main" id="{AE0663F4-AAFD-18D2-80DF-FD53D4EAEC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84" y="3060"/>
                <a:ext cx="408" cy="294"/>
                <a:chOff x="1584" y="3162"/>
                <a:chExt cx="408" cy="294"/>
              </a:xfrm>
            </p:grpSpPr>
            <p:sp>
              <p:nvSpPr>
                <p:cNvPr id="56416" name="Text Box 56">
                  <a:extLst>
                    <a:ext uri="{FF2B5EF4-FFF2-40B4-BE49-F238E27FC236}">
                      <a16:creationId xmlns:a16="http://schemas.microsoft.com/office/drawing/2014/main" id="{2D8B76B5-35BD-6676-E855-6A21A588C80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84" y="3162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437085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spcBef>
                      <a:spcPct val="20000"/>
                    </a:spcBef>
                    <a:buClr>
                      <a:srgbClr val="357E6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18BA3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2F6E7E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400">
                      <a:solidFill>
                        <a:srgbClr val="B2B2B2"/>
                      </a:solidFill>
                      <a:latin typeface="Arial Unicode MS" pitchFamily="34" charset="-120"/>
                      <a:ea typeface="新細明體" panose="02020500000000000000" pitchFamily="18" charset="-120"/>
                      <a:cs typeface="Arial Unicode MS" pitchFamily="34" charset="-120"/>
                    </a:rPr>
                    <a:t>2</a:t>
                  </a:r>
                </a:p>
              </p:txBody>
            </p:sp>
            <p:cxnSp>
              <p:nvCxnSpPr>
                <p:cNvPr id="56417" name="AutoShape 57">
                  <a:extLst>
                    <a:ext uri="{FF2B5EF4-FFF2-40B4-BE49-F238E27FC236}">
                      <a16:creationId xmlns:a16="http://schemas.microsoft.com/office/drawing/2014/main" id="{034748B8-A132-3F19-ADF1-29E02F2A04B7}"/>
                    </a:ext>
                  </a:extLst>
                </p:cNvPr>
                <p:cNvCxnSpPr>
                  <a:cxnSpLocks noChangeShapeType="1"/>
                  <a:stCxn id="56416" idx="3"/>
                  <a:endCxn id="56414" idx="1"/>
                </p:cNvCxnSpPr>
                <p:nvPr/>
              </p:nvCxnSpPr>
              <p:spPr bwMode="auto">
                <a:xfrm>
                  <a:off x="1813" y="3309"/>
                  <a:ext cx="179" cy="0"/>
                </a:xfrm>
                <a:prstGeom prst="straightConnector1">
                  <a:avLst/>
                </a:prstGeom>
                <a:noFill/>
                <a:ln w="9525">
                  <a:solidFill>
                    <a:srgbClr val="C0C0C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56401" name="Group 58">
                <a:extLst>
                  <a:ext uri="{FF2B5EF4-FFF2-40B4-BE49-F238E27FC236}">
                    <a16:creationId xmlns:a16="http://schemas.microsoft.com/office/drawing/2014/main" id="{37964C95-953A-37B1-F2DA-2CB9BBB53C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92" y="3060"/>
                <a:ext cx="421" cy="294"/>
                <a:chOff x="1992" y="3162"/>
                <a:chExt cx="421" cy="294"/>
              </a:xfrm>
            </p:grpSpPr>
            <p:sp>
              <p:nvSpPr>
                <p:cNvPr id="56414" name="Text Box 59">
                  <a:extLst>
                    <a:ext uri="{FF2B5EF4-FFF2-40B4-BE49-F238E27FC236}">
                      <a16:creationId xmlns:a16="http://schemas.microsoft.com/office/drawing/2014/main" id="{6B1739C6-FA31-A1CB-B553-712472BDCD9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92" y="3162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437085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spcBef>
                      <a:spcPct val="20000"/>
                    </a:spcBef>
                    <a:buClr>
                      <a:srgbClr val="357E6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18BA3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2F6E7E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400">
                      <a:solidFill>
                        <a:srgbClr val="B2B2B2"/>
                      </a:solidFill>
                      <a:latin typeface="Arial Unicode MS" pitchFamily="34" charset="-120"/>
                      <a:ea typeface="新細明體" panose="02020500000000000000" pitchFamily="18" charset="-120"/>
                      <a:cs typeface="Arial Unicode MS" pitchFamily="34" charset="-120"/>
                    </a:rPr>
                    <a:t>4</a:t>
                  </a:r>
                </a:p>
              </p:txBody>
            </p:sp>
            <p:cxnSp>
              <p:nvCxnSpPr>
                <p:cNvPr id="56415" name="AutoShape 60">
                  <a:extLst>
                    <a:ext uri="{FF2B5EF4-FFF2-40B4-BE49-F238E27FC236}">
                      <a16:creationId xmlns:a16="http://schemas.microsoft.com/office/drawing/2014/main" id="{B393EA88-B338-C5B8-8D6D-98AB5A014CAF}"/>
                    </a:ext>
                  </a:extLst>
                </p:cNvPr>
                <p:cNvCxnSpPr>
                  <a:cxnSpLocks noChangeShapeType="1"/>
                  <a:stCxn id="56414" idx="3"/>
                  <a:endCxn id="56412" idx="1"/>
                </p:cNvCxnSpPr>
                <p:nvPr/>
              </p:nvCxnSpPr>
              <p:spPr bwMode="auto">
                <a:xfrm>
                  <a:off x="2221" y="3309"/>
                  <a:ext cx="192" cy="0"/>
                </a:xfrm>
                <a:prstGeom prst="straightConnector1">
                  <a:avLst/>
                </a:prstGeom>
                <a:noFill/>
                <a:ln w="9525">
                  <a:solidFill>
                    <a:srgbClr val="C0C0C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56402" name="Group 61">
                <a:extLst>
                  <a:ext uri="{FF2B5EF4-FFF2-40B4-BE49-F238E27FC236}">
                    <a16:creationId xmlns:a16="http://schemas.microsoft.com/office/drawing/2014/main" id="{3435F9DF-8CA1-757C-368B-EFB2592681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13" y="3060"/>
                <a:ext cx="384" cy="294"/>
                <a:chOff x="2413" y="3162"/>
                <a:chExt cx="384" cy="294"/>
              </a:xfrm>
            </p:grpSpPr>
            <p:sp>
              <p:nvSpPr>
                <p:cNvPr id="56412" name="Text Box 62">
                  <a:extLst>
                    <a:ext uri="{FF2B5EF4-FFF2-40B4-BE49-F238E27FC236}">
                      <a16:creationId xmlns:a16="http://schemas.microsoft.com/office/drawing/2014/main" id="{366D9EA8-93DC-935B-A3CE-A876A185A79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13" y="3162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437085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spcBef>
                      <a:spcPct val="20000"/>
                    </a:spcBef>
                    <a:buClr>
                      <a:srgbClr val="357E6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18BA3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2F6E7E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400">
                      <a:solidFill>
                        <a:srgbClr val="B2B2B2"/>
                      </a:solidFill>
                      <a:latin typeface="Arial Unicode MS" pitchFamily="34" charset="-120"/>
                      <a:ea typeface="新細明體" panose="02020500000000000000" pitchFamily="18" charset="-120"/>
                      <a:cs typeface="Arial Unicode MS" pitchFamily="34" charset="-120"/>
                    </a:rPr>
                    <a:t>8</a:t>
                  </a:r>
                </a:p>
              </p:txBody>
            </p:sp>
            <p:cxnSp>
              <p:nvCxnSpPr>
                <p:cNvPr id="56413" name="AutoShape 63">
                  <a:extLst>
                    <a:ext uri="{FF2B5EF4-FFF2-40B4-BE49-F238E27FC236}">
                      <a16:creationId xmlns:a16="http://schemas.microsoft.com/office/drawing/2014/main" id="{DA1A4D77-752F-41EF-7DA2-BA1C6A4D3B68}"/>
                    </a:ext>
                  </a:extLst>
                </p:cNvPr>
                <p:cNvCxnSpPr>
                  <a:cxnSpLocks noChangeShapeType="1"/>
                  <a:stCxn id="56412" idx="3"/>
                  <a:endCxn id="56410" idx="1"/>
                </p:cNvCxnSpPr>
                <p:nvPr/>
              </p:nvCxnSpPr>
              <p:spPr bwMode="auto">
                <a:xfrm>
                  <a:off x="2642" y="3309"/>
                  <a:ext cx="155" cy="0"/>
                </a:xfrm>
                <a:prstGeom prst="straightConnector1">
                  <a:avLst/>
                </a:prstGeom>
                <a:noFill/>
                <a:ln w="9525">
                  <a:solidFill>
                    <a:srgbClr val="C0C0C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56403" name="Group 64">
                <a:extLst>
                  <a:ext uri="{FF2B5EF4-FFF2-40B4-BE49-F238E27FC236}">
                    <a16:creationId xmlns:a16="http://schemas.microsoft.com/office/drawing/2014/main" id="{89E9A645-52F0-314C-47EC-26072060521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97" y="3060"/>
                <a:ext cx="480" cy="294"/>
                <a:chOff x="2797" y="3162"/>
                <a:chExt cx="480" cy="294"/>
              </a:xfrm>
            </p:grpSpPr>
            <p:sp>
              <p:nvSpPr>
                <p:cNvPr id="56410" name="Text Box 65">
                  <a:extLst>
                    <a:ext uri="{FF2B5EF4-FFF2-40B4-BE49-F238E27FC236}">
                      <a16:creationId xmlns:a16="http://schemas.microsoft.com/office/drawing/2014/main" id="{F6168483-172F-24C6-AB27-2E2A9B390F5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97" y="3162"/>
                  <a:ext cx="336" cy="294"/>
                </a:xfrm>
                <a:prstGeom prst="rect">
                  <a:avLst/>
                </a:prstGeom>
                <a:noFill/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437085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spcBef>
                      <a:spcPct val="20000"/>
                    </a:spcBef>
                    <a:buClr>
                      <a:srgbClr val="357E6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18BA3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2F6E7E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400">
                      <a:solidFill>
                        <a:srgbClr val="B2B2B2"/>
                      </a:solidFill>
                      <a:latin typeface="Arial Unicode MS" pitchFamily="34" charset="-120"/>
                      <a:ea typeface="新細明體" panose="02020500000000000000" pitchFamily="18" charset="-120"/>
                      <a:cs typeface="Arial Unicode MS" pitchFamily="34" charset="-120"/>
                    </a:rPr>
                    <a:t>16</a:t>
                  </a:r>
                </a:p>
              </p:txBody>
            </p:sp>
            <p:cxnSp>
              <p:nvCxnSpPr>
                <p:cNvPr id="56411" name="AutoShape 66">
                  <a:extLst>
                    <a:ext uri="{FF2B5EF4-FFF2-40B4-BE49-F238E27FC236}">
                      <a16:creationId xmlns:a16="http://schemas.microsoft.com/office/drawing/2014/main" id="{6B267A4D-3BCF-F1B6-DAB0-0FE79895E433}"/>
                    </a:ext>
                  </a:extLst>
                </p:cNvPr>
                <p:cNvCxnSpPr>
                  <a:cxnSpLocks noChangeShapeType="1"/>
                  <a:stCxn id="56410" idx="3"/>
                  <a:endCxn id="56408" idx="1"/>
                </p:cNvCxnSpPr>
                <p:nvPr/>
              </p:nvCxnSpPr>
              <p:spPr bwMode="auto">
                <a:xfrm>
                  <a:off x="3133" y="3309"/>
                  <a:ext cx="144" cy="0"/>
                </a:xfrm>
                <a:prstGeom prst="straightConnector1">
                  <a:avLst/>
                </a:prstGeom>
                <a:noFill/>
                <a:ln w="9525">
                  <a:solidFill>
                    <a:srgbClr val="C0C0C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56404" name="Group 67">
                <a:extLst>
                  <a:ext uri="{FF2B5EF4-FFF2-40B4-BE49-F238E27FC236}">
                    <a16:creationId xmlns:a16="http://schemas.microsoft.com/office/drawing/2014/main" id="{3B5E56EB-C637-2C7B-1C02-F34273684E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77" y="3066"/>
                <a:ext cx="528" cy="294"/>
                <a:chOff x="3277" y="3162"/>
                <a:chExt cx="528" cy="294"/>
              </a:xfrm>
            </p:grpSpPr>
            <p:sp>
              <p:nvSpPr>
                <p:cNvPr id="56408" name="Text Box 68">
                  <a:extLst>
                    <a:ext uri="{FF2B5EF4-FFF2-40B4-BE49-F238E27FC236}">
                      <a16:creationId xmlns:a16="http://schemas.microsoft.com/office/drawing/2014/main" id="{89310584-D076-27FF-5568-0F5DC386039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77" y="3162"/>
                  <a:ext cx="336" cy="294"/>
                </a:xfrm>
                <a:prstGeom prst="rect">
                  <a:avLst/>
                </a:prstGeom>
                <a:noFill/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437085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spcBef>
                      <a:spcPct val="20000"/>
                    </a:spcBef>
                    <a:buClr>
                      <a:srgbClr val="357E6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18BA3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2F6E7E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400">
                      <a:solidFill>
                        <a:srgbClr val="B2B2B2"/>
                      </a:solidFill>
                      <a:latin typeface="Arial Unicode MS" pitchFamily="34" charset="-120"/>
                      <a:ea typeface="新細明體" panose="02020500000000000000" pitchFamily="18" charset="-120"/>
                      <a:cs typeface="Arial Unicode MS" pitchFamily="34" charset="-120"/>
                    </a:rPr>
                    <a:t>32</a:t>
                  </a:r>
                </a:p>
              </p:txBody>
            </p:sp>
            <p:cxnSp>
              <p:nvCxnSpPr>
                <p:cNvPr id="56409" name="AutoShape 69">
                  <a:extLst>
                    <a:ext uri="{FF2B5EF4-FFF2-40B4-BE49-F238E27FC236}">
                      <a16:creationId xmlns:a16="http://schemas.microsoft.com/office/drawing/2014/main" id="{71812112-375B-517C-F463-6E75F2CEFB25}"/>
                    </a:ext>
                  </a:extLst>
                </p:cNvPr>
                <p:cNvCxnSpPr>
                  <a:cxnSpLocks noChangeShapeType="1"/>
                  <a:stCxn id="56408" idx="3"/>
                  <a:endCxn id="56406" idx="1"/>
                </p:cNvCxnSpPr>
                <p:nvPr/>
              </p:nvCxnSpPr>
              <p:spPr bwMode="auto">
                <a:xfrm>
                  <a:off x="3613" y="3309"/>
                  <a:ext cx="192" cy="0"/>
                </a:xfrm>
                <a:prstGeom prst="straightConnector1">
                  <a:avLst/>
                </a:prstGeom>
                <a:noFill/>
                <a:ln w="9525">
                  <a:solidFill>
                    <a:srgbClr val="C0C0C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56405" name="Group 70">
                <a:extLst>
                  <a:ext uri="{FF2B5EF4-FFF2-40B4-BE49-F238E27FC236}">
                    <a16:creationId xmlns:a16="http://schemas.microsoft.com/office/drawing/2014/main" id="{E649FBC1-82A0-3F41-A3DF-5C19ED9388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05" y="3066"/>
                <a:ext cx="528" cy="294"/>
                <a:chOff x="3805" y="3162"/>
                <a:chExt cx="528" cy="294"/>
              </a:xfrm>
            </p:grpSpPr>
            <p:sp>
              <p:nvSpPr>
                <p:cNvPr id="56406" name="Text Box 71">
                  <a:extLst>
                    <a:ext uri="{FF2B5EF4-FFF2-40B4-BE49-F238E27FC236}">
                      <a16:creationId xmlns:a16="http://schemas.microsoft.com/office/drawing/2014/main" id="{E9FCDC04-43DD-0D04-420F-11ECD07C528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05" y="3162"/>
                  <a:ext cx="336" cy="294"/>
                </a:xfrm>
                <a:prstGeom prst="rect">
                  <a:avLst/>
                </a:prstGeom>
                <a:noFill/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437085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spcBef>
                      <a:spcPct val="20000"/>
                    </a:spcBef>
                    <a:buClr>
                      <a:srgbClr val="357E6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18BA3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2F6E7E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400">
                      <a:solidFill>
                        <a:srgbClr val="B2B2B2"/>
                      </a:solidFill>
                      <a:latin typeface="Arial Unicode MS" pitchFamily="34" charset="-120"/>
                      <a:ea typeface="新細明體" panose="02020500000000000000" pitchFamily="18" charset="-120"/>
                      <a:cs typeface="Arial Unicode MS" pitchFamily="34" charset="-120"/>
                    </a:rPr>
                    <a:t>64</a:t>
                  </a:r>
                </a:p>
              </p:txBody>
            </p:sp>
            <p:cxnSp>
              <p:nvCxnSpPr>
                <p:cNvPr id="56407" name="AutoShape 72">
                  <a:extLst>
                    <a:ext uri="{FF2B5EF4-FFF2-40B4-BE49-F238E27FC236}">
                      <a16:creationId xmlns:a16="http://schemas.microsoft.com/office/drawing/2014/main" id="{770E99ED-7C90-ED30-5267-2F64898668ED}"/>
                    </a:ext>
                  </a:extLst>
                </p:cNvPr>
                <p:cNvCxnSpPr>
                  <a:cxnSpLocks noChangeShapeType="1"/>
                  <a:stCxn id="56406" idx="3"/>
                  <a:endCxn id="56399" idx="1"/>
                </p:cNvCxnSpPr>
                <p:nvPr/>
              </p:nvCxnSpPr>
              <p:spPr bwMode="auto">
                <a:xfrm>
                  <a:off x="4141" y="3309"/>
                  <a:ext cx="192" cy="0"/>
                </a:xfrm>
                <a:prstGeom prst="straightConnector1">
                  <a:avLst/>
                </a:prstGeom>
                <a:noFill/>
                <a:ln w="9525">
                  <a:solidFill>
                    <a:srgbClr val="C0C0C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56379" name="Group 73">
              <a:extLst>
                <a:ext uri="{FF2B5EF4-FFF2-40B4-BE49-F238E27FC236}">
                  <a16:creationId xmlns:a16="http://schemas.microsoft.com/office/drawing/2014/main" id="{E5BC0861-6781-A6A3-FFDB-580C1211D9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97" y="3600"/>
              <a:ext cx="408" cy="294"/>
              <a:chOff x="1597" y="3498"/>
              <a:chExt cx="408" cy="294"/>
            </a:xfrm>
          </p:grpSpPr>
          <p:sp>
            <p:nvSpPr>
              <p:cNvPr id="56397" name="Text Box 74">
                <a:extLst>
                  <a:ext uri="{FF2B5EF4-FFF2-40B4-BE49-F238E27FC236}">
                    <a16:creationId xmlns:a16="http://schemas.microsoft.com/office/drawing/2014/main" id="{D778C19F-AD24-F86E-D7A6-DCB0817634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97" y="3498"/>
                <a:ext cx="229" cy="294"/>
              </a:xfrm>
              <a:prstGeom prst="rect">
                <a:avLst/>
              </a:prstGeom>
              <a:noFill/>
              <a:ln w="9525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solidFill>
                      <a:srgbClr val="B2B2B2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1</a:t>
                </a:r>
              </a:p>
            </p:txBody>
          </p:sp>
          <p:cxnSp>
            <p:nvCxnSpPr>
              <p:cNvPr id="56398" name="AutoShape 75">
                <a:extLst>
                  <a:ext uri="{FF2B5EF4-FFF2-40B4-BE49-F238E27FC236}">
                    <a16:creationId xmlns:a16="http://schemas.microsoft.com/office/drawing/2014/main" id="{F7693477-F7D4-D010-724D-FBBC3C6AA93A}"/>
                  </a:ext>
                </a:extLst>
              </p:cNvPr>
              <p:cNvCxnSpPr>
                <a:cxnSpLocks noChangeShapeType="1"/>
                <a:stCxn id="56397" idx="3"/>
                <a:endCxn id="56395" idx="1"/>
              </p:cNvCxnSpPr>
              <p:nvPr/>
            </p:nvCxnSpPr>
            <p:spPr bwMode="auto">
              <a:xfrm>
                <a:off x="1826" y="3645"/>
                <a:ext cx="179" cy="0"/>
              </a:xfrm>
              <a:prstGeom prst="straightConnector1">
                <a:avLst/>
              </a:prstGeom>
              <a:noFill/>
              <a:ln w="9525">
                <a:solidFill>
                  <a:srgbClr val="C0C0C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6380" name="Group 76">
              <a:extLst>
                <a:ext uri="{FF2B5EF4-FFF2-40B4-BE49-F238E27FC236}">
                  <a16:creationId xmlns:a16="http://schemas.microsoft.com/office/drawing/2014/main" id="{8CD73145-D440-B39B-7B87-79E9E9E817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05" y="3600"/>
              <a:ext cx="408" cy="294"/>
              <a:chOff x="2005" y="3498"/>
              <a:chExt cx="408" cy="294"/>
            </a:xfrm>
          </p:grpSpPr>
          <p:sp>
            <p:nvSpPr>
              <p:cNvPr id="56395" name="Text Box 77">
                <a:extLst>
                  <a:ext uri="{FF2B5EF4-FFF2-40B4-BE49-F238E27FC236}">
                    <a16:creationId xmlns:a16="http://schemas.microsoft.com/office/drawing/2014/main" id="{32E4FA8B-8B9E-A8B4-1F9D-411AEB562E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05" y="3498"/>
                <a:ext cx="229" cy="294"/>
              </a:xfrm>
              <a:prstGeom prst="rect">
                <a:avLst/>
              </a:prstGeom>
              <a:noFill/>
              <a:ln w="9525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solidFill>
                      <a:srgbClr val="B2B2B2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2</a:t>
                </a:r>
              </a:p>
            </p:txBody>
          </p:sp>
          <p:cxnSp>
            <p:nvCxnSpPr>
              <p:cNvPr id="56396" name="AutoShape 78">
                <a:extLst>
                  <a:ext uri="{FF2B5EF4-FFF2-40B4-BE49-F238E27FC236}">
                    <a16:creationId xmlns:a16="http://schemas.microsoft.com/office/drawing/2014/main" id="{BDCA85B3-3CC7-29B8-B7B1-5731E586E218}"/>
                  </a:ext>
                </a:extLst>
              </p:cNvPr>
              <p:cNvCxnSpPr>
                <a:cxnSpLocks noChangeShapeType="1"/>
                <a:stCxn id="56395" idx="3"/>
                <a:endCxn id="56393" idx="1"/>
              </p:cNvCxnSpPr>
              <p:nvPr/>
            </p:nvCxnSpPr>
            <p:spPr bwMode="auto">
              <a:xfrm>
                <a:off x="2234" y="3645"/>
                <a:ext cx="179" cy="0"/>
              </a:xfrm>
              <a:prstGeom prst="straightConnector1">
                <a:avLst/>
              </a:prstGeom>
              <a:noFill/>
              <a:ln w="9525">
                <a:solidFill>
                  <a:srgbClr val="C0C0C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6381" name="Group 79">
              <a:extLst>
                <a:ext uri="{FF2B5EF4-FFF2-40B4-BE49-F238E27FC236}">
                  <a16:creationId xmlns:a16="http://schemas.microsoft.com/office/drawing/2014/main" id="{45000F95-EFBF-89BA-12EE-B0A278A1A2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3" y="3606"/>
              <a:ext cx="397" cy="294"/>
              <a:chOff x="2413" y="3498"/>
              <a:chExt cx="397" cy="294"/>
            </a:xfrm>
          </p:grpSpPr>
          <p:sp>
            <p:nvSpPr>
              <p:cNvPr id="56393" name="Text Box 80">
                <a:extLst>
                  <a:ext uri="{FF2B5EF4-FFF2-40B4-BE49-F238E27FC236}">
                    <a16:creationId xmlns:a16="http://schemas.microsoft.com/office/drawing/2014/main" id="{99C5DB18-9EC7-3289-B057-E58AD3627C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3" y="3498"/>
                <a:ext cx="229" cy="294"/>
              </a:xfrm>
              <a:prstGeom prst="rect">
                <a:avLst/>
              </a:prstGeom>
              <a:noFill/>
              <a:ln w="9525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solidFill>
                      <a:srgbClr val="B2B2B2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3</a:t>
                </a:r>
              </a:p>
            </p:txBody>
          </p:sp>
          <p:cxnSp>
            <p:nvCxnSpPr>
              <p:cNvPr id="56394" name="AutoShape 81">
                <a:extLst>
                  <a:ext uri="{FF2B5EF4-FFF2-40B4-BE49-F238E27FC236}">
                    <a16:creationId xmlns:a16="http://schemas.microsoft.com/office/drawing/2014/main" id="{89C04F2A-1027-E37C-4F53-6A4E7E1308BB}"/>
                  </a:ext>
                </a:extLst>
              </p:cNvPr>
              <p:cNvCxnSpPr>
                <a:cxnSpLocks noChangeShapeType="1"/>
                <a:stCxn id="56393" idx="3"/>
                <a:endCxn id="56391" idx="1"/>
              </p:cNvCxnSpPr>
              <p:nvPr/>
            </p:nvCxnSpPr>
            <p:spPr bwMode="auto">
              <a:xfrm>
                <a:off x="2642" y="3645"/>
                <a:ext cx="168" cy="0"/>
              </a:xfrm>
              <a:prstGeom prst="straightConnector1">
                <a:avLst/>
              </a:prstGeom>
              <a:noFill/>
              <a:ln w="9525">
                <a:solidFill>
                  <a:srgbClr val="C0C0C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6382" name="Group 82">
              <a:extLst>
                <a:ext uri="{FF2B5EF4-FFF2-40B4-BE49-F238E27FC236}">
                  <a16:creationId xmlns:a16="http://schemas.microsoft.com/office/drawing/2014/main" id="{5440E9CC-53E3-7EB4-3AF3-5E10B8D984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0" y="3600"/>
              <a:ext cx="382" cy="294"/>
              <a:chOff x="2810" y="3498"/>
              <a:chExt cx="382" cy="294"/>
            </a:xfrm>
          </p:grpSpPr>
          <p:sp>
            <p:nvSpPr>
              <p:cNvPr id="56391" name="Text Box 83">
                <a:extLst>
                  <a:ext uri="{FF2B5EF4-FFF2-40B4-BE49-F238E27FC236}">
                    <a16:creationId xmlns:a16="http://schemas.microsoft.com/office/drawing/2014/main" id="{4191DF6C-8CD3-6451-349D-8A93A9B26B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" y="3498"/>
                <a:ext cx="229" cy="294"/>
              </a:xfrm>
              <a:prstGeom prst="rect">
                <a:avLst/>
              </a:prstGeom>
              <a:noFill/>
              <a:ln w="9525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solidFill>
                      <a:srgbClr val="B2B2B2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5</a:t>
                </a:r>
              </a:p>
            </p:txBody>
          </p:sp>
          <p:cxnSp>
            <p:nvCxnSpPr>
              <p:cNvPr id="56392" name="AutoShape 84">
                <a:extLst>
                  <a:ext uri="{FF2B5EF4-FFF2-40B4-BE49-F238E27FC236}">
                    <a16:creationId xmlns:a16="http://schemas.microsoft.com/office/drawing/2014/main" id="{08F7C42A-A098-8DDB-EAC5-5FD8E74808A2}"/>
                  </a:ext>
                </a:extLst>
              </p:cNvPr>
              <p:cNvCxnSpPr>
                <a:cxnSpLocks noChangeShapeType="1"/>
                <a:stCxn id="56391" idx="3"/>
                <a:endCxn id="56389" idx="1"/>
              </p:cNvCxnSpPr>
              <p:nvPr/>
            </p:nvCxnSpPr>
            <p:spPr bwMode="auto">
              <a:xfrm>
                <a:off x="3039" y="3645"/>
                <a:ext cx="153" cy="0"/>
              </a:xfrm>
              <a:prstGeom prst="straightConnector1">
                <a:avLst/>
              </a:prstGeom>
              <a:noFill/>
              <a:ln w="9525">
                <a:solidFill>
                  <a:srgbClr val="C0C0C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6383" name="Group 85">
              <a:extLst>
                <a:ext uri="{FF2B5EF4-FFF2-40B4-BE49-F238E27FC236}">
                  <a16:creationId xmlns:a16="http://schemas.microsoft.com/office/drawing/2014/main" id="{A0FE010E-2FD9-7FA3-0CAC-0A9F0F1BF2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2" y="3600"/>
              <a:ext cx="373" cy="294"/>
              <a:chOff x="3192" y="3498"/>
              <a:chExt cx="373" cy="294"/>
            </a:xfrm>
          </p:grpSpPr>
          <p:sp>
            <p:nvSpPr>
              <p:cNvPr id="56389" name="Text Box 86">
                <a:extLst>
                  <a:ext uri="{FF2B5EF4-FFF2-40B4-BE49-F238E27FC236}">
                    <a16:creationId xmlns:a16="http://schemas.microsoft.com/office/drawing/2014/main" id="{9E2D1384-8ED5-E118-7ECE-F8C7068D82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2" y="3498"/>
                <a:ext cx="229" cy="294"/>
              </a:xfrm>
              <a:prstGeom prst="rect">
                <a:avLst/>
              </a:prstGeom>
              <a:noFill/>
              <a:ln w="9525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solidFill>
                      <a:srgbClr val="B2B2B2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8</a:t>
                </a:r>
              </a:p>
            </p:txBody>
          </p:sp>
          <p:cxnSp>
            <p:nvCxnSpPr>
              <p:cNvPr id="56390" name="AutoShape 87">
                <a:extLst>
                  <a:ext uri="{FF2B5EF4-FFF2-40B4-BE49-F238E27FC236}">
                    <a16:creationId xmlns:a16="http://schemas.microsoft.com/office/drawing/2014/main" id="{0793C88F-5459-10B8-7731-3FECA7E13BF3}"/>
                  </a:ext>
                </a:extLst>
              </p:cNvPr>
              <p:cNvCxnSpPr>
                <a:cxnSpLocks noChangeShapeType="1"/>
                <a:stCxn id="56389" idx="3"/>
                <a:endCxn id="56384" idx="1"/>
              </p:cNvCxnSpPr>
              <p:nvPr/>
            </p:nvCxnSpPr>
            <p:spPr bwMode="auto">
              <a:xfrm>
                <a:off x="3421" y="3645"/>
                <a:ext cx="144" cy="0"/>
              </a:xfrm>
              <a:prstGeom prst="straightConnector1">
                <a:avLst/>
              </a:prstGeom>
              <a:noFill/>
              <a:ln w="9525">
                <a:solidFill>
                  <a:srgbClr val="C0C0C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6384" name="Text Box 89">
              <a:extLst>
                <a:ext uri="{FF2B5EF4-FFF2-40B4-BE49-F238E27FC236}">
                  <a16:creationId xmlns:a16="http://schemas.microsoft.com/office/drawing/2014/main" id="{18E4AB62-106F-6DBE-BC6B-6BDED18503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5" y="3600"/>
              <a:ext cx="371" cy="294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solidFill>
                    <a:srgbClr val="B2B2B2"/>
                  </a:solidFill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13</a:t>
              </a:r>
            </a:p>
          </p:txBody>
        </p:sp>
        <p:cxnSp>
          <p:nvCxnSpPr>
            <p:cNvPr id="56385" name="AutoShape 90">
              <a:extLst>
                <a:ext uri="{FF2B5EF4-FFF2-40B4-BE49-F238E27FC236}">
                  <a16:creationId xmlns:a16="http://schemas.microsoft.com/office/drawing/2014/main" id="{8B9DFF5D-72D5-2501-78B8-8F40913A7496}"/>
                </a:ext>
              </a:extLst>
            </p:cNvPr>
            <p:cNvCxnSpPr>
              <a:cxnSpLocks noChangeShapeType="1"/>
              <a:stCxn id="56384" idx="3"/>
              <a:endCxn id="56387" idx="1"/>
            </p:cNvCxnSpPr>
            <p:nvPr/>
          </p:nvCxnSpPr>
          <p:spPr bwMode="auto">
            <a:xfrm>
              <a:off x="3936" y="3747"/>
              <a:ext cx="109" cy="0"/>
            </a:xfrm>
            <a:prstGeom prst="straightConnector1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56386" name="Group 91">
              <a:extLst>
                <a:ext uri="{FF2B5EF4-FFF2-40B4-BE49-F238E27FC236}">
                  <a16:creationId xmlns:a16="http://schemas.microsoft.com/office/drawing/2014/main" id="{F48AB80C-0835-888C-ED70-848B3E0662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5" y="3600"/>
              <a:ext cx="480" cy="294"/>
              <a:chOff x="4045" y="3498"/>
              <a:chExt cx="480" cy="294"/>
            </a:xfrm>
          </p:grpSpPr>
          <p:sp>
            <p:nvSpPr>
              <p:cNvPr id="56387" name="Text Box 92">
                <a:extLst>
                  <a:ext uri="{FF2B5EF4-FFF2-40B4-BE49-F238E27FC236}">
                    <a16:creationId xmlns:a16="http://schemas.microsoft.com/office/drawing/2014/main" id="{6808F57B-62FE-4739-A79E-AD63E983CE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45" y="3498"/>
                <a:ext cx="336" cy="294"/>
              </a:xfrm>
              <a:prstGeom prst="rect">
                <a:avLst/>
              </a:prstGeom>
              <a:noFill/>
              <a:ln w="9525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solidFill>
                      <a:srgbClr val="B2B2B2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21</a:t>
                </a:r>
              </a:p>
            </p:txBody>
          </p:sp>
          <p:cxnSp>
            <p:nvCxnSpPr>
              <p:cNvPr id="56388" name="AutoShape 93">
                <a:extLst>
                  <a:ext uri="{FF2B5EF4-FFF2-40B4-BE49-F238E27FC236}">
                    <a16:creationId xmlns:a16="http://schemas.microsoft.com/office/drawing/2014/main" id="{66CBDCCE-386D-1957-14DD-CC21A59D1A36}"/>
                  </a:ext>
                </a:extLst>
              </p:cNvPr>
              <p:cNvCxnSpPr>
                <a:cxnSpLocks noChangeShapeType="1"/>
                <a:stCxn id="56387" idx="3"/>
                <a:endCxn id="56377" idx="1"/>
              </p:cNvCxnSpPr>
              <p:nvPr/>
            </p:nvCxnSpPr>
            <p:spPr bwMode="auto">
              <a:xfrm>
                <a:off x="4381" y="3645"/>
                <a:ext cx="144" cy="0"/>
              </a:xfrm>
              <a:prstGeom prst="straightConnector1">
                <a:avLst/>
              </a:prstGeom>
              <a:noFill/>
              <a:ln w="9525">
                <a:solidFill>
                  <a:srgbClr val="C0C0C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1211396" name="Text Box 4">
            <a:extLst>
              <a:ext uri="{FF2B5EF4-FFF2-40B4-BE49-F238E27FC236}">
                <a16:creationId xmlns:a16="http://schemas.microsoft.com/office/drawing/2014/main" id="{A2E83989-2E9C-697D-C076-A44CB6ABF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2638" y="3429001"/>
            <a:ext cx="703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rPr>
              <a:t>128</a:t>
            </a:r>
          </a:p>
        </p:txBody>
      </p:sp>
      <p:sp>
        <p:nvSpPr>
          <p:cNvPr id="1211397" name="Text Box 5">
            <a:extLst>
              <a:ext uri="{FF2B5EF4-FFF2-40B4-BE49-F238E27FC236}">
                <a16:creationId xmlns:a16="http://schemas.microsoft.com/office/drawing/2014/main" id="{4054000A-1273-DCB9-1059-94405ECCC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7438" y="3962401"/>
            <a:ext cx="533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rPr>
              <a:t>34</a:t>
            </a:r>
          </a:p>
        </p:txBody>
      </p:sp>
      <p:grpSp>
        <p:nvGrpSpPr>
          <p:cNvPr id="16" name="Group 6">
            <a:extLst>
              <a:ext uri="{FF2B5EF4-FFF2-40B4-BE49-F238E27FC236}">
                <a16:creationId xmlns:a16="http://schemas.microsoft.com/office/drawing/2014/main" id="{CEBA2EF3-A82F-8431-4EF5-F14DD47FD023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3429001"/>
            <a:ext cx="647700" cy="466725"/>
            <a:chOff x="1584" y="3162"/>
            <a:chExt cx="408" cy="294"/>
          </a:xfrm>
        </p:grpSpPr>
        <p:sp>
          <p:nvSpPr>
            <p:cNvPr id="56375" name="Text Box 7">
              <a:extLst>
                <a:ext uri="{FF2B5EF4-FFF2-40B4-BE49-F238E27FC236}">
                  <a16:creationId xmlns:a16="http://schemas.microsoft.com/office/drawing/2014/main" id="{4B81E8F8-E2B8-A5C6-BBB5-8883C77C01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316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2</a:t>
              </a:r>
            </a:p>
          </p:txBody>
        </p:sp>
        <p:cxnSp>
          <p:nvCxnSpPr>
            <p:cNvPr id="56376" name="AutoShape 8">
              <a:extLst>
                <a:ext uri="{FF2B5EF4-FFF2-40B4-BE49-F238E27FC236}">
                  <a16:creationId xmlns:a16="http://schemas.microsoft.com/office/drawing/2014/main" id="{5C1F1041-8716-E70A-080C-D7B5A9A2E19B}"/>
                </a:ext>
              </a:extLst>
            </p:cNvPr>
            <p:cNvCxnSpPr>
              <a:cxnSpLocks noChangeShapeType="1"/>
              <a:stCxn id="56375" idx="3"/>
              <a:endCxn id="56373" idx="1"/>
            </p:cNvCxnSpPr>
            <p:nvPr/>
          </p:nvCxnSpPr>
          <p:spPr bwMode="auto">
            <a:xfrm>
              <a:off x="1813" y="3309"/>
              <a:ext cx="1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" name="Group 9">
            <a:extLst>
              <a:ext uri="{FF2B5EF4-FFF2-40B4-BE49-F238E27FC236}">
                <a16:creationId xmlns:a16="http://schemas.microsoft.com/office/drawing/2014/main" id="{538E50B6-DE2D-C6B4-1FF6-03E73C3BF400}"/>
              </a:ext>
            </a:extLst>
          </p:cNvPr>
          <p:cNvGrpSpPr>
            <a:grpSpLocks/>
          </p:cNvGrpSpPr>
          <p:nvPr/>
        </p:nvGrpSpPr>
        <p:grpSpPr bwMode="auto">
          <a:xfrm>
            <a:off x="4686300" y="3429001"/>
            <a:ext cx="668338" cy="466725"/>
            <a:chOff x="1992" y="3162"/>
            <a:chExt cx="421" cy="294"/>
          </a:xfrm>
        </p:grpSpPr>
        <p:sp>
          <p:nvSpPr>
            <p:cNvPr id="56373" name="Text Box 10">
              <a:extLst>
                <a:ext uri="{FF2B5EF4-FFF2-40B4-BE49-F238E27FC236}">
                  <a16:creationId xmlns:a16="http://schemas.microsoft.com/office/drawing/2014/main" id="{C95E459F-1AAB-66C0-A0B9-D1E8829324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2" y="316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4</a:t>
              </a:r>
            </a:p>
          </p:txBody>
        </p:sp>
        <p:cxnSp>
          <p:nvCxnSpPr>
            <p:cNvPr id="56374" name="AutoShape 11">
              <a:extLst>
                <a:ext uri="{FF2B5EF4-FFF2-40B4-BE49-F238E27FC236}">
                  <a16:creationId xmlns:a16="http://schemas.microsoft.com/office/drawing/2014/main" id="{AD83F71E-50F7-F35D-F8BA-CD1FD1301DE7}"/>
                </a:ext>
              </a:extLst>
            </p:cNvPr>
            <p:cNvCxnSpPr>
              <a:cxnSpLocks noChangeShapeType="1"/>
              <a:stCxn id="56373" idx="3"/>
              <a:endCxn id="56371" idx="1"/>
            </p:cNvCxnSpPr>
            <p:nvPr/>
          </p:nvCxnSpPr>
          <p:spPr bwMode="auto">
            <a:xfrm>
              <a:off x="2221" y="3309"/>
              <a:ext cx="19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8" name="Group 12">
            <a:extLst>
              <a:ext uri="{FF2B5EF4-FFF2-40B4-BE49-F238E27FC236}">
                <a16:creationId xmlns:a16="http://schemas.microsoft.com/office/drawing/2014/main" id="{112BC770-8771-97F5-AC6B-949BA4190F69}"/>
              </a:ext>
            </a:extLst>
          </p:cNvPr>
          <p:cNvGrpSpPr>
            <a:grpSpLocks/>
          </p:cNvGrpSpPr>
          <p:nvPr/>
        </p:nvGrpSpPr>
        <p:grpSpPr bwMode="auto">
          <a:xfrm>
            <a:off x="5354638" y="3429001"/>
            <a:ext cx="609600" cy="466725"/>
            <a:chOff x="2413" y="3162"/>
            <a:chExt cx="384" cy="294"/>
          </a:xfrm>
        </p:grpSpPr>
        <p:sp>
          <p:nvSpPr>
            <p:cNvPr id="56371" name="Text Box 13">
              <a:extLst>
                <a:ext uri="{FF2B5EF4-FFF2-40B4-BE49-F238E27FC236}">
                  <a16:creationId xmlns:a16="http://schemas.microsoft.com/office/drawing/2014/main" id="{0CF69B8A-E531-A664-85BB-7B4A76113E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3" y="316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8</a:t>
              </a:r>
            </a:p>
          </p:txBody>
        </p:sp>
        <p:cxnSp>
          <p:nvCxnSpPr>
            <p:cNvPr id="56372" name="AutoShape 14">
              <a:extLst>
                <a:ext uri="{FF2B5EF4-FFF2-40B4-BE49-F238E27FC236}">
                  <a16:creationId xmlns:a16="http://schemas.microsoft.com/office/drawing/2014/main" id="{D27E6C62-BBF0-3663-0BD7-156819A02585}"/>
                </a:ext>
              </a:extLst>
            </p:cNvPr>
            <p:cNvCxnSpPr>
              <a:cxnSpLocks noChangeShapeType="1"/>
              <a:stCxn id="56371" idx="3"/>
              <a:endCxn id="56369" idx="1"/>
            </p:cNvCxnSpPr>
            <p:nvPr/>
          </p:nvCxnSpPr>
          <p:spPr bwMode="auto">
            <a:xfrm>
              <a:off x="2642" y="3309"/>
              <a:ext cx="15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9" name="Group 15">
            <a:extLst>
              <a:ext uri="{FF2B5EF4-FFF2-40B4-BE49-F238E27FC236}">
                <a16:creationId xmlns:a16="http://schemas.microsoft.com/office/drawing/2014/main" id="{5D0BE206-F9D3-57D8-CF7B-1E697148F6DE}"/>
              </a:ext>
            </a:extLst>
          </p:cNvPr>
          <p:cNvGrpSpPr>
            <a:grpSpLocks/>
          </p:cNvGrpSpPr>
          <p:nvPr/>
        </p:nvGrpSpPr>
        <p:grpSpPr bwMode="auto">
          <a:xfrm>
            <a:off x="5964238" y="3429001"/>
            <a:ext cx="762000" cy="466725"/>
            <a:chOff x="2797" y="3162"/>
            <a:chExt cx="480" cy="294"/>
          </a:xfrm>
        </p:grpSpPr>
        <p:sp>
          <p:nvSpPr>
            <p:cNvPr id="56369" name="Text Box 16">
              <a:extLst>
                <a:ext uri="{FF2B5EF4-FFF2-40B4-BE49-F238E27FC236}">
                  <a16:creationId xmlns:a16="http://schemas.microsoft.com/office/drawing/2014/main" id="{ED2F3A02-AB85-69E7-5BE3-24879CCF39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7" y="3162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16</a:t>
              </a:r>
            </a:p>
          </p:txBody>
        </p:sp>
        <p:cxnSp>
          <p:nvCxnSpPr>
            <p:cNvPr id="56370" name="AutoShape 17">
              <a:extLst>
                <a:ext uri="{FF2B5EF4-FFF2-40B4-BE49-F238E27FC236}">
                  <a16:creationId xmlns:a16="http://schemas.microsoft.com/office/drawing/2014/main" id="{A796B5A0-5D5F-F0FD-2C69-169CD16E0DE7}"/>
                </a:ext>
              </a:extLst>
            </p:cNvPr>
            <p:cNvCxnSpPr>
              <a:cxnSpLocks noChangeShapeType="1"/>
              <a:stCxn id="56369" idx="3"/>
              <a:endCxn id="56367" idx="1"/>
            </p:cNvCxnSpPr>
            <p:nvPr/>
          </p:nvCxnSpPr>
          <p:spPr bwMode="auto">
            <a:xfrm>
              <a:off x="3133" y="3309"/>
              <a:ext cx="14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0" name="Group 18">
            <a:extLst>
              <a:ext uri="{FF2B5EF4-FFF2-40B4-BE49-F238E27FC236}">
                <a16:creationId xmlns:a16="http://schemas.microsoft.com/office/drawing/2014/main" id="{E4325475-ED4D-663B-D2FA-9DAFEAF0F360}"/>
              </a:ext>
            </a:extLst>
          </p:cNvPr>
          <p:cNvGrpSpPr>
            <a:grpSpLocks/>
          </p:cNvGrpSpPr>
          <p:nvPr/>
        </p:nvGrpSpPr>
        <p:grpSpPr bwMode="auto">
          <a:xfrm>
            <a:off x="6726238" y="3429001"/>
            <a:ext cx="838200" cy="466725"/>
            <a:chOff x="3277" y="3162"/>
            <a:chExt cx="528" cy="294"/>
          </a:xfrm>
        </p:grpSpPr>
        <p:sp>
          <p:nvSpPr>
            <p:cNvPr id="56367" name="Text Box 19">
              <a:extLst>
                <a:ext uri="{FF2B5EF4-FFF2-40B4-BE49-F238E27FC236}">
                  <a16:creationId xmlns:a16="http://schemas.microsoft.com/office/drawing/2014/main" id="{926339CE-AADA-94F7-0E03-58A6621C6A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7" y="3162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32</a:t>
              </a:r>
            </a:p>
          </p:txBody>
        </p:sp>
        <p:cxnSp>
          <p:nvCxnSpPr>
            <p:cNvPr id="56368" name="AutoShape 20">
              <a:extLst>
                <a:ext uri="{FF2B5EF4-FFF2-40B4-BE49-F238E27FC236}">
                  <a16:creationId xmlns:a16="http://schemas.microsoft.com/office/drawing/2014/main" id="{8947986E-8364-DD7E-CDDE-F98BA52EF67D}"/>
                </a:ext>
              </a:extLst>
            </p:cNvPr>
            <p:cNvCxnSpPr>
              <a:cxnSpLocks noChangeShapeType="1"/>
              <a:stCxn id="56367" idx="3"/>
              <a:endCxn id="56365" idx="1"/>
            </p:cNvCxnSpPr>
            <p:nvPr/>
          </p:nvCxnSpPr>
          <p:spPr bwMode="auto">
            <a:xfrm>
              <a:off x="3613" y="3309"/>
              <a:ext cx="19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E819CE90-DF74-EF83-4C1D-7D913AC28678}"/>
              </a:ext>
            </a:extLst>
          </p:cNvPr>
          <p:cNvGrpSpPr>
            <a:grpSpLocks/>
          </p:cNvGrpSpPr>
          <p:nvPr/>
        </p:nvGrpSpPr>
        <p:grpSpPr bwMode="auto">
          <a:xfrm>
            <a:off x="7564438" y="3429001"/>
            <a:ext cx="838200" cy="466725"/>
            <a:chOff x="3805" y="3162"/>
            <a:chExt cx="528" cy="294"/>
          </a:xfrm>
        </p:grpSpPr>
        <p:sp>
          <p:nvSpPr>
            <p:cNvPr id="56365" name="Text Box 22">
              <a:extLst>
                <a:ext uri="{FF2B5EF4-FFF2-40B4-BE49-F238E27FC236}">
                  <a16:creationId xmlns:a16="http://schemas.microsoft.com/office/drawing/2014/main" id="{7242A6E1-F9CA-A93D-724D-0DA32261C9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5" y="3162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64</a:t>
              </a:r>
            </a:p>
          </p:txBody>
        </p:sp>
        <p:cxnSp>
          <p:nvCxnSpPr>
            <p:cNvPr id="56366" name="AutoShape 23">
              <a:extLst>
                <a:ext uri="{FF2B5EF4-FFF2-40B4-BE49-F238E27FC236}">
                  <a16:creationId xmlns:a16="http://schemas.microsoft.com/office/drawing/2014/main" id="{525F3E8F-E305-E894-398F-9DAC4974F985}"/>
                </a:ext>
              </a:extLst>
            </p:cNvPr>
            <p:cNvCxnSpPr>
              <a:cxnSpLocks noChangeShapeType="1"/>
              <a:stCxn id="56365" idx="3"/>
              <a:endCxn id="1211396" idx="1"/>
            </p:cNvCxnSpPr>
            <p:nvPr/>
          </p:nvCxnSpPr>
          <p:spPr bwMode="auto">
            <a:xfrm>
              <a:off x="4141" y="3309"/>
              <a:ext cx="19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2" name="Group 24">
            <a:extLst>
              <a:ext uri="{FF2B5EF4-FFF2-40B4-BE49-F238E27FC236}">
                <a16:creationId xmlns:a16="http://schemas.microsoft.com/office/drawing/2014/main" id="{25A06AB1-A4B6-5D28-C663-679AC5D13E14}"/>
              </a:ext>
            </a:extLst>
          </p:cNvPr>
          <p:cNvGrpSpPr>
            <a:grpSpLocks/>
          </p:cNvGrpSpPr>
          <p:nvPr/>
        </p:nvGrpSpPr>
        <p:grpSpPr bwMode="auto">
          <a:xfrm>
            <a:off x="4059238" y="3962401"/>
            <a:ext cx="647700" cy="466725"/>
            <a:chOff x="1597" y="3498"/>
            <a:chExt cx="408" cy="294"/>
          </a:xfrm>
        </p:grpSpPr>
        <p:sp>
          <p:nvSpPr>
            <p:cNvPr id="56363" name="Text Box 25">
              <a:extLst>
                <a:ext uri="{FF2B5EF4-FFF2-40B4-BE49-F238E27FC236}">
                  <a16:creationId xmlns:a16="http://schemas.microsoft.com/office/drawing/2014/main" id="{04286DD6-40B2-16DF-707B-5606CB7E41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7" y="3498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1</a:t>
              </a:r>
            </a:p>
          </p:txBody>
        </p:sp>
        <p:cxnSp>
          <p:nvCxnSpPr>
            <p:cNvPr id="56364" name="AutoShape 26">
              <a:extLst>
                <a:ext uri="{FF2B5EF4-FFF2-40B4-BE49-F238E27FC236}">
                  <a16:creationId xmlns:a16="http://schemas.microsoft.com/office/drawing/2014/main" id="{1898A004-223B-0091-CD94-7DEAE09B5651}"/>
                </a:ext>
              </a:extLst>
            </p:cNvPr>
            <p:cNvCxnSpPr>
              <a:cxnSpLocks noChangeShapeType="1"/>
              <a:stCxn id="56363" idx="3"/>
              <a:endCxn id="56361" idx="1"/>
            </p:cNvCxnSpPr>
            <p:nvPr/>
          </p:nvCxnSpPr>
          <p:spPr bwMode="auto">
            <a:xfrm>
              <a:off x="1826" y="3645"/>
              <a:ext cx="1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3" name="Group 27">
            <a:extLst>
              <a:ext uri="{FF2B5EF4-FFF2-40B4-BE49-F238E27FC236}">
                <a16:creationId xmlns:a16="http://schemas.microsoft.com/office/drawing/2014/main" id="{CCB70C7C-0B45-AEEC-20F3-C05AE6CFA362}"/>
              </a:ext>
            </a:extLst>
          </p:cNvPr>
          <p:cNvGrpSpPr>
            <a:grpSpLocks/>
          </p:cNvGrpSpPr>
          <p:nvPr/>
        </p:nvGrpSpPr>
        <p:grpSpPr bwMode="auto">
          <a:xfrm>
            <a:off x="4706938" y="3962401"/>
            <a:ext cx="647700" cy="466725"/>
            <a:chOff x="2005" y="3498"/>
            <a:chExt cx="408" cy="294"/>
          </a:xfrm>
        </p:grpSpPr>
        <p:sp>
          <p:nvSpPr>
            <p:cNvPr id="56361" name="Text Box 28">
              <a:extLst>
                <a:ext uri="{FF2B5EF4-FFF2-40B4-BE49-F238E27FC236}">
                  <a16:creationId xmlns:a16="http://schemas.microsoft.com/office/drawing/2014/main" id="{195598DB-9651-838E-50EF-4C5559392B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5" y="3498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2</a:t>
              </a:r>
            </a:p>
          </p:txBody>
        </p:sp>
        <p:cxnSp>
          <p:nvCxnSpPr>
            <p:cNvPr id="56362" name="AutoShape 29">
              <a:extLst>
                <a:ext uri="{FF2B5EF4-FFF2-40B4-BE49-F238E27FC236}">
                  <a16:creationId xmlns:a16="http://schemas.microsoft.com/office/drawing/2014/main" id="{9C5760AC-E9D0-3C34-7661-E685B8CB6398}"/>
                </a:ext>
              </a:extLst>
            </p:cNvPr>
            <p:cNvCxnSpPr>
              <a:cxnSpLocks noChangeShapeType="1"/>
              <a:stCxn id="56361" idx="3"/>
              <a:endCxn id="56359" idx="1"/>
            </p:cNvCxnSpPr>
            <p:nvPr/>
          </p:nvCxnSpPr>
          <p:spPr bwMode="auto">
            <a:xfrm>
              <a:off x="2234" y="3645"/>
              <a:ext cx="1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4" name="Group 30">
            <a:extLst>
              <a:ext uri="{FF2B5EF4-FFF2-40B4-BE49-F238E27FC236}">
                <a16:creationId xmlns:a16="http://schemas.microsoft.com/office/drawing/2014/main" id="{D488E981-DF18-FF00-1B08-FAFC00E7C6B1}"/>
              </a:ext>
            </a:extLst>
          </p:cNvPr>
          <p:cNvGrpSpPr>
            <a:grpSpLocks/>
          </p:cNvGrpSpPr>
          <p:nvPr/>
        </p:nvGrpSpPr>
        <p:grpSpPr bwMode="auto">
          <a:xfrm>
            <a:off x="5354639" y="3962401"/>
            <a:ext cx="630237" cy="466725"/>
            <a:chOff x="2413" y="3498"/>
            <a:chExt cx="397" cy="294"/>
          </a:xfrm>
        </p:grpSpPr>
        <p:sp>
          <p:nvSpPr>
            <p:cNvPr id="56359" name="Text Box 31">
              <a:extLst>
                <a:ext uri="{FF2B5EF4-FFF2-40B4-BE49-F238E27FC236}">
                  <a16:creationId xmlns:a16="http://schemas.microsoft.com/office/drawing/2014/main" id="{0FFE7168-B865-05E2-DB0E-3197A63569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3" y="3498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3</a:t>
              </a:r>
            </a:p>
          </p:txBody>
        </p:sp>
        <p:cxnSp>
          <p:nvCxnSpPr>
            <p:cNvPr id="56360" name="AutoShape 32">
              <a:extLst>
                <a:ext uri="{FF2B5EF4-FFF2-40B4-BE49-F238E27FC236}">
                  <a16:creationId xmlns:a16="http://schemas.microsoft.com/office/drawing/2014/main" id="{95E701E9-C6BC-1C24-14D7-7805376F31D0}"/>
                </a:ext>
              </a:extLst>
            </p:cNvPr>
            <p:cNvCxnSpPr>
              <a:cxnSpLocks noChangeShapeType="1"/>
              <a:stCxn id="56359" idx="3"/>
              <a:endCxn id="56357" idx="1"/>
            </p:cNvCxnSpPr>
            <p:nvPr/>
          </p:nvCxnSpPr>
          <p:spPr bwMode="auto">
            <a:xfrm>
              <a:off x="2642" y="3645"/>
              <a:ext cx="16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5" name="Group 33">
            <a:extLst>
              <a:ext uri="{FF2B5EF4-FFF2-40B4-BE49-F238E27FC236}">
                <a16:creationId xmlns:a16="http://schemas.microsoft.com/office/drawing/2014/main" id="{FE79ACBB-7AB9-06E3-D038-85D5D34AE4E4}"/>
              </a:ext>
            </a:extLst>
          </p:cNvPr>
          <p:cNvGrpSpPr>
            <a:grpSpLocks/>
          </p:cNvGrpSpPr>
          <p:nvPr/>
        </p:nvGrpSpPr>
        <p:grpSpPr bwMode="auto">
          <a:xfrm>
            <a:off x="5984876" y="3962401"/>
            <a:ext cx="606425" cy="466725"/>
            <a:chOff x="2810" y="3498"/>
            <a:chExt cx="382" cy="294"/>
          </a:xfrm>
        </p:grpSpPr>
        <p:sp>
          <p:nvSpPr>
            <p:cNvPr id="56357" name="Text Box 34">
              <a:extLst>
                <a:ext uri="{FF2B5EF4-FFF2-40B4-BE49-F238E27FC236}">
                  <a16:creationId xmlns:a16="http://schemas.microsoft.com/office/drawing/2014/main" id="{E2DE3E1F-1C0E-DBA8-BA27-78F0C80707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0" y="3498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5</a:t>
              </a:r>
            </a:p>
          </p:txBody>
        </p:sp>
        <p:cxnSp>
          <p:nvCxnSpPr>
            <p:cNvPr id="56358" name="AutoShape 35">
              <a:extLst>
                <a:ext uri="{FF2B5EF4-FFF2-40B4-BE49-F238E27FC236}">
                  <a16:creationId xmlns:a16="http://schemas.microsoft.com/office/drawing/2014/main" id="{F554A6FB-9361-E805-7AD0-F067E4956119}"/>
                </a:ext>
              </a:extLst>
            </p:cNvPr>
            <p:cNvCxnSpPr>
              <a:cxnSpLocks noChangeShapeType="1"/>
              <a:stCxn id="56357" idx="3"/>
              <a:endCxn id="56355" idx="1"/>
            </p:cNvCxnSpPr>
            <p:nvPr/>
          </p:nvCxnSpPr>
          <p:spPr bwMode="auto">
            <a:xfrm>
              <a:off x="3039" y="3645"/>
              <a:ext cx="153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" name="Group 36">
            <a:extLst>
              <a:ext uri="{FF2B5EF4-FFF2-40B4-BE49-F238E27FC236}">
                <a16:creationId xmlns:a16="http://schemas.microsoft.com/office/drawing/2014/main" id="{CB526919-6F3F-42AB-F4B8-F84221415BFC}"/>
              </a:ext>
            </a:extLst>
          </p:cNvPr>
          <p:cNvGrpSpPr>
            <a:grpSpLocks/>
          </p:cNvGrpSpPr>
          <p:nvPr/>
        </p:nvGrpSpPr>
        <p:grpSpPr bwMode="auto">
          <a:xfrm>
            <a:off x="6591300" y="3962401"/>
            <a:ext cx="592138" cy="466725"/>
            <a:chOff x="3192" y="3498"/>
            <a:chExt cx="373" cy="294"/>
          </a:xfrm>
        </p:grpSpPr>
        <p:sp>
          <p:nvSpPr>
            <p:cNvPr id="56355" name="Text Box 37">
              <a:extLst>
                <a:ext uri="{FF2B5EF4-FFF2-40B4-BE49-F238E27FC236}">
                  <a16:creationId xmlns:a16="http://schemas.microsoft.com/office/drawing/2014/main" id="{7131E137-0F41-C729-24B3-39B794E4D3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2" y="3498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8</a:t>
              </a:r>
            </a:p>
          </p:txBody>
        </p:sp>
        <p:cxnSp>
          <p:nvCxnSpPr>
            <p:cNvPr id="56356" name="AutoShape 38">
              <a:extLst>
                <a:ext uri="{FF2B5EF4-FFF2-40B4-BE49-F238E27FC236}">
                  <a16:creationId xmlns:a16="http://schemas.microsoft.com/office/drawing/2014/main" id="{460840B5-E863-AE83-4121-4CB5AA35B157}"/>
                </a:ext>
              </a:extLst>
            </p:cNvPr>
            <p:cNvCxnSpPr>
              <a:cxnSpLocks noChangeShapeType="1"/>
              <a:stCxn id="56355" idx="3"/>
              <a:endCxn id="56353" idx="1"/>
            </p:cNvCxnSpPr>
            <p:nvPr/>
          </p:nvCxnSpPr>
          <p:spPr bwMode="auto">
            <a:xfrm>
              <a:off x="3421" y="3645"/>
              <a:ext cx="14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7" name="Group 100">
            <a:extLst>
              <a:ext uri="{FF2B5EF4-FFF2-40B4-BE49-F238E27FC236}">
                <a16:creationId xmlns:a16="http://schemas.microsoft.com/office/drawing/2014/main" id="{103D4457-9E8E-7F26-288C-5E645AA721CC}"/>
              </a:ext>
            </a:extLst>
          </p:cNvPr>
          <p:cNvGrpSpPr>
            <a:grpSpLocks/>
          </p:cNvGrpSpPr>
          <p:nvPr/>
        </p:nvGrpSpPr>
        <p:grpSpPr bwMode="auto">
          <a:xfrm>
            <a:off x="7183438" y="3962401"/>
            <a:ext cx="762000" cy="466725"/>
            <a:chOff x="3565" y="2496"/>
            <a:chExt cx="480" cy="294"/>
          </a:xfrm>
        </p:grpSpPr>
        <p:sp>
          <p:nvSpPr>
            <p:cNvPr id="56353" name="Text Box 40">
              <a:extLst>
                <a:ext uri="{FF2B5EF4-FFF2-40B4-BE49-F238E27FC236}">
                  <a16:creationId xmlns:a16="http://schemas.microsoft.com/office/drawing/2014/main" id="{29F5E6DE-1B28-630B-697B-0C9E21A02A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5" y="2496"/>
              <a:ext cx="371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13</a:t>
              </a:r>
            </a:p>
          </p:txBody>
        </p:sp>
        <p:cxnSp>
          <p:nvCxnSpPr>
            <p:cNvPr id="56354" name="AutoShape 41">
              <a:extLst>
                <a:ext uri="{FF2B5EF4-FFF2-40B4-BE49-F238E27FC236}">
                  <a16:creationId xmlns:a16="http://schemas.microsoft.com/office/drawing/2014/main" id="{780DABFD-3F00-C9F2-ACF8-3503067BBC25}"/>
                </a:ext>
              </a:extLst>
            </p:cNvPr>
            <p:cNvCxnSpPr>
              <a:cxnSpLocks noChangeShapeType="1"/>
              <a:stCxn id="56353" idx="3"/>
              <a:endCxn id="56351" idx="1"/>
            </p:cNvCxnSpPr>
            <p:nvPr/>
          </p:nvCxnSpPr>
          <p:spPr bwMode="auto">
            <a:xfrm>
              <a:off x="3936" y="2643"/>
              <a:ext cx="10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8" name="Group 42">
            <a:extLst>
              <a:ext uri="{FF2B5EF4-FFF2-40B4-BE49-F238E27FC236}">
                <a16:creationId xmlns:a16="http://schemas.microsoft.com/office/drawing/2014/main" id="{0AADF798-7798-71C2-3F30-A7B232C829ED}"/>
              </a:ext>
            </a:extLst>
          </p:cNvPr>
          <p:cNvGrpSpPr>
            <a:grpSpLocks/>
          </p:cNvGrpSpPr>
          <p:nvPr/>
        </p:nvGrpSpPr>
        <p:grpSpPr bwMode="auto">
          <a:xfrm>
            <a:off x="7945438" y="3962401"/>
            <a:ext cx="762000" cy="466725"/>
            <a:chOff x="4045" y="3498"/>
            <a:chExt cx="480" cy="294"/>
          </a:xfrm>
        </p:grpSpPr>
        <p:sp>
          <p:nvSpPr>
            <p:cNvPr id="56351" name="Text Box 43">
              <a:extLst>
                <a:ext uri="{FF2B5EF4-FFF2-40B4-BE49-F238E27FC236}">
                  <a16:creationId xmlns:a16="http://schemas.microsoft.com/office/drawing/2014/main" id="{B0FC1F67-9529-64ED-B740-085E083781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5" y="3498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21</a:t>
              </a:r>
            </a:p>
          </p:txBody>
        </p:sp>
        <p:cxnSp>
          <p:nvCxnSpPr>
            <p:cNvPr id="56352" name="AutoShape 44">
              <a:extLst>
                <a:ext uri="{FF2B5EF4-FFF2-40B4-BE49-F238E27FC236}">
                  <a16:creationId xmlns:a16="http://schemas.microsoft.com/office/drawing/2014/main" id="{FAFE7E51-C47A-5702-BC69-14953912015F}"/>
                </a:ext>
              </a:extLst>
            </p:cNvPr>
            <p:cNvCxnSpPr>
              <a:cxnSpLocks noChangeShapeType="1"/>
              <a:stCxn id="56351" idx="3"/>
              <a:endCxn id="1211397" idx="1"/>
            </p:cNvCxnSpPr>
            <p:nvPr/>
          </p:nvCxnSpPr>
          <p:spPr bwMode="auto">
            <a:xfrm>
              <a:off x="4381" y="3645"/>
              <a:ext cx="14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6341" name="Group 52">
            <a:extLst>
              <a:ext uri="{FF2B5EF4-FFF2-40B4-BE49-F238E27FC236}">
                <a16:creationId xmlns:a16="http://schemas.microsoft.com/office/drawing/2014/main" id="{A68E2909-84FA-C370-3C0B-2A1572B0BB0E}"/>
              </a:ext>
            </a:extLst>
          </p:cNvPr>
          <p:cNvGrpSpPr>
            <a:grpSpLocks/>
          </p:cNvGrpSpPr>
          <p:nvPr/>
        </p:nvGrpSpPr>
        <p:grpSpPr bwMode="auto">
          <a:xfrm>
            <a:off x="9296403" y="3438528"/>
            <a:ext cx="1214438" cy="919163"/>
            <a:chOff x="4896" y="2172"/>
            <a:chExt cx="765" cy="579"/>
          </a:xfrm>
        </p:grpSpPr>
        <p:sp>
          <p:nvSpPr>
            <p:cNvPr id="56349" name="Text Box 45">
              <a:extLst>
                <a:ext uri="{FF2B5EF4-FFF2-40B4-BE49-F238E27FC236}">
                  <a16:creationId xmlns:a16="http://schemas.microsoft.com/office/drawing/2014/main" id="{8F274A64-7B01-A2B5-CF9B-0FC362F1FD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2172"/>
              <a:ext cx="74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 b="1" i="1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Brutus</a:t>
              </a:r>
            </a:p>
          </p:txBody>
        </p:sp>
        <p:sp>
          <p:nvSpPr>
            <p:cNvPr id="56350" name="Text Box 46">
              <a:extLst>
                <a:ext uri="{FF2B5EF4-FFF2-40B4-BE49-F238E27FC236}">
                  <a16:creationId xmlns:a16="http://schemas.microsoft.com/office/drawing/2014/main" id="{D081758E-C9A5-301D-CDA8-3AB25388E5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2460"/>
              <a:ext cx="76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 b="1" i="1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Caesar</a:t>
              </a:r>
            </a:p>
          </p:txBody>
        </p:sp>
      </p:grpSp>
      <p:sp>
        <p:nvSpPr>
          <p:cNvPr id="1211439" name="AutoShape 47">
            <a:extLst>
              <a:ext uri="{FF2B5EF4-FFF2-40B4-BE49-F238E27FC236}">
                <a16:creationId xmlns:a16="http://schemas.microsoft.com/office/drawing/2014/main" id="{4B4A1FD3-7E31-25D7-B2DD-60296725983F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289872" y="3499099"/>
            <a:ext cx="368747" cy="917079"/>
          </a:xfrm>
          <a:prstGeom prst="notchedRightArrow">
            <a:avLst>
              <a:gd name="adj1" fmla="val 50000"/>
              <a:gd name="adj2" fmla="val 50245"/>
            </a:avLst>
          </a:prstGeom>
          <a:solidFill>
            <a:srgbClr val="C0504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en-US" sz="2400">
              <a:latin typeface="Lucida Sans" panose="020B0602030504020204" pitchFamily="34" charset="0"/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sp>
        <p:nvSpPr>
          <p:cNvPr id="1211440" name="Text Box 48">
            <a:extLst>
              <a:ext uri="{FF2B5EF4-FFF2-40B4-BE49-F238E27FC236}">
                <a16:creationId xmlns:a16="http://schemas.microsoft.com/office/drawing/2014/main" id="{450ECC9E-75BA-BCB1-43E7-52931D025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733801"/>
            <a:ext cx="363538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rPr>
              <a:t>2</a:t>
            </a:r>
          </a:p>
        </p:txBody>
      </p:sp>
      <p:grpSp>
        <p:nvGrpSpPr>
          <p:cNvPr id="30" name="Group 49">
            <a:extLst>
              <a:ext uri="{FF2B5EF4-FFF2-40B4-BE49-F238E27FC236}">
                <a16:creationId xmlns:a16="http://schemas.microsoft.com/office/drawing/2014/main" id="{7D599A45-4AF3-72E0-6933-C5FFBD00EC64}"/>
              </a:ext>
            </a:extLst>
          </p:cNvPr>
          <p:cNvGrpSpPr>
            <a:grpSpLocks/>
          </p:cNvGrpSpPr>
          <p:nvPr/>
        </p:nvGrpSpPr>
        <p:grpSpPr bwMode="auto">
          <a:xfrm>
            <a:off x="2116138" y="3743326"/>
            <a:ext cx="627062" cy="466725"/>
            <a:chOff x="373" y="3360"/>
            <a:chExt cx="395" cy="294"/>
          </a:xfrm>
        </p:grpSpPr>
        <p:cxnSp>
          <p:nvCxnSpPr>
            <p:cNvPr id="56347" name="AutoShape 50">
              <a:extLst>
                <a:ext uri="{FF2B5EF4-FFF2-40B4-BE49-F238E27FC236}">
                  <a16:creationId xmlns:a16="http://schemas.microsoft.com/office/drawing/2014/main" id="{24927CBD-62B6-47CC-6439-6B82CEEC85E1}"/>
                </a:ext>
              </a:extLst>
            </p:cNvPr>
            <p:cNvCxnSpPr>
              <a:cxnSpLocks noChangeShapeType="1"/>
              <a:stCxn id="1211440" idx="3"/>
            </p:cNvCxnSpPr>
            <p:nvPr/>
          </p:nvCxnSpPr>
          <p:spPr bwMode="auto">
            <a:xfrm>
              <a:off x="373" y="3501"/>
              <a:ext cx="1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348" name="Text Box 51">
              <a:extLst>
                <a:ext uri="{FF2B5EF4-FFF2-40B4-BE49-F238E27FC236}">
                  <a16:creationId xmlns:a16="http://schemas.microsoft.com/office/drawing/2014/main" id="{A7BC1BAF-0785-16B7-8659-F63CDDFBAB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" y="336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8</a:t>
              </a:r>
            </a:p>
          </p:txBody>
        </p:sp>
      </p:grpSp>
      <p:sp>
        <p:nvSpPr>
          <p:cNvPr id="1211490" name="Text Box 98">
            <a:extLst>
              <a:ext uri="{FF2B5EF4-FFF2-40B4-BE49-F238E27FC236}">
                <a16:creationId xmlns:a16="http://schemas.microsoft.com/office/drawing/2014/main" id="{B05D0358-D209-A578-A356-FD76682F4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9413" y="5080722"/>
            <a:ext cx="81375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solidFill>
                  <a:srgbClr val="C0504D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If the list lengths are </a:t>
            </a:r>
            <a:r>
              <a:rPr lang="en-US" altLang="zh-TW" sz="2400" i="1" dirty="0">
                <a:solidFill>
                  <a:srgbClr val="C0504D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x</a:t>
            </a:r>
            <a:r>
              <a:rPr lang="en-US" altLang="zh-TW" sz="2400" dirty="0">
                <a:solidFill>
                  <a:srgbClr val="C0504D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 and </a:t>
            </a:r>
            <a:r>
              <a:rPr lang="en-US" altLang="zh-TW" sz="2400" i="1" dirty="0">
                <a:solidFill>
                  <a:srgbClr val="C0504D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y</a:t>
            </a:r>
            <a:r>
              <a:rPr lang="en-US" altLang="zh-TW" sz="2400" dirty="0">
                <a:solidFill>
                  <a:srgbClr val="C0504D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, the merge takes O(</a:t>
            </a:r>
            <a:r>
              <a:rPr lang="en-US" altLang="zh-TW" sz="2400" i="1" dirty="0" err="1">
                <a:solidFill>
                  <a:srgbClr val="C0504D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x+y</a:t>
            </a:r>
            <a:r>
              <a:rPr lang="en-US" altLang="zh-TW" sz="2400" dirty="0">
                <a:solidFill>
                  <a:srgbClr val="C0504D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solidFill>
                  <a:srgbClr val="C0504D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operations.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u="sng" dirty="0">
                <a:solidFill>
                  <a:srgbClr val="357E69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Crucial</a:t>
            </a:r>
            <a:r>
              <a:rPr lang="en-US" altLang="zh-TW" sz="2400" dirty="0">
                <a:solidFill>
                  <a:srgbClr val="357E69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: postings sorted by </a:t>
            </a:r>
            <a:r>
              <a:rPr lang="en-US" altLang="zh-TW" sz="2400" dirty="0" err="1">
                <a:solidFill>
                  <a:srgbClr val="357E69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docID</a:t>
            </a:r>
            <a:r>
              <a:rPr lang="en-US" altLang="zh-TW" sz="2400" dirty="0">
                <a:solidFill>
                  <a:srgbClr val="357E69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.</a:t>
            </a:r>
          </a:p>
        </p:txBody>
      </p:sp>
      <p:sp>
        <p:nvSpPr>
          <p:cNvPr id="56346" name="TextBox 96">
            <a:extLst>
              <a:ext uri="{FF2B5EF4-FFF2-40B4-BE49-F238E27FC236}">
                <a16:creationId xmlns:a16="http://schemas.microsoft.com/office/drawing/2014/main" id="{29B0CA27-4D44-9CE3-1BCF-75DD0A763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1.3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11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11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11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11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30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5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40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5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50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55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6500"/>
                            </p:stCondLst>
                            <p:childTnLst>
                              <p:par>
                                <p:cTn id="60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65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9500"/>
                            </p:stCondLst>
                            <p:childTnLst>
                              <p:par>
                                <p:cTn id="70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75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2500"/>
                            </p:stCondLst>
                            <p:childTnLst>
                              <p:par>
                                <p:cTn id="80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211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211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24000"/>
                            </p:stCondLst>
                            <p:childTnLst>
                              <p:par>
                                <p:cTn id="85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25500"/>
                            </p:stCondLst>
                            <p:childTnLst>
                              <p:par>
                                <p:cTn id="90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211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211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1396" grpId="0" animBg="1" autoUpdateAnimBg="0"/>
      <p:bldP spid="1211397" grpId="0" animBg="1" autoUpdateAnimBg="0"/>
      <p:bldP spid="1211439" grpId="0" animBg="1"/>
      <p:bldP spid="1211440" grpId="0" animBg="1" autoUpdateAnimBg="0"/>
      <p:bldP spid="1211490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4">
            <a:extLst>
              <a:ext uri="{FF2B5EF4-FFF2-40B4-BE49-F238E27FC236}">
                <a16:creationId xmlns:a16="http://schemas.microsoft.com/office/drawing/2014/main" id="{A2884EF3-5CF7-CD27-FF1F-341B06228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69535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 “merge” algorithm</a:t>
            </a:r>
          </a:p>
        </p:txBody>
      </p:sp>
      <p:sp>
        <p:nvSpPr>
          <p:cNvPr id="58371" name="Slide Number Placeholder 3">
            <a:extLst>
              <a:ext uri="{FF2B5EF4-FFF2-40B4-BE49-F238E27FC236}">
                <a16:creationId xmlns:a16="http://schemas.microsoft.com/office/drawing/2014/main" id="{381E6017-17B0-E416-B204-92931EE18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3FF9423-F167-4E38-8EC0-F19E34CF5376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pic>
        <p:nvPicPr>
          <p:cNvPr id="58372" name="Picture 5">
            <a:extLst>
              <a:ext uri="{FF2B5EF4-FFF2-40B4-BE49-F238E27FC236}">
                <a16:creationId xmlns:a16="http://schemas.microsoft.com/office/drawing/2014/main" id="{EFEF18E0-73A0-D31A-8A88-9BD30AB511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7479" y="1882996"/>
            <a:ext cx="5757041" cy="429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993A6436-5767-BB18-90DD-FB3919256B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06473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Boolean queries: Exact match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FB805C89-A3F3-C30B-A146-674287D7E6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97279" y="1752600"/>
            <a:ext cx="10058399" cy="4876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139CB7"/>
                </a:solidFill>
                <a:ea typeface="ＭＳ Ｐゴシック" panose="020B0600070205080204" pitchFamily="34" charset="-128"/>
              </a:rPr>
              <a:t> Boolean retrieval model</a:t>
            </a:r>
            <a:r>
              <a:rPr lang="en-US" altLang="zh-TW" dirty="0">
                <a:ea typeface="ＭＳ Ｐゴシック" panose="020B0600070205080204" pitchFamily="34" charset="-128"/>
              </a:rPr>
              <a:t>: being able to ask a query that is a Boolean expression.</a:t>
            </a:r>
          </a:p>
          <a:p>
            <a:pPr lvl="1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Boolean Queries: using </a:t>
            </a:r>
            <a:r>
              <a:rPr lang="en-US" altLang="zh-TW" i="1" dirty="0">
                <a:ea typeface="ＭＳ Ｐゴシック" panose="020B0600070205080204" pitchFamily="34" charset="-128"/>
              </a:rPr>
              <a:t>AND, OR</a:t>
            </a:r>
            <a:r>
              <a:rPr lang="en-US" altLang="zh-TW" dirty="0">
                <a:ea typeface="ＭＳ Ｐゴシック" panose="020B0600070205080204" pitchFamily="34" charset="-128"/>
              </a:rPr>
              <a:t> and </a:t>
            </a:r>
            <a:r>
              <a:rPr lang="en-US" altLang="zh-TW" i="1" dirty="0">
                <a:ea typeface="ＭＳ Ｐゴシック" panose="020B0600070205080204" pitchFamily="34" charset="-128"/>
              </a:rPr>
              <a:t>NOT</a:t>
            </a:r>
            <a:r>
              <a:rPr lang="en-US" altLang="zh-TW" dirty="0">
                <a:ea typeface="ＭＳ Ｐゴシック" panose="020B0600070205080204" pitchFamily="34" charset="-128"/>
              </a:rPr>
              <a:t> to join query terms</a:t>
            </a:r>
          </a:p>
          <a:p>
            <a:pPr lvl="2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Views each document as a </a:t>
            </a:r>
            <a:r>
              <a:rPr lang="en-US" altLang="zh-TW" u="sng" dirty="0">
                <a:ea typeface="ＭＳ Ｐゴシック" panose="020B0600070205080204" pitchFamily="34" charset="-128"/>
              </a:rPr>
              <a:t>set</a:t>
            </a:r>
            <a:r>
              <a:rPr lang="en-US" altLang="zh-TW" dirty="0">
                <a:ea typeface="ＭＳ Ｐゴシック" panose="020B0600070205080204" pitchFamily="34" charset="-128"/>
              </a:rPr>
              <a:t> of words</a:t>
            </a:r>
          </a:p>
          <a:p>
            <a:pPr lvl="2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Is precise: document matches condition or not.</a:t>
            </a:r>
          </a:p>
          <a:p>
            <a:pPr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Perhaps the simplest model to build an IR system on.</a:t>
            </a:r>
          </a:p>
        </p:txBody>
      </p:sp>
      <p:sp>
        <p:nvSpPr>
          <p:cNvPr id="60420" name="Slide Number Placeholder 5">
            <a:extLst>
              <a:ext uri="{FF2B5EF4-FFF2-40B4-BE49-F238E27FC236}">
                <a16:creationId xmlns:a16="http://schemas.microsoft.com/office/drawing/2014/main" id="{A5570070-971E-F3B1-C926-A1052994D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201834D-5C10-4C66-A6CA-635D399123CC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sp>
        <p:nvSpPr>
          <p:cNvPr id="60421" name="TextBox 4">
            <a:extLst>
              <a:ext uri="{FF2B5EF4-FFF2-40B4-BE49-F238E27FC236}">
                <a16:creationId xmlns:a16="http://schemas.microsoft.com/office/drawing/2014/main" id="{EE69A940-9E7C-0B71-2EF3-EC0807EF5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1.3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26">
            <a:extLst>
              <a:ext uri="{FF2B5EF4-FFF2-40B4-BE49-F238E27FC236}">
                <a16:creationId xmlns:a16="http://schemas.microsoft.com/office/drawing/2014/main" id="{8E39A445-3040-4997-55EC-A4F38B543A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853216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Query optimization</a:t>
            </a:r>
          </a:p>
        </p:txBody>
      </p:sp>
      <p:sp>
        <p:nvSpPr>
          <p:cNvPr id="64515" name="Rectangle 1027">
            <a:extLst>
              <a:ext uri="{FF2B5EF4-FFF2-40B4-BE49-F238E27FC236}">
                <a16:creationId xmlns:a16="http://schemas.microsoft.com/office/drawing/2014/main" id="{926713A6-7CB1-B28E-A028-EBE9D1B848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97280" y="1981200"/>
            <a:ext cx="10058400" cy="4114800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What is the best order for query processing?</a:t>
            </a:r>
          </a:p>
          <a:p>
            <a:pPr algn="just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Consider a query that is an </a:t>
            </a:r>
            <a:r>
              <a:rPr lang="en-US" altLang="zh-TW" i="1" dirty="0">
                <a:ea typeface="ＭＳ Ｐゴシック" panose="020B0600070205080204" pitchFamily="34" charset="-128"/>
              </a:rPr>
              <a:t>AND</a:t>
            </a:r>
            <a:r>
              <a:rPr lang="en-US" altLang="zh-TW" dirty="0">
                <a:ea typeface="ＭＳ Ｐゴシック" panose="020B0600070205080204" pitchFamily="34" charset="-128"/>
              </a:rPr>
              <a:t> of </a:t>
            </a:r>
            <a:r>
              <a:rPr lang="en-US" altLang="zh-TW" i="1" dirty="0">
                <a:ea typeface="ＭＳ Ｐゴシック" panose="020B0600070205080204" pitchFamily="34" charset="-128"/>
              </a:rPr>
              <a:t>n</a:t>
            </a:r>
            <a:r>
              <a:rPr lang="en-US" altLang="zh-TW" dirty="0">
                <a:ea typeface="ＭＳ Ｐゴシック" panose="020B0600070205080204" pitchFamily="34" charset="-128"/>
              </a:rPr>
              <a:t> terms.</a:t>
            </a:r>
          </a:p>
          <a:p>
            <a:pPr algn="just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For each of the </a:t>
            </a:r>
            <a:r>
              <a:rPr lang="en-US" altLang="zh-TW" i="1" dirty="0">
                <a:ea typeface="ＭＳ Ｐゴシック" panose="020B0600070205080204" pitchFamily="34" charset="-128"/>
              </a:rPr>
              <a:t>n</a:t>
            </a:r>
            <a:r>
              <a:rPr lang="en-US" altLang="zh-TW" dirty="0">
                <a:ea typeface="ＭＳ Ｐゴシック" panose="020B0600070205080204" pitchFamily="34" charset="-128"/>
              </a:rPr>
              <a:t> terms, get its postings, then </a:t>
            </a:r>
            <a:r>
              <a:rPr lang="en-US" altLang="zh-TW" i="1" dirty="0">
                <a:ea typeface="ＭＳ Ｐゴシック" panose="020B0600070205080204" pitchFamily="34" charset="-128"/>
              </a:rPr>
              <a:t>AND</a:t>
            </a:r>
            <a:r>
              <a:rPr lang="en-US" altLang="zh-TW" dirty="0">
                <a:ea typeface="ＭＳ Ｐゴシック" panose="020B0600070205080204" pitchFamily="34" charset="-128"/>
              </a:rPr>
              <a:t> them together.</a:t>
            </a:r>
          </a:p>
        </p:txBody>
      </p:sp>
      <p:sp>
        <p:nvSpPr>
          <p:cNvPr id="49167" name="Text Box 1073">
            <a:extLst>
              <a:ext uri="{FF2B5EF4-FFF2-40B4-BE49-F238E27FC236}">
                <a16:creationId xmlns:a16="http://schemas.microsoft.com/office/drawing/2014/main" id="{F06A121A-A563-2BD0-6446-BCF60CA4A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266" y="5449832"/>
            <a:ext cx="63928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800" dirty="0">
                <a:solidFill>
                  <a:srgbClr val="A50021"/>
                </a:solidFill>
                <a:ea typeface="Arial Unicode MS" charset="0"/>
                <a:cs typeface="Arial Unicode MS" charset="0"/>
              </a:rPr>
              <a:t>Query:</a:t>
            </a:r>
            <a:r>
              <a:rPr lang="en-US" sz="2800" b="1" i="1" dirty="0">
                <a:ea typeface="Arial Unicode MS" charset="0"/>
                <a:cs typeface="Arial Unicode MS" charset="0"/>
              </a:rPr>
              <a:t> Brutus</a:t>
            </a:r>
            <a:r>
              <a:rPr lang="en-US" sz="2800" dirty="0">
                <a:ea typeface="Arial Unicode MS" charset="0"/>
                <a:cs typeface="Arial Unicode MS" charset="0"/>
              </a:rPr>
              <a:t> </a:t>
            </a:r>
            <a:r>
              <a:rPr lang="en-US" sz="2800" i="1" dirty="0">
                <a:ea typeface="Arial Unicode MS" charset="0"/>
                <a:cs typeface="Arial Unicode MS" charset="0"/>
              </a:rPr>
              <a:t>AND</a:t>
            </a:r>
            <a:r>
              <a:rPr lang="en-US" sz="2800" dirty="0">
                <a:ea typeface="Arial Unicode MS" charset="0"/>
                <a:cs typeface="Arial Unicode MS" charset="0"/>
              </a:rPr>
              <a:t> </a:t>
            </a:r>
            <a:r>
              <a:rPr lang="en-US" sz="2800" b="1" i="1" dirty="0">
                <a:ea typeface="Arial Unicode MS" charset="0"/>
                <a:cs typeface="Arial Unicode MS" charset="0"/>
              </a:rPr>
              <a:t>Calpurnia</a:t>
            </a:r>
            <a:r>
              <a:rPr lang="en-US" sz="2800" dirty="0">
                <a:ea typeface="Arial Unicode MS" charset="0"/>
                <a:cs typeface="Arial Unicode MS" charset="0"/>
              </a:rPr>
              <a:t> </a:t>
            </a:r>
            <a:r>
              <a:rPr lang="en-US" sz="2800" i="1" dirty="0">
                <a:ea typeface="Arial Unicode MS" charset="0"/>
                <a:cs typeface="Arial Unicode MS" charset="0"/>
              </a:rPr>
              <a:t>AND</a:t>
            </a:r>
            <a:r>
              <a:rPr lang="en-US" sz="2800" dirty="0">
                <a:ea typeface="Arial Unicode MS" charset="0"/>
                <a:cs typeface="Arial Unicode MS" charset="0"/>
              </a:rPr>
              <a:t> </a:t>
            </a:r>
            <a:r>
              <a:rPr lang="en-US" sz="2800" b="1" i="1" dirty="0">
                <a:ea typeface="Arial Unicode MS" charset="0"/>
                <a:cs typeface="Arial Unicode MS" charset="0"/>
              </a:rPr>
              <a:t>Caesar</a:t>
            </a:r>
          </a:p>
        </p:txBody>
      </p:sp>
      <p:sp>
        <p:nvSpPr>
          <p:cNvPr id="64528" name="Slide Number Placeholder 5">
            <a:extLst>
              <a:ext uri="{FF2B5EF4-FFF2-40B4-BE49-F238E27FC236}">
                <a16:creationId xmlns:a16="http://schemas.microsoft.com/office/drawing/2014/main" id="{AFBE8C4E-CCD2-E3CF-E323-8A2AF5E7A381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E94DAFE-47EA-462E-95C2-6B27B88CCF3B}" type="slidenum">
              <a:rPr lang="zh-TW" altLang="en-US" sz="1400"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zh-TW" sz="1400">
              <a:latin typeface="Arial Unicode MS" pitchFamily="34" charset="-120"/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sp>
        <p:nvSpPr>
          <p:cNvPr id="64529" name="TextBox 49">
            <a:extLst>
              <a:ext uri="{FF2B5EF4-FFF2-40B4-BE49-F238E27FC236}">
                <a16:creationId xmlns:a16="http://schemas.microsoft.com/office/drawing/2014/main" id="{804D55D8-B5DF-A722-D202-C229EA82B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1.3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AE3F77-9529-CD91-3E01-96AD5E3FB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266" y="3849507"/>
            <a:ext cx="6477561" cy="144792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74016D16-BDBE-0CD6-B8D2-3B621559E7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28600"/>
            <a:ext cx="10058400" cy="654269"/>
          </a:xfrm>
        </p:spPr>
        <p:txBody>
          <a:bodyPr/>
          <a:lstStyle/>
          <a:p>
            <a:pPr eaLnBrk="1" hangingPunct="1"/>
            <a:r>
              <a:rPr lang="en-US" altLang="zh-TW" sz="36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What’s ahead in IR? Beyond term search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49805085-616B-D763-2C16-1D4721F1E4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What about phrases?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b="1" i="1" dirty="0">
                <a:ea typeface="ＭＳ Ｐゴシック" panose="020B0600070205080204" pitchFamily="34" charset="-128"/>
              </a:rPr>
              <a:t>Stanford University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Proximity: Find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Gates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i="1" dirty="0">
                <a:ea typeface="ＭＳ Ｐゴシック" panose="020B0600070205080204" pitchFamily="34" charset="-128"/>
              </a:rPr>
              <a:t>NEAR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Microsoft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Need index to capture position information in docs.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Zones in documents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Find documents with (</a:t>
            </a:r>
            <a:r>
              <a:rPr lang="en-US" altLang="zh-TW" i="1" dirty="0">
                <a:ea typeface="ＭＳ Ｐゴシック" panose="020B0600070205080204" pitchFamily="34" charset="-128"/>
              </a:rPr>
              <a:t>author =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Ullman</a:t>
            </a:r>
            <a:r>
              <a:rPr lang="en-US" altLang="zh-TW" dirty="0">
                <a:ea typeface="ＭＳ Ｐゴシック" panose="020B0600070205080204" pitchFamily="34" charset="-128"/>
              </a:rPr>
              <a:t>)</a:t>
            </a:r>
            <a:r>
              <a:rPr lang="en-US" altLang="zh-TW" i="1" dirty="0">
                <a:ea typeface="ＭＳ Ｐゴシック" panose="020B0600070205080204" pitchFamily="34" charset="-128"/>
              </a:rPr>
              <a:t> AND</a:t>
            </a:r>
            <a:r>
              <a:rPr lang="en-US" altLang="zh-TW" dirty="0">
                <a:ea typeface="ＭＳ Ｐゴシック" panose="020B0600070205080204" pitchFamily="34" charset="-128"/>
              </a:rPr>
              <a:t> (text contains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automata</a:t>
            </a:r>
            <a:r>
              <a:rPr lang="en-US" altLang="zh-TW" dirty="0">
                <a:ea typeface="ＭＳ Ｐゴシック" panose="020B0600070205080204" pitchFamily="34" charset="-128"/>
              </a:rPr>
              <a:t>).</a:t>
            </a:r>
          </a:p>
        </p:txBody>
      </p:sp>
      <p:sp>
        <p:nvSpPr>
          <p:cNvPr id="72708" name="Slide Number Placeholder 5">
            <a:extLst>
              <a:ext uri="{FF2B5EF4-FFF2-40B4-BE49-F238E27FC236}">
                <a16:creationId xmlns:a16="http://schemas.microsoft.com/office/drawing/2014/main" id="{64B54528-496F-5866-35B9-D54990FD1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F463259-7E4C-40B5-B02E-74756FF0FB22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1546C715-155F-9701-CD2D-ED0D4035A5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69535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Evidence accumulation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A6D74362-2F21-8020-FEA7-06ED4DBEC1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1 vs. 0 occurrence of a search term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2 vs. 1 occurrence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3 vs. 2 occurrences, etc.</a:t>
            </a:r>
          </a:p>
          <a:p>
            <a:pPr algn="just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Usually more seems better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Need term frequency information in docs.</a:t>
            </a:r>
          </a:p>
        </p:txBody>
      </p:sp>
      <p:sp>
        <p:nvSpPr>
          <p:cNvPr id="74756" name="Slide Number Placeholder 5">
            <a:extLst>
              <a:ext uri="{FF2B5EF4-FFF2-40B4-BE49-F238E27FC236}">
                <a16:creationId xmlns:a16="http://schemas.microsoft.com/office/drawing/2014/main" id="{48DED345-057E-25EE-0E91-E38B9A2DB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F31464C-5066-41F6-99EC-33F1EFD89A69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52D101AE-204A-A814-2FF7-1CBA65C6E5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69535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Ranking search results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E294D299-8A58-6C74-3FBD-B2698278F0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Boolean queries give 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inclusion</a:t>
            </a:r>
            <a:r>
              <a:rPr lang="en-US" altLang="zh-TW" dirty="0">
                <a:ea typeface="ＭＳ Ｐゴシック" panose="020B0600070205080204" pitchFamily="34" charset="-128"/>
              </a:rPr>
              <a:t> or 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exclusion</a:t>
            </a:r>
            <a:r>
              <a:rPr lang="en-US" altLang="zh-TW" dirty="0">
                <a:ea typeface="ＭＳ Ｐゴシック" panose="020B0600070205080204" pitchFamily="34" charset="-128"/>
              </a:rPr>
              <a:t> of docs.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Often we want to rank/group results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Need to 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measure proximity</a:t>
            </a:r>
            <a:r>
              <a:rPr lang="en-US" altLang="zh-TW" dirty="0">
                <a:ea typeface="ＭＳ Ｐゴシック" panose="020B0600070205080204" pitchFamily="34" charset="-128"/>
              </a:rPr>
              <a:t> from query to each doc.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Need to decide whether docs presented to user are singletons, or a group of docs covering various aspects of the query.</a:t>
            </a:r>
          </a:p>
        </p:txBody>
      </p:sp>
      <p:sp>
        <p:nvSpPr>
          <p:cNvPr id="76804" name="Slide Number Placeholder 5">
            <a:extLst>
              <a:ext uri="{FF2B5EF4-FFF2-40B4-BE49-F238E27FC236}">
                <a16:creationId xmlns:a16="http://schemas.microsoft.com/office/drawing/2014/main" id="{78AB968D-363B-8D3F-F7BF-B5572AC0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92E23E0-7F52-4F54-A494-551433AFD3FF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B9AE7C29-484E-DBE9-1F69-A472F0FA11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911576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Semi-structured data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47AACAA9-02EB-A81D-9665-2F02B73BD5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In fact almost 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no data is “unstructured”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E.g., this slide has distinctly identified zones such as the </a:t>
            </a:r>
            <a:r>
              <a:rPr lang="en-US" altLang="zh-TW" i="1" dirty="0">
                <a:ea typeface="ＭＳ Ｐゴシック" panose="020B0600070205080204" pitchFamily="34" charset="-128"/>
              </a:rPr>
              <a:t>Title</a:t>
            </a:r>
            <a:r>
              <a:rPr lang="en-US" altLang="zh-TW" dirty="0">
                <a:ea typeface="ＭＳ Ｐゴシック" panose="020B0600070205080204" pitchFamily="34" charset="-128"/>
              </a:rPr>
              <a:t> and </a:t>
            </a:r>
            <a:r>
              <a:rPr lang="en-US" altLang="zh-TW" i="1" dirty="0">
                <a:ea typeface="ＭＳ Ｐゴシック" panose="020B0600070205080204" pitchFamily="34" charset="-128"/>
              </a:rPr>
              <a:t>Bullets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Facilitates “semi-structured” search such as</a:t>
            </a:r>
          </a:p>
          <a:p>
            <a:pPr lvl="2" algn="just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i="1" dirty="0">
                <a:ea typeface="ＭＳ Ｐゴシック" panose="020B0600070205080204" pitchFamily="34" charset="-128"/>
              </a:rPr>
              <a:t>Title</a:t>
            </a:r>
            <a:r>
              <a:rPr lang="en-US" altLang="zh-TW" dirty="0">
                <a:ea typeface="ＭＳ Ｐゴシック" panose="020B0600070205080204" pitchFamily="34" charset="-128"/>
              </a:rPr>
              <a:t> contains </a:t>
            </a:r>
            <a:r>
              <a:rPr lang="en-US" altLang="zh-TW" u="sng" dirty="0">
                <a:ea typeface="ＭＳ Ｐゴシック" panose="020B0600070205080204" pitchFamily="34" charset="-128"/>
              </a:rPr>
              <a:t>data</a:t>
            </a:r>
            <a:r>
              <a:rPr lang="en-US" altLang="zh-TW" dirty="0">
                <a:ea typeface="ＭＳ Ｐゴシック" panose="020B0600070205080204" pitchFamily="34" charset="-128"/>
              </a:rPr>
              <a:t> AND </a:t>
            </a:r>
            <a:r>
              <a:rPr lang="en-US" altLang="zh-TW" i="1" dirty="0">
                <a:ea typeface="ＭＳ Ｐゴシック" panose="020B0600070205080204" pitchFamily="34" charset="-128"/>
              </a:rPr>
              <a:t>Bullets</a:t>
            </a:r>
            <a:r>
              <a:rPr lang="en-US" altLang="zh-TW" dirty="0">
                <a:ea typeface="ＭＳ Ｐゴシック" panose="020B0600070205080204" pitchFamily="34" charset="-128"/>
              </a:rPr>
              <a:t> contain </a:t>
            </a:r>
            <a:r>
              <a:rPr lang="en-US" altLang="zh-TW" u="sng" dirty="0">
                <a:ea typeface="ＭＳ Ｐゴシック" panose="020B0600070205080204" pitchFamily="34" charset="-128"/>
              </a:rPr>
              <a:t>search</a:t>
            </a:r>
          </a:p>
        </p:txBody>
      </p:sp>
      <p:sp>
        <p:nvSpPr>
          <p:cNvPr id="82948" name="Slide Number Placeholder 5">
            <a:extLst>
              <a:ext uri="{FF2B5EF4-FFF2-40B4-BE49-F238E27FC236}">
                <a16:creationId xmlns:a16="http://schemas.microsoft.com/office/drawing/2014/main" id="{D754A006-99D4-29B5-1F08-20F381AC9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B6089D2-1672-4D28-9FC3-FB39400F6526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4B6ED0CC-3809-34F7-CDD7-CC3C6EC3E2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243382" cy="880045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More sophisticated semi-structured search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7B3211AB-CC5C-3B31-9D11-64FCD44E62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i="1" dirty="0">
                <a:ea typeface="ＭＳ Ｐゴシック" panose="020B0600070205080204" pitchFamily="34" charset="-128"/>
              </a:rPr>
              <a:t> Title</a:t>
            </a:r>
            <a:r>
              <a:rPr lang="en-US" altLang="zh-TW" dirty="0">
                <a:ea typeface="ＭＳ Ｐゴシック" panose="020B0600070205080204" pitchFamily="34" charset="-128"/>
              </a:rPr>
              <a:t> is </a:t>
            </a:r>
            <a:r>
              <a:rPr lang="en-US" altLang="zh-TW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about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u="sng" dirty="0">
                <a:ea typeface="ＭＳ Ｐゴシック" panose="020B0600070205080204" pitchFamily="34" charset="-128"/>
              </a:rPr>
              <a:t>Object Oriented Programming</a:t>
            </a:r>
            <a:r>
              <a:rPr lang="en-US" altLang="zh-TW" dirty="0">
                <a:ea typeface="ＭＳ Ｐゴシック" panose="020B0600070205080204" pitchFamily="34" charset="-128"/>
              </a:rPr>
              <a:t> AND </a:t>
            </a:r>
            <a:r>
              <a:rPr lang="en-US" altLang="zh-TW" i="1" dirty="0">
                <a:ea typeface="ＭＳ Ｐゴシック" panose="020B0600070205080204" pitchFamily="34" charset="-128"/>
              </a:rPr>
              <a:t>Author</a:t>
            </a:r>
            <a:r>
              <a:rPr lang="en-US" altLang="zh-TW" dirty="0">
                <a:ea typeface="ＭＳ Ｐゴシック" panose="020B0600070205080204" pitchFamily="34" charset="-128"/>
              </a:rPr>
              <a:t>  something like </a:t>
            </a:r>
            <a:r>
              <a:rPr lang="en-US" altLang="zh-TW" u="sng" dirty="0" err="1">
                <a:ea typeface="ＭＳ Ｐゴシック" panose="020B0600070205080204" pitchFamily="34" charset="-128"/>
              </a:rPr>
              <a:t>stro</a:t>
            </a:r>
            <a:r>
              <a:rPr lang="en-US" altLang="zh-TW" u="sng" dirty="0">
                <a:ea typeface="ＭＳ Ｐゴシック" panose="020B0600070205080204" pitchFamily="34" charset="-128"/>
              </a:rPr>
              <a:t>*</a:t>
            </a:r>
            <a:r>
              <a:rPr lang="en-US" altLang="zh-TW" u="sng" dirty="0" err="1">
                <a:ea typeface="ＭＳ Ｐゴシック" panose="020B0600070205080204" pitchFamily="34" charset="-128"/>
              </a:rPr>
              <a:t>rup</a:t>
            </a:r>
            <a:endParaRPr lang="en-US" altLang="zh-TW" dirty="0">
              <a:ea typeface="ＭＳ Ｐゴシック" panose="020B0600070205080204" pitchFamily="34" charset="-128"/>
            </a:endParaRPr>
          </a:p>
          <a:p>
            <a:pPr lvl="1" algn="just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where * is the wild-card operator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Issues: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how do you process “about”?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how do you rank results?</a:t>
            </a:r>
          </a:p>
        </p:txBody>
      </p:sp>
      <p:sp>
        <p:nvSpPr>
          <p:cNvPr id="84996" name="Slide Number Placeholder 5">
            <a:extLst>
              <a:ext uri="{FF2B5EF4-FFF2-40B4-BE49-F238E27FC236}">
                <a16:creationId xmlns:a16="http://schemas.microsoft.com/office/drawing/2014/main" id="{0D02DC19-E955-18F8-5525-37AEEE1F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C034361-AB74-4BAB-81A8-6B8B329BA49D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BBB106AD-A36E-4AD6-B7CF-19FC709956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901066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The web and its challenges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C3B1F82C-D3BA-A8FF-AB22-EFB36C199D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97280" y="1845733"/>
            <a:ext cx="10058400" cy="4407921"/>
          </a:xfrm>
        </p:spPr>
        <p:txBody>
          <a:bodyPr>
            <a:normAutofit fontScale="92500" lnSpcReduction="10000"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sz="3000" dirty="0">
                <a:ea typeface="ＭＳ Ｐゴシック" panose="020B0600070205080204" pitchFamily="34" charset="-128"/>
              </a:rPr>
              <a:t> Unusual and diverse documents.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sz="3000" dirty="0">
                <a:ea typeface="ＭＳ Ｐゴシック" panose="020B0600070205080204" pitchFamily="34" charset="-128"/>
              </a:rPr>
              <a:t> Unusual and diverse users, queries, information needs.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sz="3000" dirty="0">
                <a:ea typeface="ＭＳ Ｐゴシック" panose="020B0600070205080204" pitchFamily="34" charset="-128"/>
              </a:rPr>
              <a:t> Beyond terms, exploit ideas from </a:t>
            </a:r>
            <a:r>
              <a:rPr lang="en-US" altLang="zh-TW" sz="30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social networks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sz="2800" dirty="0">
                <a:ea typeface="ＭＳ Ｐゴシック" panose="020B0600070205080204" pitchFamily="34" charset="-128"/>
              </a:rPr>
              <a:t>link analysis, clickstreams ...</a:t>
            </a:r>
          </a:p>
          <a:p>
            <a:pPr algn="just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zh-TW" sz="3200" dirty="0">
                <a:ea typeface="ＭＳ Ｐゴシック" panose="020B0600070205080204" pitchFamily="34" charset="-128"/>
              </a:rPr>
              <a:t> More sophisticated information retrieval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GB" altLang="zh-TW" sz="2800" dirty="0">
                <a:ea typeface="ＭＳ Ｐゴシック" panose="020B0600070205080204" pitchFamily="34" charset="-128"/>
              </a:rPr>
              <a:t>Cross-language information retrieval; Question answering; Summarization; Text mining …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endParaRPr lang="en-US" altLang="zh-TW" sz="2800" dirty="0">
              <a:ea typeface="ＭＳ Ｐゴシック" panose="020B0600070205080204" pitchFamily="34" charset="-128"/>
            </a:endParaRPr>
          </a:p>
        </p:txBody>
      </p:sp>
      <p:sp>
        <p:nvSpPr>
          <p:cNvPr id="89092" name="Slide Number Placeholder 5">
            <a:extLst>
              <a:ext uri="{FF2B5EF4-FFF2-40B4-BE49-F238E27FC236}">
                <a16:creationId xmlns:a16="http://schemas.microsoft.com/office/drawing/2014/main" id="{CA7E5CB3-C1A7-F4F6-7594-B6ED5DDAC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1F2DF6B-BF74-4FEA-943F-570EF16273D5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852</TotalTime>
  <Words>1153</Words>
  <Application>Microsoft Office PowerPoint</Application>
  <PresentationFormat>Widescreen</PresentationFormat>
  <Paragraphs>234</Paragraphs>
  <Slides>28</Slides>
  <Notes>25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1" baseType="lpstr">
      <vt:lpstr>ＭＳ Ｐゴシック</vt:lpstr>
      <vt:lpstr>新細明體</vt:lpstr>
      <vt:lpstr>Arial</vt:lpstr>
      <vt:lpstr>Arial Unicode MS</vt:lpstr>
      <vt:lpstr>Calibri</vt:lpstr>
      <vt:lpstr>Calibri Light</vt:lpstr>
      <vt:lpstr>Comic Sans MS</vt:lpstr>
      <vt:lpstr>Courier New</vt:lpstr>
      <vt:lpstr>Inter Var</vt:lpstr>
      <vt:lpstr>Lucida Sans</vt:lpstr>
      <vt:lpstr>Times New Roman</vt:lpstr>
      <vt:lpstr>Retrospect</vt:lpstr>
      <vt:lpstr>Worksheet</vt:lpstr>
      <vt:lpstr>Information Retrieval</vt:lpstr>
      <vt:lpstr>How does it work?</vt:lpstr>
      <vt:lpstr>Unstructured vs. structured data</vt:lpstr>
      <vt:lpstr>Why Information Retrieval?</vt:lpstr>
      <vt:lpstr>Information Retrieval</vt:lpstr>
      <vt:lpstr>Unstructured data in 1620</vt:lpstr>
      <vt:lpstr>Term - document incidence</vt:lpstr>
      <vt:lpstr>Incidence vectors</vt:lpstr>
      <vt:lpstr>Basic assumptions of Information Retrieval</vt:lpstr>
      <vt:lpstr>The classic search model</vt:lpstr>
      <vt:lpstr>The modern search model</vt:lpstr>
      <vt:lpstr>How good are the retrieved docs?</vt:lpstr>
      <vt:lpstr>Bigger collections</vt:lpstr>
      <vt:lpstr>Can’t build the matrix</vt:lpstr>
      <vt:lpstr>The first look of Inverted index</vt:lpstr>
      <vt:lpstr>The first look of Inverted index</vt:lpstr>
      <vt:lpstr>Inverted index construction</vt:lpstr>
      <vt:lpstr>Query processing: AND</vt:lpstr>
      <vt:lpstr>The merge</vt:lpstr>
      <vt:lpstr>A “merge” algorithm</vt:lpstr>
      <vt:lpstr>Boolean queries: Exact match</vt:lpstr>
      <vt:lpstr>Query optimization</vt:lpstr>
      <vt:lpstr>What’s ahead in IR? Beyond term search</vt:lpstr>
      <vt:lpstr>Evidence accumulation</vt:lpstr>
      <vt:lpstr>Ranking search results</vt:lpstr>
      <vt:lpstr>Semi-structured data</vt:lpstr>
      <vt:lpstr>More sophisticated semi-structured search</vt:lpstr>
      <vt:lpstr>The web and its 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Web  and Data Mining</dc:title>
  <dc:creator>Quoc Dinh Truong</dc:creator>
  <cp:lastModifiedBy>Quoc Dinh Truong</cp:lastModifiedBy>
  <cp:revision>135</cp:revision>
  <dcterms:created xsi:type="dcterms:W3CDTF">2019-10-28T15:55:27Z</dcterms:created>
  <dcterms:modified xsi:type="dcterms:W3CDTF">2026-02-25T08:49:47Z</dcterms:modified>
</cp:coreProperties>
</file>