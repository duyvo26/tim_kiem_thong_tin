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55"/>
  </p:notesMasterIdLst>
  <p:sldIdLst>
    <p:sldId id="256" r:id="rId2"/>
    <p:sldId id="403" r:id="rId3"/>
    <p:sldId id="406" r:id="rId4"/>
    <p:sldId id="408" r:id="rId5"/>
    <p:sldId id="412" r:id="rId6"/>
    <p:sldId id="413" r:id="rId7"/>
    <p:sldId id="415" r:id="rId8"/>
    <p:sldId id="416" r:id="rId9"/>
    <p:sldId id="417" r:id="rId10"/>
    <p:sldId id="418" r:id="rId11"/>
    <p:sldId id="421" r:id="rId12"/>
    <p:sldId id="422" r:id="rId13"/>
    <p:sldId id="423" r:id="rId14"/>
    <p:sldId id="425" r:id="rId15"/>
    <p:sldId id="426" r:id="rId16"/>
    <p:sldId id="460" r:id="rId17"/>
    <p:sldId id="428" r:id="rId18"/>
    <p:sldId id="430" r:id="rId19"/>
    <p:sldId id="431" r:id="rId20"/>
    <p:sldId id="432" r:id="rId21"/>
    <p:sldId id="436" r:id="rId22"/>
    <p:sldId id="437" r:id="rId23"/>
    <p:sldId id="439" r:id="rId24"/>
    <p:sldId id="440" r:id="rId25"/>
    <p:sldId id="441" r:id="rId26"/>
    <p:sldId id="443" r:id="rId27"/>
    <p:sldId id="444" r:id="rId28"/>
    <p:sldId id="445" r:id="rId29"/>
    <p:sldId id="407" r:id="rId30"/>
    <p:sldId id="414" r:id="rId31"/>
    <p:sldId id="446" r:id="rId32"/>
    <p:sldId id="447" r:id="rId33"/>
    <p:sldId id="448" r:id="rId34"/>
    <p:sldId id="419" r:id="rId35"/>
    <p:sldId id="420" r:id="rId36"/>
    <p:sldId id="449" r:id="rId37"/>
    <p:sldId id="450" r:id="rId38"/>
    <p:sldId id="424" r:id="rId39"/>
    <p:sldId id="451" r:id="rId40"/>
    <p:sldId id="427" r:id="rId41"/>
    <p:sldId id="452" r:id="rId42"/>
    <p:sldId id="429" r:id="rId43"/>
    <p:sldId id="453" r:id="rId44"/>
    <p:sldId id="454" r:id="rId45"/>
    <p:sldId id="455" r:id="rId46"/>
    <p:sldId id="433" r:id="rId47"/>
    <p:sldId id="434" r:id="rId48"/>
    <p:sldId id="435" r:id="rId49"/>
    <p:sldId id="456" r:id="rId50"/>
    <p:sldId id="457" r:id="rId51"/>
    <p:sldId id="458" r:id="rId52"/>
    <p:sldId id="438" r:id="rId53"/>
    <p:sldId id="459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335" autoAdjust="0"/>
  </p:normalViewPr>
  <p:slideViewPr>
    <p:cSldViewPr snapToGrid="0">
      <p:cViewPr varScale="1">
        <p:scale>
          <a:sx n="69" d="100"/>
          <a:sy n="69" d="100"/>
        </p:scale>
        <p:origin x="115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01B30-8F1D-4816-8F65-1D00D4637009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5D19D8-4FDB-4F0E-9F28-C085F3E59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41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1504C4ED-0E13-7386-95E8-581CA740AF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06DC7B66-96D2-D36B-B41E-16F16D132F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1248281-8C7B-AAE2-9B44-48A4C9013D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4F239F9F-A936-4140-559D-8F7F1F991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D7D85E75-386B-035A-297B-BBE2F3C436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E8DEB5F-528C-7080-1FA3-8EC761DAA4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7702A36-27CE-406C-DBCD-8C3599DB36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32290B0-F0F1-EB5C-080A-BD40DAF83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6327367-4DE3-A0C5-DE77-EEA0193980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369682C-D3D0-8541-695C-E9B82A3BA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9C71C00-BC05-74F9-C50A-F953727EC1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D7023DB5-F3B1-8B2D-0455-429B2DB9A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59D52B0-A762-D7D9-553F-3CA99998F4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A15DE231-5E9E-A71C-6F83-4C81A28AB3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F114EBBE-57B7-9E66-AA67-7EEB996C5B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8D939E0F-9CDE-067C-864F-AE0B65A10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74AE0BCA-0B2C-4156-2A57-90FD041E1D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5397DB8F-A31A-A36D-ED45-4F67689961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D911AE9A-8EEE-C665-494B-CF49AFF263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070E0AE8-BBBB-8838-BBE0-2FD74B25A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4670E5B7-8B40-75C1-13DA-C13550F10F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F5FE31A-2B52-E864-79B2-8D790B93B3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1571A50F-80FF-BC3A-D692-1DFC3FDC3D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933447FC-1BCC-D76C-495E-477B1FBC61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3D4B5A52-D845-A4EB-4E8C-DC3B25CA45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7938DCF9-505C-BC5F-B6A7-E0496CD8AF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A22D153E-6AB8-8091-65E4-6132735133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97142D20-7E3F-FFE6-BCDA-CDA7F1CF7F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3EBE0-53A4-0F31-8F67-3666700CF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34E4629-0CA2-B66A-5482-265D6E5326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E0475852-8BDB-D1A8-EF2A-A588C30832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51679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348890E9-2D18-F73B-FE7D-3019FD3539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519883B8-DD91-7AA2-B4D8-5A5A78ADF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C37C60BB-1D22-9AA0-B380-9CEDE9B293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9ED3938E-72A5-3C50-5EF5-A725CC514C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790D5AB0-DD7A-C65C-EF56-8146DB2905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0D6C2E3C-0F56-822E-C002-5E663AABE1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7C2ABF0C-044B-05A3-365A-086BC460EB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56F09E8-649C-362B-174F-6EB65DBAEC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13C40DCC-58BF-F04F-2DDA-9732B1DD66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F733A105-2DAE-1CBA-B39A-BA1838C1FB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16AF145C-23E4-1DB4-4230-D2D94FE35B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9D7B28A4-5781-5516-9B39-7896AE1AD4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1E151DB7-ED28-ADB0-EC6F-2EBCDE5129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49CC032-FAA6-A3A4-7DDC-AD4D3534B5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186ED0C4-824E-59E0-76A8-A6C823559D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F61D4042-E9C1-1108-DD2B-6B1F34AB83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5F558A4A-AEDD-07BC-E93C-2C5B39E441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3DACFB9C-ACE2-3AA1-1BE0-0F449ED755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0A89F83B-6E00-6FED-2A44-34F902878E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2BCE097A-F2A7-6E87-32CF-E49862CF8C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CDBF0DA-393D-FA4A-98C7-A7C087A924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76F06FD9-9F79-760C-F9E8-345F282F7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56E1D00-CBBF-E0B2-F3E8-8A79D20EC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665DC0D-9709-2E75-3BAB-9EA2B73754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CE35667-5854-06BB-667E-F26398C8E1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6CBBB129-9F60-8C36-01F3-F14531754E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7F770DB-FA35-AABC-F15E-B85A48AABE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1FA93284-A25B-D078-1E7D-6228337B36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6E763F07-2384-CBCF-F0A6-AB33A43BAE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249A61D0-7245-6F07-8144-AC4EC01651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319FE8E-E8D0-697A-B546-3202B9C164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FBAB8DC7-473E-119A-E50B-CD14734F1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720620E-5BD2-E3FC-C6D1-EDCB5CEBBB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F67495D3-3E4B-3CE7-A2AA-EF50BA1098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41C28E3-9031-86A8-68D3-647C06C38C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ED908AA2-32CE-BC7C-353C-73ED1B7C18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E774C3C1-66EE-1D3B-EF73-B0FCB9F895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12C18F80-CC3F-CA50-6944-D46E2AA1DF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60B4BC1-9306-0F6C-9161-DAF64DB71D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B868D81E-1A83-4E52-2E43-0B51E4FBC9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88F30451-1A8A-4C27-D43D-088ECAEBD6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D567922E-4DBA-5962-3410-FB624F03A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AE94E948-9E21-FE60-1CFC-CC18932492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1B6107E-CB7E-7FFE-71EB-5764346AEF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620AAB05-89C8-9E19-3EA1-D9FC6E9FF0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72A739E6-7AC2-03EB-A43C-ED25858A2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5241664-D688-EB34-563A-A5F7DFF573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D1FBA86C-17CD-7B63-C3B6-1F9766F77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C550C6FB-E973-FC95-E0C5-E89FD95FD6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057063DC-FFF3-3E96-69FC-9421BA5EDA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68A5D535-F4D5-C1D0-75CC-D7A01E10C9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09D3802D-9AAE-6F2A-ABAF-89111BE32F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7F948BAC-3EC1-9079-D01E-B0264DE9C4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B8B1C785-33F4-847B-0A1A-CCAC661BE0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754C0AA4-3CD4-481F-D10E-EFE89073BC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690C6EE1-3A1E-A44B-0483-680C4A3AE7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A9664BE9-2ECA-E215-BE3E-146AB3B407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CB3CDE90-8D8C-A9F0-927B-FB0C5D1D2A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4736DEC1-4298-3A10-DC63-CFDA34871C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595B7F4C-0FA3-C061-5D6C-A82D23B6E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25F5EEBF-6613-C3E4-B406-08188BF064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2F994AE2-1157-31D1-A146-6A2EA5E01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FC9EE52B-3ED5-6248-84FF-2608F6DFA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C2D6E133-75C5-A08D-DA90-188F955AD7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C38A2D94-1A90-398E-ABB4-B062B2BC12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83812914-A875-73E2-6FBC-CA7E06651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DC2448AA-02E8-046D-9CAB-55D44301CA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3F94CE81-22E6-33B4-2694-DC25C13797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4A128118-60BA-3071-0F51-260F493E90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EE9083C2-96A8-33C9-FBCD-2C200A6BB1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1159E081-B2EB-5C20-FBDF-A75C01DC44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D6CB7908-A28D-690D-0983-2F9391602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7097A877-AEBB-E0B0-62CF-55A84A529D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BA05CCDB-EADA-A3A2-70F5-82CB9934A0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D089F-B724-4DB7-966F-A815F7F37156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63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9C6BC-BE1B-4014-AA05-62AAA88B1A3B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7731" y="6388834"/>
            <a:ext cx="1312025" cy="365125"/>
          </a:xfrm>
        </p:spPr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2951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5303B-D7D5-42D3-AE3C-337199AC13CB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802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D0E1C-6609-4571-AAC0-EC9DFB3279EB}" type="datetime1">
              <a:rPr lang="vi-VN" smtClean="0"/>
              <a:t>25/02/2026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61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DF7A8-C61A-4659-866C-CD537F901D4F}" type="datetime1">
              <a:rPr lang="vi-VN" smtClean="0"/>
              <a:t>25/02/2026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6955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E5C43-8F38-47DC-80DF-4D0497C08181}" type="datetime1">
              <a:rPr lang="vi-VN" smtClean="0"/>
              <a:t>25/02/2026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858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57925-9F9D-419A-8B85-1EDF14B77FEB}" type="datetime1">
              <a:rPr lang="vi-VN" smtClean="0"/>
              <a:t>25/02/2026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8221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B0017B5-F98D-4593-B373-F15243277C20}" type="datetime1">
              <a:rPr lang="vi-VN" smtClean="0"/>
              <a:t>25/02/2026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0719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23DB1-2915-4AD4-B284-3EA60BFABA3F}" type="datetime1">
              <a:rPr lang="vi-VN" smtClean="0"/>
              <a:t>25/02/2026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11319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CBC02-124E-465B-BD80-457C161798B7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8837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A3D81-25AC-4658-9D07-B6C24CDC7F74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383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07137C-E10E-E189-E02A-6FDBDE259ACD}"/>
              </a:ext>
            </a:extLst>
          </p:cNvPr>
          <p:cNvCxnSpPr>
            <a:cxnSpLocks noChangeShapeType="1"/>
          </p:cNvCxnSpPr>
          <p:nvPr userDrawn="1"/>
        </p:nvCxnSpPr>
        <p:spPr bwMode="auto">
          <a:xfrm>
            <a:off x="304800" y="1447800"/>
            <a:ext cx="11582400" cy="1588"/>
          </a:xfrm>
          <a:prstGeom prst="line">
            <a:avLst/>
          </a:prstGeom>
          <a:noFill/>
          <a:ln w="38100">
            <a:solidFill>
              <a:srgbClr val="139CB7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52600"/>
            <a:ext cx="103632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267200"/>
            <a:ext cx="103632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435597E-99A3-5BDA-C342-6069FAA5D4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57F93905-52F8-7FD4-223C-BDDCBA6170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D4193DB4-4B68-3BC9-8A21-285D65FE10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38EF5C-3981-429E-B8F4-AC124BD385E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7671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89C31EB-6A7E-4963-9845-D0A42A645CDC}" type="datetime1">
              <a:rPr lang="vi-VN" smtClean="0"/>
              <a:t>25/02/2026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E1AE15E-39EA-423C-8FD3-3BF590298D06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62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wmf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9779" y="628650"/>
            <a:ext cx="11698941" cy="2447365"/>
          </a:xfrm>
        </p:spPr>
        <p:txBody>
          <a:bodyPr>
            <a:noAutofit/>
          </a:bodyPr>
          <a:lstStyle/>
          <a:p>
            <a:pPr algn="ctr"/>
            <a:r>
              <a:rPr lang="en-US" sz="8800" dirty="0">
                <a:latin typeface="Courier New" panose="02070309020205020404" pitchFamily="49" charset="0"/>
                <a:cs typeface="Courier New" panose="02070309020205020404" pitchFamily="49" charset="0"/>
              </a:rPr>
              <a:t>Information Retrieval</a:t>
            </a:r>
            <a:endParaRPr lang="vi-VN" sz="8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49" y="4487718"/>
            <a:ext cx="10377248" cy="627368"/>
          </a:xfrm>
        </p:spPr>
        <p:txBody>
          <a:bodyPr>
            <a:normAutofit fontScale="62500" lnSpcReduction="20000"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Chapter 3 – </a:t>
            </a:r>
            <a:r>
              <a:rPr lang="en-GB" sz="3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INDEX CONSTRUCTION &amp; INDEX COMPRESSION</a:t>
            </a:r>
            <a:endParaRPr lang="vi-VN" sz="36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198662" y="5688795"/>
            <a:ext cx="10058400" cy="627368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/>
              <a:t>Quoc Dinh TRUONG</a:t>
            </a:r>
            <a:r>
              <a:rPr lang="en-US" sz="3600" cap="none" dirty="0"/>
              <a:t>, PhD</a:t>
            </a:r>
          </a:p>
          <a:p>
            <a:pPr algn="ctr"/>
            <a:r>
              <a:rPr lang="en-US" sz="3600" dirty="0"/>
              <a:t>Modified from Christopher D. Manning, Prabhakar Raghavan and Hinrich </a:t>
            </a:r>
            <a:r>
              <a:rPr lang="en-US" sz="3600" dirty="0" err="1"/>
              <a:t>Schütze</a:t>
            </a:r>
            <a:r>
              <a:rPr lang="en-US" sz="3600" dirty="0"/>
              <a:t> slides</a:t>
            </a:r>
          </a:p>
        </p:txBody>
      </p:sp>
    </p:spTree>
    <p:extLst>
      <p:ext uri="{BB962C8B-B14F-4D97-AF65-F5344CB8AC3E}">
        <p14:creationId xmlns:p14="http://schemas.microsoft.com/office/powerpoint/2010/main" val="1122533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81F8017F-BF69-3620-B3EB-39BCF057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647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Hardware basics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934B9322-5446-D1AD-1D38-8F0BE7F02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Access to data in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memory</a:t>
            </a:r>
            <a:r>
              <a:rPr lang="en-US" altLang="zh-TW" dirty="0">
                <a:ea typeface="ＭＳ Ｐゴシック" panose="020B0600070205080204" pitchFamily="34" charset="-128"/>
              </a:rPr>
              <a:t> is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much</a:t>
            </a:r>
            <a:r>
              <a:rPr lang="en-US" altLang="zh-TW" dirty="0">
                <a:ea typeface="ＭＳ Ｐゴシック" panose="020B0600070205080204" pitchFamily="34" charset="-128"/>
              </a:rPr>
              <a:t> faster than access to data on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disk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Disk seeks: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No data is transferred from disk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while the disk head is being positioned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Transferring one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large chunk</a:t>
            </a:r>
            <a:r>
              <a:rPr lang="en-US" altLang="zh-TW" dirty="0">
                <a:ea typeface="ＭＳ Ｐゴシック" panose="020B0600070205080204" pitchFamily="34" charset="-128"/>
              </a:rPr>
              <a:t> of data from disk to memory is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faster than</a:t>
            </a:r>
            <a:r>
              <a:rPr lang="en-US" altLang="zh-TW" dirty="0">
                <a:ea typeface="ＭＳ Ｐゴシック" panose="020B0600070205080204" pitchFamily="34" charset="-128"/>
              </a:rPr>
              <a:t> transferring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many small chunks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Disk I/O is block-based: Reading and writing of entire blocks (as opposed to smaller chunks).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Block sizes: 8KB to 256 KB.</a:t>
            </a:r>
          </a:p>
        </p:txBody>
      </p:sp>
      <p:sp>
        <p:nvSpPr>
          <p:cNvPr id="18436" name="TextBox 4">
            <a:extLst>
              <a:ext uri="{FF2B5EF4-FFF2-40B4-BE49-F238E27FC236}">
                <a16:creationId xmlns:a16="http://schemas.microsoft.com/office/drawing/2014/main" id="{B7CF8E62-BDEB-5AEC-0B30-401EDCCBE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26">
            <a:extLst>
              <a:ext uri="{FF2B5EF4-FFF2-40B4-BE49-F238E27FC236}">
                <a16:creationId xmlns:a16="http://schemas.microsoft.com/office/drawing/2014/main" id="{A579E59B-1A88-30D9-E8F7-342C9400D4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6953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RCV1: Our collection for this lecture</a:t>
            </a:r>
          </a:p>
        </p:txBody>
      </p:sp>
      <p:sp>
        <p:nvSpPr>
          <p:cNvPr id="24579" name="Rectangle 1027">
            <a:extLst>
              <a:ext uri="{FF2B5EF4-FFF2-40B4-BE49-F238E27FC236}">
                <a16:creationId xmlns:a16="http://schemas.microsoft.com/office/drawing/2014/main" id="{3DAE8A46-43B3-A036-C092-5F0085F081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This collection isn’t really large enough either, but it’s publicly available and is at least a more plausible example.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As an example for applying scalable index construction algorithms, we will use the Reuters RCV1 collection.</a:t>
            </a:r>
          </a:p>
          <a:p>
            <a:pPr algn="just" eaLnBrk="1" hangingPunct="1"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This is one year of Reuters newswire (part of 1995 and 1996).</a:t>
            </a:r>
          </a:p>
        </p:txBody>
      </p:sp>
      <p:sp>
        <p:nvSpPr>
          <p:cNvPr id="24580" name="TextBox 4">
            <a:extLst>
              <a:ext uri="{FF2B5EF4-FFF2-40B4-BE49-F238E27FC236}">
                <a16:creationId xmlns:a16="http://schemas.microsoft.com/office/drawing/2014/main" id="{93D125E7-4184-A917-49DF-F39F2D7F0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7BF8D962-BAD3-6EBF-4C12-9005A2E59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9596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Reuters RCV1 statistics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37F41CED-51C2-B066-D9EF-AD1EEC1EC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500"/>
              </a:spcBef>
            </a:pPr>
            <a:r>
              <a:rPr lang="en-US" altLang="zh-TW" b="1" dirty="0">
                <a:ea typeface="ＭＳ Ｐゴシック" panose="020B0600070205080204" pitchFamily="34" charset="-128"/>
              </a:rPr>
              <a:t>symbol	statistic 				value</a:t>
            </a:r>
          </a:p>
          <a:p>
            <a:pPr>
              <a:spcBef>
                <a:spcPts val="500"/>
              </a:spcBef>
            </a:pPr>
            <a:r>
              <a:rPr lang="en-US" altLang="zh-TW" dirty="0">
                <a:ea typeface="ＭＳ Ｐゴシック" panose="020B0600070205080204" pitchFamily="34" charset="-128"/>
              </a:rPr>
              <a:t>N 		documents			 	800,000</a:t>
            </a:r>
          </a:p>
          <a:p>
            <a:pPr>
              <a:spcBef>
                <a:spcPts val="500"/>
              </a:spcBef>
            </a:pPr>
            <a:r>
              <a:rPr lang="en-US" altLang="zh-TW" dirty="0">
                <a:ea typeface="ＭＳ Ｐゴシック" panose="020B0600070205080204" pitchFamily="34" charset="-128"/>
              </a:rPr>
              <a:t>L 		avg. # tokens per doc 		200</a:t>
            </a:r>
          </a:p>
          <a:p>
            <a:pPr>
              <a:spcBef>
                <a:spcPts val="500"/>
              </a:spcBef>
            </a:pPr>
            <a:r>
              <a:rPr lang="en-US" altLang="zh-TW" dirty="0">
                <a:ea typeface="ＭＳ Ｐゴシック" panose="020B0600070205080204" pitchFamily="34" charset="-128"/>
              </a:rPr>
              <a:t>M		terms (= word types) 		400,000</a:t>
            </a:r>
          </a:p>
          <a:p>
            <a:pPr>
              <a:spcBef>
                <a:spcPts val="500"/>
              </a:spcBef>
            </a:pPr>
            <a:r>
              <a:rPr lang="en-US" altLang="zh-TW" dirty="0">
                <a:ea typeface="ＭＳ Ｐゴシック" panose="020B0600070205080204" pitchFamily="34" charset="-128"/>
              </a:rPr>
              <a:t>                	avg. # bytes per token 		6</a:t>
            </a:r>
          </a:p>
          <a:p>
            <a:pPr lvl="1">
              <a:spcBef>
                <a:spcPts val="500"/>
              </a:spcBef>
              <a:buNone/>
            </a:pPr>
            <a:r>
              <a:rPr lang="en-US" altLang="zh-TW" sz="2000" dirty="0">
                <a:ea typeface="ＭＳ Ｐゴシック" panose="020B0600070205080204" pitchFamily="34" charset="-128"/>
              </a:rPr>
              <a:t>                   	(incl. spaces/</a:t>
            </a:r>
            <a:r>
              <a:rPr lang="en-US" altLang="zh-TW" sz="2000" dirty="0" err="1">
                <a:ea typeface="ＭＳ Ｐゴシック" panose="020B0600070205080204" pitchFamily="34" charset="-128"/>
              </a:rPr>
              <a:t>punct</a:t>
            </a:r>
            <a:r>
              <a:rPr lang="en-US" altLang="zh-TW" sz="2000" dirty="0">
                <a:ea typeface="ＭＳ Ｐゴシック" panose="020B0600070205080204" pitchFamily="34" charset="-128"/>
              </a:rPr>
              <a:t>.)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>
              <a:spcBef>
                <a:spcPts val="500"/>
              </a:spcBef>
            </a:pPr>
            <a:r>
              <a:rPr lang="en-US" altLang="zh-TW" dirty="0">
                <a:ea typeface="ＭＳ Ｐゴシック" panose="020B0600070205080204" pitchFamily="34" charset="-128"/>
              </a:rPr>
              <a:t>                	avg. # bytes per token		4.5</a:t>
            </a:r>
          </a:p>
          <a:p>
            <a:pPr lvl="2">
              <a:spcBef>
                <a:spcPts val="500"/>
              </a:spcBef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            	(without spaces/</a:t>
            </a:r>
            <a:r>
              <a:rPr lang="en-US" altLang="zh-TW" dirty="0" err="1">
                <a:ea typeface="ＭＳ Ｐゴシック" panose="020B0600070205080204" pitchFamily="34" charset="-128"/>
              </a:rPr>
              <a:t>punct</a:t>
            </a:r>
            <a:r>
              <a:rPr lang="en-US" altLang="zh-TW" dirty="0">
                <a:ea typeface="ＭＳ Ｐゴシック" panose="020B0600070205080204" pitchFamily="34" charset="-128"/>
              </a:rPr>
              <a:t>.)</a:t>
            </a:r>
          </a:p>
          <a:p>
            <a:pPr>
              <a:spcBef>
                <a:spcPts val="500"/>
              </a:spcBef>
            </a:pPr>
            <a:r>
              <a:rPr lang="en-US" altLang="zh-TW" dirty="0">
                <a:ea typeface="ＭＳ Ｐゴシック" panose="020B0600070205080204" pitchFamily="34" charset="-128"/>
              </a:rPr>
              <a:t>                	avg. # bytes per term		7.5</a:t>
            </a:r>
          </a:p>
          <a:p>
            <a:pPr>
              <a:spcBef>
                <a:spcPts val="500"/>
              </a:spcBef>
            </a:pPr>
            <a:r>
              <a:rPr lang="en-US" altLang="zh-TW" dirty="0">
                <a:ea typeface="ＭＳ Ｐゴシック" panose="020B0600070205080204" pitchFamily="34" charset="-128"/>
              </a:rPr>
              <a:t>T                	non-positional postings		100,000,000</a:t>
            </a:r>
          </a:p>
        </p:txBody>
      </p:sp>
      <p:sp>
        <p:nvSpPr>
          <p:cNvPr id="28676" name="TextBox 4">
            <a:extLst>
              <a:ext uri="{FF2B5EF4-FFF2-40B4-BE49-F238E27FC236}">
                <a16:creationId xmlns:a16="http://schemas.microsoft.com/office/drawing/2014/main" id="{90C92CA6-003A-342E-E554-3AC0B2F4D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026">
            <a:extLst>
              <a:ext uri="{FF2B5EF4-FFF2-40B4-BE49-F238E27FC236}">
                <a16:creationId xmlns:a16="http://schemas.microsoft.com/office/drawing/2014/main" id="{26F37FFE-B96F-CE94-C8A6-456AAAC3DF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Sort-based index construction</a:t>
            </a:r>
          </a:p>
        </p:txBody>
      </p:sp>
      <p:sp>
        <p:nvSpPr>
          <p:cNvPr id="36867" name="Rectangle 1027">
            <a:extLst>
              <a:ext uri="{FF2B5EF4-FFF2-40B4-BE49-F238E27FC236}">
                <a16:creationId xmlns:a16="http://schemas.microsoft.com/office/drawing/2014/main" id="{C0887C2B-A8DB-D0B1-CEBD-713B67B70F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449964"/>
          </a:xfrm>
        </p:spPr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ＭＳ Ｐゴシック" panose="020B0600070205080204" pitchFamily="34" charset="-128"/>
              </a:rPr>
              <a:t> As we build the index, we parse docs one at a time.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While building the index, we cannot easily exploit compression tricks</a:t>
            </a:r>
            <a:endParaRPr lang="en-US" altLang="zh-TW" dirty="0">
              <a:solidFill>
                <a:srgbClr val="00A000"/>
              </a:solidFill>
              <a:ea typeface="ＭＳ Ｐゴシック" panose="020B0600070205080204" pitchFamily="34" charset="-128"/>
            </a:endParaRP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The final postings for any term are incomplete until the end.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ＭＳ Ｐゴシック" panose="020B0600070205080204" pitchFamily="34" charset="-128"/>
              </a:rPr>
              <a:t> At 12 bytes per non-positional postings entry </a:t>
            </a:r>
            <a:r>
              <a:rPr lang="en-US" altLang="zh-TW" sz="2400" i="1" dirty="0">
                <a:ea typeface="ＭＳ Ｐゴシック" panose="020B0600070205080204" pitchFamily="34" charset="-128"/>
              </a:rPr>
              <a:t>(term, doc, </a:t>
            </a:r>
            <a:r>
              <a:rPr lang="en-US" altLang="zh-TW" sz="2400" i="1" dirty="0" err="1">
                <a:ea typeface="ＭＳ Ｐゴシック" panose="020B0600070205080204" pitchFamily="34" charset="-128"/>
              </a:rPr>
              <a:t>freq</a:t>
            </a:r>
            <a:r>
              <a:rPr lang="en-US" altLang="zh-TW" sz="2400" i="1" dirty="0">
                <a:ea typeface="ＭＳ Ｐゴシック" panose="020B0600070205080204" pitchFamily="34" charset="-128"/>
              </a:rPr>
              <a:t>)</a:t>
            </a:r>
            <a:r>
              <a:rPr lang="en-US" altLang="zh-TW" sz="2400" dirty="0">
                <a:ea typeface="ＭＳ Ｐゴシック" panose="020B0600070205080204" pitchFamily="34" charset="-128"/>
              </a:rPr>
              <a:t>, demands a lot of space for large collections.</a:t>
            </a: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400" dirty="0">
                <a:ea typeface="ＭＳ Ｐゴシック" panose="020B0600070205080204" pitchFamily="34" charset="-128"/>
              </a:rPr>
              <a:t> T = 100,000,000 in the case of RCV1</a:t>
            </a:r>
          </a:p>
          <a:p>
            <a:pPr lvl="1" algn="just" eaLnBrk="1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So … we can do this in memory in 2009, but typical collections are much larger.  E.g. the </a:t>
            </a:r>
            <a:r>
              <a:rPr lang="en-US" altLang="zh-TW" i="1" dirty="0">
                <a:ea typeface="ＭＳ Ｐゴシック" panose="020B0600070205080204" pitchFamily="34" charset="-128"/>
              </a:rPr>
              <a:t>New York Times </a:t>
            </a:r>
            <a:r>
              <a:rPr lang="en-US" altLang="zh-TW" dirty="0">
                <a:ea typeface="ＭＳ Ｐゴシック" panose="020B0600070205080204" pitchFamily="34" charset="-128"/>
              </a:rPr>
              <a:t>provides an index of &gt;150 years of newswire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ＭＳ Ｐゴシック" panose="020B0600070205080204" pitchFamily="34" charset="-128"/>
              </a:rPr>
              <a:t>Thus: We need to store intermediate results on disk.</a:t>
            </a:r>
          </a:p>
        </p:txBody>
      </p:sp>
      <p:sp>
        <p:nvSpPr>
          <p:cNvPr id="36868" name="TextBox 4">
            <a:extLst>
              <a:ext uri="{FF2B5EF4-FFF2-40B4-BE49-F238E27FC236}">
                <a16:creationId xmlns:a16="http://schemas.microsoft.com/office/drawing/2014/main" id="{B196815A-0C4C-1797-0FBF-FA468AC9A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561F2880-738E-8620-7338-0691EBFEF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Use the same algorithm for disk?</a:t>
            </a:r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B8A6DEA8-5135-01CA-007C-EE87DE288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Can we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use the same index construction algorithm</a:t>
            </a:r>
            <a:r>
              <a:rPr lang="en-US" altLang="zh-TW" dirty="0">
                <a:ea typeface="ＭＳ Ｐゴシック" panose="020B0600070205080204" pitchFamily="34" charset="-128"/>
              </a:rPr>
              <a:t> for larger collections, but by using disk instead of memory?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No:</a:t>
            </a:r>
            <a:r>
              <a:rPr lang="en-US" altLang="zh-TW" dirty="0">
                <a:ea typeface="ＭＳ Ｐゴシック" panose="020B0600070205080204" pitchFamily="34" charset="-128"/>
              </a:rPr>
              <a:t> Sorting T = 100,000,000 records on disk is too slow – too many disk seeks.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We need an external sorting algorithm.</a:t>
            </a:r>
          </a:p>
        </p:txBody>
      </p:sp>
      <p:sp>
        <p:nvSpPr>
          <p:cNvPr id="38916" name="TextBox 4">
            <a:extLst>
              <a:ext uri="{FF2B5EF4-FFF2-40B4-BE49-F238E27FC236}">
                <a16:creationId xmlns:a16="http://schemas.microsoft.com/office/drawing/2014/main" id="{81472B32-784A-F257-213D-A894CE28F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026">
            <a:extLst>
              <a:ext uri="{FF2B5EF4-FFF2-40B4-BE49-F238E27FC236}">
                <a16:creationId xmlns:a16="http://schemas.microsoft.com/office/drawing/2014/main" id="{A907349F-37CE-2EE7-726E-9CE58997B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BSBI: Blocked sort-based Indexing (Sorting with fewer disk seeks)</a:t>
            </a:r>
          </a:p>
        </p:txBody>
      </p:sp>
      <p:sp>
        <p:nvSpPr>
          <p:cNvPr id="43011" name="Rectangle 1027">
            <a:extLst>
              <a:ext uri="{FF2B5EF4-FFF2-40B4-BE49-F238E27FC236}">
                <a16:creationId xmlns:a16="http://schemas.microsoft.com/office/drawing/2014/main" id="{6D231E9F-A56B-5D1B-EE30-ABB7210A7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4"/>
            <a:ext cx="10058400" cy="4323838"/>
          </a:xfrm>
        </p:spPr>
        <p:txBody>
          <a:bodyPr>
            <a:normAutofit fontScale="85000" lnSpcReduction="1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12-byte (4+4+4) records </a:t>
            </a:r>
            <a:r>
              <a:rPr lang="en-US" altLang="zh-TW" i="1" dirty="0">
                <a:ea typeface="ＭＳ Ｐゴシック" panose="020B0600070205080204" pitchFamily="34" charset="-128"/>
              </a:rPr>
              <a:t>(term, doc, </a:t>
            </a:r>
            <a:r>
              <a:rPr lang="en-US" altLang="zh-TW" i="1" dirty="0" err="1">
                <a:ea typeface="ＭＳ Ｐゴシック" panose="020B0600070205080204" pitchFamily="34" charset="-128"/>
              </a:rPr>
              <a:t>freq</a:t>
            </a:r>
            <a:r>
              <a:rPr lang="en-US" altLang="zh-TW" i="1" dirty="0">
                <a:ea typeface="ＭＳ Ｐゴシック" panose="020B0600070205080204" pitchFamily="34" charset="-128"/>
              </a:rPr>
              <a:t>), </a:t>
            </a:r>
            <a:r>
              <a:rPr lang="en-US" altLang="zh-TW" dirty="0">
                <a:ea typeface="ＭＳ Ｐゴシック" panose="020B0600070205080204" pitchFamily="34" charset="-128"/>
              </a:rPr>
              <a:t>these are generated as we parse docs.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Must now sort 100M such 12-byte records by </a:t>
            </a:r>
            <a:r>
              <a:rPr lang="en-US" altLang="zh-TW" i="1" dirty="0">
                <a:ea typeface="ＭＳ Ｐゴシック" panose="020B0600070205080204" pitchFamily="34" charset="-128"/>
              </a:rPr>
              <a:t>term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Define a </a:t>
            </a:r>
            <a:r>
              <a:rPr lang="en-US" altLang="zh-TW" u="sng" dirty="0">
                <a:ea typeface="ＭＳ Ｐゴシック" panose="020B0600070205080204" pitchFamily="34" charset="-128"/>
              </a:rPr>
              <a:t>Block</a:t>
            </a:r>
            <a:r>
              <a:rPr lang="en-US" altLang="zh-TW" dirty="0">
                <a:ea typeface="ＭＳ Ｐゴシック" panose="020B0600070205080204" pitchFamily="34" charset="-128"/>
              </a:rPr>
              <a:t> ~ 10M such records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Can easily fit a couple into memory.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Will have 10 such blocks to start with.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Basic idea of algorithm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Accumulate postings for each block, sort, write to disk.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Then merge the blocks into one long sorted order.</a:t>
            </a:r>
          </a:p>
        </p:txBody>
      </p:sp>
      <p:sp>
        <p:nvSpPr>
          <p:cNvPr id="43012" name="Rectangle 1028">
            <a:extLst>
              <a:ext uri="{FF2B5EF4-FFF2-40B4-BE49-F238E27FC236}">
                <a16:creationId xmlns:a16="http://schemas.microsoft.com/office/drawing/2014/main" id="{E9054FD5-72C5-8FE4-ACE3-B46C06D16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973" y="4024339"/>
            <a:ext cx="273267" cy="4616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Arial Unicode MS" pitchFamily="34" charset="-120"/>
            </a:endParaRPr>
          </a:p>
        </p:txBody>
      </p:sp>
      <p:sp>
        <p:nvSpPr>
          <p:cNvPr id="43013" name="Rectangle 1029">
            <a:extLst>
              <a:ext uri="{FF2B5EF4-FFF2-40B4-BE49-F238E27FC236}">
                <a16:creationId xmlns:a16="http://schemas.microsoft.com/office/drawing/2014/main" id="{14AC5B0B-E165-1E38-BF32-52136F9D9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3103" y="3077488"/>
            <a:ext cx="914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Arial Unicode MS" pitchFamily="34" charset="-120"/>
            </a:endParaRPr>
          </a:p>
        </p:txBody>
      </p:sp>
      <p:cxnSp>
        <p:nvCxnSpPr>
          <p:cNvPr id="43014" name="AutoShape 1030">
            <a:extLst>
              <a:ext uri="{FF2B5EF4-FFF2-40B4-BE49-F238E27FC236}">
                <a16:creationId xmlns:a16="http://schemas.microsoft.com/office/drawing/2014/main" id="{E1BBDE4B-0E16-BD57-76E8-E807CD26C181}"/>
              </a:ext>
            </a:extLst>
          </p:cNvPr>
          <p:cNvCxnSpPr>
            <a:cxnSpLocks noChangeShapeType="1"/>
            <a:stCxn id="43012" idx="0"/>
            <a:endCxn id="43013" idx="2"/>
          </p:cNvCxnSpPr>
          <p:nvPr/>
        </p:nvCxnSpPr>
        <p:spPr bwMode="auto">
          <a:xfrm flipV="1">
            <a:off x="2648607" y="3534688"/>
            <a:ext cx="961696" cy="489651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15" name="TextBox 4">
            <a:extLst>
              <a:ext uri="{FF2B5EF4-FFF2-40B4-BE49-F238E27FC236}">
                <a16:creationId xmlns:a16="http://schemas.microsoft.com/office/drawing/2014/main" id="{A19F3807-571D-D3B3-406C-A625419B8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95AC7190-D6E1-4E11-4D77-05E8321E8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TW" altLang="en-US">
              <a:ea typeface="ＭＳ Ｐゴシック" panose="020B0600070205080204" pitchFamily="34" charset="-128"/>
            </a:endParaRPr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4C3974D6-BE97-7CD0-3C08-17C6CEE11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en-US">
              <a:ea typeface="ＭＳ Ｐゴシック" panose="020B0600070205080204" pitchFamily="34" charset="-128"/>
            </a:endParaRPr>
          </a:p>
        </p:txBody>
      </p:sp>
      <p:pic>
        <p:nvPicPr>
          <p:cNvPr id="45060" name="Picture 3">
            <a:extLst>
              <a:ext uri="{FF2B5EF4-FFF2-40B4-BE49-F238E27FC236}">
                <a16:creationId xmlns:a16="http://schemas.microsoft.com/office/drawing/2014/main" id="{C7FEC216-EC3B-BEDC-83F8-40A404827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380" y="573881"/>
            <a:ext cx="8458200" cy="571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TextBox 4">
            <a:extLst>
              <a:ext uri="{FF2B5EF4-FFF2-40B4-BE49-F238E27FC236}">
                <a16:creationId xmlns:a16="http://schemas.microsoft.com/office/drawing/2014/main" id="{94571DFD-FA79-9020-D5B9-23EB32A9C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AE46782D-82B0-5BBC-A56E-A83AA0770B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8545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Sorting 10 blocks of 10M records</a:t>
            </a:r>
          </a:p>
        </p:txBody>
      </p:sp>
      <p:sp>
        <p:nvSpPr>
          <p:cNvPr id="1351683" name="Rectangle 3">
            <a:extLst>
              <a:ext uri="{FF2B5EF4-FFF2-40B4-BE49-F238E27FC236}">
                <a16:creationId xmlns:a16="http://schemas.microsoft.com/office/drawing/2014/main" id="{92B5522A-CC03-3531-2C7E-51A6741827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ea typeface="ＭＳ Ｐゴシック" panose="020B0600070205080204" pitchFamily="34" charset="-128"/>
              </a:rPr>
              <a:t> First, read each block and sort within	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ea typeface="ＭＳ Ｐゴシック" panose="020B0600070205080204" pitchFamily="34" charset="-128"/>
              </a:rPr>
              <a:t>Quicksort takes 2</a:t>
            </a:r>
            <a:r>
              <a:rPr lang="en-US" altLang="zh-TW" i="1" dirty="0">
                <a:ea typeface="ＭＳ Ｐゴシック" panose="020B0600070205080204" pitchFamily="34" charset="-128"/>
              </a:rPr>
              <a:t>N</a:t>
            </a:r>
            <a:r>
              <a:rPr lang="en-US" altLang="zh-TW" dirty="0">
                <a:ea typeface="ＭＳ Ｐゴシック" panose="020B0600070205080204" pitchFamily="34" charset="-128"/>
              </a:rPr>
              <a:t> ln </a:t>
            </a:r>
            <a:r>
              <a:rPr lang="en-US" altLang="zh-TW" i="1" dirty="0">
                <a:ea typeface="ＭＳ Ｐゴシック" panose="020B0600070205080204" pitchFamily="34" charset="-128"/>
              </a:rPr>
              <a:t>N</a:t>
            </a:r>
            <a:r>
              <a:rPr lang="en-US" altLang="zh-TW" dirty="0">
                <a:ea typeface="ＭＳ Ｐゴシック" panose="020B0600070205080204" pitchFamily="34" charset="-128"/>
              </a:rPr>
              <a:t> expected steps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ea typeface="ＭＳ Ｐゴシック" panose="020B0600070205080204" pitchFamily="34" charset="-128"/>
              </a:rPr>
              <a:t>In our case 2 x (10M ln 10M) steps</a:t>
            </a:r>
            <a:endParaRPr lang="en-US" altLang="zh-TW" i="1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ea typeface="ＭＳ Ｐゴシック" panose="020B0600070205080204" pitchFamily="34" charset="-128"/>
              </a:rPr>
              <a:t>10 times this estimate – gives us 10 sorted </a:t>
            </a:r>
            <a:r>
              <a:rPr lang="en-US" altLang="zh-TW" i="1" u="sng" dirty="0">
                <a:ea typeface="ＭＳ Ｐゴシック" panose="020B0600070205080204" pitchFamily="34" charset="-128"/>
              </a:rPr>
              <a:t>runs</a:t>
            </a:r>
            <a:r>
              <a:rPr lang="en-US" altLang="zh-TW" dirty="0">
                <a:ea typeface="ＭＳ Ｐゴシック" panose="020B0600070205080204" pitchFamily="34" charset="-128"/>
              </a:rPr>
              <a:t> of 10M records each.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ea typeface="ＭＳ Ｐゴシック" panose="020B0600070205080204" pitchFamily="34" charset="-128"/>
              </a:rPr>
              <a:t> Done straightforwardly, need 2 copies of data on disk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ea typeface="ＭＳ Ｐゴシック" panose="020B0600070205080204" pitchFamily="34" charset="-128"/>
              </a:rPr>
              <a:t>But can optimize this</a:t>
            </a:r>
          </a:p>
        </p:txBody>
      </p:sp>
      <p:sp>
        <p:nvSpPr>
          <p:cNvPr id="47108" name="TextBox 4">
            <a:extLst>
              <a:ext uri="{FF2B5EF4-FFF2-40B4-BE49-F238E27FC236}">
                <a16:creationId xmlns:a16="http://schemas.microsoft.com/office/drawing/2014/main" id="{B65ACD29-09D0-94FF-8B23-03742E74E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3">
            <a:extLst>
              <a:ext uri="{FF2B5EF4-FFF2-40B4-BE49-F238E27FC236}">
                <a16:creationId xmlns:a16="http://schemas.microsoft.com/office/drawing/2014/main" id="{1DB7A224-2255-B6AC-CC57-EA3D212A0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1675" y="1749974"/>
            <a:ext cx="82486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5" name="TextBox 4">
            <a:extLst>
              <a:ext uri="{FF2B5EF4-FFF2-40B4-BE49-F238E27FC236}">
                <a16:creationId xmlns:a16="http://schemas.microsoft.com/office/drawing/2014/main" id="{DD5F1911-729B-182F-8DBA-10C86C479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4F536F74-B8A1-C57D-C575-855C3F687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Remaining problem with sort-based algorithm</a:t>
            </a:r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4CC07674-2902-4456-404B-C226884AD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ea typeface="ＭＳ Ｐゴシック" panose="020B0600070205080204" pitchFamily="34" charset="-128"/>
              </a:rPr>
              <a:t>Our assumption was</a:t>
            </a:r>
            <a:r>
              <a:rPr lang="en-US" altLang="zh-TW" dirty="0">
                <a:ea typeface="ＭＳ Ｐゴシック" panose="020B0600070205080204" pitchFamily="34" charset="-128"/>
              </a:rPr>
              <a:t>: we can keep the dictionary in memory.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We need the dictionary (which grows dynamically) in order to implement a term to </a:t>
            </a:r>
            <a:r>
              <a:rPr lang="en-US" altLang="zh-TW" dirty="0" err="1">
                <a:ea typeface="ＭＳ Ｐゴシック" panose="020B0600070205080204" pitchFamily="34" charset="-128"/>
              </a:rPr>
              <a:t>termID</a:t>
            </a:r>
            <a:r>
              <a:rPr lang="en-US" altLang="zh-TW" dirty="0">
                <a:ea typeface="ＭＳ Ｐゴシック" panose="020B0600070205080204" pitchFamily="34" charset="-128"/>
              </a:rPr>
              <a:t> mapping.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Actually, we could work with term, </a:t>
            </a:r>
            <a:r>
              <a:rPr lang="en-US" altLang="zh-TW" dirty="0" err="1">
                <a:ea typeface="ＭＳ Ｐゴシック" panose="020B0600070205080204" pitchFamily="34" charset="-128"/>
              </a:rPr>
              <a:t>docID</a:t>
            </a:r>
            <a:r>
              <a:rPr lang="en-US" altLang="zh-TW" dirty="0">
                <a:ea typeface="ＭＳ Ｐゴシック" panose="020B0600070205080204" pitchFamily="34" charset="-128"/>
              </a:rPr>
              <a:t> postings instead of </a:t>
            </a:r>
            <a:r>
              <a:rPr lang="en-US" altLang="zh-TW" dirty="0" err="1">
                <a:ea typeface="ＭＳ Ｐゴシック" panose="020B0600070205080204" pitchFamily="34" charset="-128"/>
              </a:rPr>
              <a:t>termID</a:t>
            </a:r>
            <a:r>
              <a:rPr lang="en-US" altLang="zh-TW" dirty="0">
                <a:ea typeface="ＭＳ Ｐゴシック" panose="020B0600070205080204" pitchFamily="34" charset="-128"/>
              </a:rPr>
              <a:t>, </a:t>
            </a:r>
            <a:r>
              <a:rPr lang="en-US" altLang="zh-TW" dirty="0" err="1">
                <a:ea typeface="ＭＳ Ｐゴシック" panose="020B0600070205080204" pitchFamily="34" charset="-128"/>
              </a:rPr>
              <a:t>docID</a:t>
            </a:r>
            <a:r>
              <a:rPr lang="en-US" altLang="zh-TW" dirty="0">
                <a:ea typeface="ＭＳ Ｐゴシック" panose="020B0600070205080204" pitchFamily="34" charset="-128"/>
              </a:rPr>
              <a:t> postings . . 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. . . but then intermediate files become very large.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55300" name="TextBox 4">
            <a:extLst>
              <a:ext uri="{FF2B5EF4-FFF2-40B4-BE49-F238E27FC236}">
                <a16:creationId xmlns:a16="http://schemas.microsoft.com/office/drawing/2014/main" id="{9E3F84EC-1832-7C60-66A1-34E436B12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44B74951-03A5-2DFE-7C25-718020A95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SPIMI: Single-pass in-memory indexing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91E78F5D-13FD-9207-8DFF-D31287684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Key idea 1</a:t>
            </a:r>
            <a:r>
              <a:rPr lang="en-US" altLang="zh-TW" dirty="0">
                <a:ea typeface="ＭＳ Ｐゴシック" panose="020B0600070205080204" pitchFamily="34" charset="-128"/>
              </a:rPr>
              <a:t>: Generate separate dictionaries for each block – </a:t>
            </a:r>
            <a:r>
              <a:rPr lang="en-US" altLang="zh-TW" i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no need to maintain term-</a:t>
            </a:r>
            <a:r>
              <a:rPr lang="en-US" altLang="zh-TW" i="1" dirty="0" err="1">
                <a:solidFill>
                  <a:srgbClr val="00B050"/>
                </a:solidFill>
                <a:ea typeface="ＭＳ Ｐゴシック" panose="020B0600070205080204" pitchFamily="34" charset="-128"/>
              </a:rPr>
              <a:t>termID</a:t>
            </a:r>
            <a:r>
              <a:rPr lang="en-US" altLang="zh-TW" i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 mapping across blocks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Key idea 2</a:t>
            </a:r>
            <a:r>
              <a:rPr lang="en-US" altLang="zh-TW" dirty="0">
                <a:ea typeface="ＭＳ Ｐゴシック" panose="020B0600070205080204" pitchFamily="34" charset="-128"/>
              </a:rPr>
              <a:t>: </a:t>
            </a:r>
            <a:r>
              <a:rPr lang="en-US" altLang="zh-TW" i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Don’t sort</a:t>
            </a:r>
            <a:r>
              <a:rPr lang="en-US" altLang="zh-TW" dirty="0">
                <a:ea typeface="ＭＳ Ｐゴシック" panose="020B0600070205080204" pitchFamily="34" charset="-128"/>
              </a:rPr>
              <a:t>. Accumulate postings in postings lists as they occur.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With these two ideas we can generate a complete inverted index for each block.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These separate indexes can then be merged into one big index.</a:t>
            </a:r>
          </a:p>
        </p:txBody>
      </p:sp>
      <p:sp>
        <p:nvSpPr>
          <p:cNvPr id="57348" name="TextBox 4">
            <a:extLst>
              <a:ext uri="{FF2B5EF4-FFF2-40B4-BE49-F238E27FC236}">
                <a16:creationId xmlns:a16="http://schemas.microsoft.com/office/drawing/2014/main" id="{1664E51C-20D2-2BB9-9613-1EB9AEFD9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id="{6410A2B2-4B88-ACCC-40E6-E7F6A4513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85149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zh-TW" altLang="en-US" dirty="0">
                <a:solidFill>
                  <a:srgbClr val="FF0000"/>
                </a:solidFill>
                <a:ea typeface="ＭＳ Ｐゴシック" panose="020B0600070205080204" pitchFamily="34" charset="-128"/>
              </a:rPr>
            </a:b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SPIMI-Invert</a:t>
            </a:r>
          </a:p>
        </p:txBody>
      </p:sp>
      <p:pic>
        <p:nvPicPr>
          <p:cNvPr id="59396" name="Picture 3">
            <a:extLst>
              <a:ext uri="{FF2B5EF4-FFF2-40B4-BE49-F238E27FC236}">
                <a16:creationId xmlns:a16="http://schemas.microsoft.com/office/drawing/2014/main" id="{7FE2844F-FB6E-A087-6CFA-F03EC03CD8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1752600"/>
            <a:ext cx="8556625" cy="4511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7" name="TextBox 4">
            <a:extLst>
              <a:ext uri="{FF2B5EF4-FFF2-40B4-BE49-F238E27FC236}">
                <a16:creationId xmlns:a16="http://schemas.microsoft.com/office/drawing/2014/main" id="{13515E9F-1924-9752-405F-6C78E5C8E4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5FD05C17-0C88-A4D5-F84C-F7B3F1AF71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Distributed indexing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3862C66E-18A1-9F0A-5FFD-8FD84BC9BE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For web-scale indexing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Must use a distributed computing cluster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Individual machines are fault-prone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Can unpredictably slow down or fail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How do we exploit such a pool of machines?</a:t>
            </a:r>
          </a:p>
        </p:txBody>
      </p:sp>
      <p:sp>
        <p:nvSpPr>
          <p:cNvPr id="63492" name="TextBox 4">
            <a:extLst>
              <a:ext uri="{FF2B5EF4-FFF2-40B4-BE49-F238E27FC236}">
                <a16:creationId xmlns:a16="http://schemas.microsoft.com/office/drawing/2014/main" id="{0645C06D-DBD9-81F7-8F08-9A4CD553B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A4F72C85-C1B7-D08A-5A92-18E33328E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Google data centers</a:t>
            </a: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6AEEE7B2-4353-4C6F-8CB9-03A0005C73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Data centers are distributed around the world.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Estimate: a total of 2.5 million servers.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Estimate: </a:t>
            </a:r>
            <a:r>
              <a:rPr lang="en-GB" altLang="zh-TW" dirty="0">
                <a:ea typeface="ＭＳ Ｐゴシック" panose="020B0600070205080204" pitchFamily="34" charset="-128"/>
              </a:rPr>
              <a:t> Google holds somewhere around 15 exabytes of data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altLang="zh-TW" dirty="0">
                <a:ea typeface="ＭＳ Ｐゴシック" panose="020B0600070205080204" pitchFamily="34" charset="-128"/>
              </a:rPr>
              <a:t>1 exabyte equals 1 million terabytes.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Estimate: This would be 10% of the computing capacity of the world!?!</a:t>
            </a:r>
          </a:p>
        </p:txBody>
      </p:sp>
      <p:sp>
        <p:nvSpPr>
          <p:cNvPr id="65540" name="TextBox 4">
            <a:extLst>
              <a:ext uri="{FF2B5EF4-FFF2-40B4-BE49-F238E27FC236}">
                <a16:creationId xmlns:a16="http://schemas.microsoft.com/office/drawing/2014/main" id="{8FC4F103-55AB-1277-975E-72B18FD74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5B8B6-E6AE-AFF5-8D27-423557128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>
            <a:extLst>
              <a:ext uri="{FF2B5EF4-FFF2-40B4-BE49-F238E27FC236}">
                <a16:creationId xmlns:a16="http://schemas.microsoft.com/office/drawing/2014/main" id="{F91B2287-801F-72C0-3318-E6BC081CD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Google web crawler</a:t>
            </a:r>
          </a:p>
        </p:txBody>
      </p:sp>
      <p:sp>
        <p:nvSpPr>
          <p:cNvPr id="65539" name="Content Placeholder 2">
            <a:extLst>
              <a:ext uri="{FF2B5EF4-FFF2-40B4-BE49-F238E27FC236}">
                <a16:creationId xmlns:a16="http://schemas.microsoft.com/office/drawing/2014/main" id="{3D3EC56B-4071-41BA-1504-B4F0B7492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65540" name="TextBox 4">
            <a:extLst>
              <a:ext uri="{FF2B5EF4-FFF2-40B4-BE49-F238E27FC236}">
                <a16:creationId xmlns:a16="http://schemas.microsoft.com/office/drawing/2014/main" id="{5C3A741A-60DC-A4AE-6A38-373703D626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5A913B1-722F-A316-10EF-D0C912859004}"/>
              </a:ext>
            </a:extLst>
          </p:cNvPr>
          <p:cNvGrpSpPr/>
          <p:nvPr/>
        </p:nvGrpSpPr>
        <p:grpSpPr>
          <a:xfrm>
            <a:off x="73338" y="1527021"/>
            <a:ext cx="12045324" cy="4629150"/>
            <a:chOff x="266003" y="1638533"/>
            <a:chExt cx="12045324" cy="4629150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19E25B8-A3E5-57B7-D260-93DC0BC59A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003" y="1638533"/>
              <a:ext cx="4857750" cy="4629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C79F8365-3EE0-9F8A-DD5C-DD669F9E85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23753" y="1638533"/>
              <a:ext cx="7187574" cy="4629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37381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B328CDD-0AC9-3BDA-764D-9B350B5B5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Distributed indexing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E7C3F512-FD28-899B-60DA-723A3AD19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355369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Maintain a </a:t>
            </a:r>
            <a:r>
              <a:rPr lang="en-US" altLang="zh-TW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master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 machine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directing the indexing job</a:t>
            </a:r>
            <a:r>
              <a:rPr lang="en-US" altLang="zh-TW" dirty="0">
                <a:ea typeface="ＭＳ Ｐゴシック" panose="020B0600070205080204" pitchFamily="34" charset="-128"/>
              </a:rPr>
              <a:t> – considered “safe”.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Break up indexing into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sets of (parallel) tasks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zh-TW" dirty="0">
                <a:ea typeface="ＭＳ Ｐゴシック" panose="020B0600070205080204" pitchFamily="34" charset="-128"/>
              </a:rPr>
              <a:t>We will use two sets of parallel tasks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Parsers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Inverters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zh-TW" dirty="0">
                <a:ea typeface="ＭＳ Ｐゴシック" panose="020B0600070205080204" pitchFamily="34" charset="-128"/>
              </a:rPr>
              <a:t>Break the input document collection into splits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Master machine assigns each task to an idle machine from a pool.</a:t>
            </a:r>
          </a:p>
        </p:txBody>
      </p:sp>
      <p:sp>
        <p:nvSpPr>
          <p:cNvPr id="69636" name="TextBox 4">
            <a:extLst>
              <a:ext uri="{FF2B5EF4-FFF2-40B4-BE49-F238E27FC236}">
                <a16:creationId xmlns:a16="http://schemas.microsoft.com/office/drawing/2014/main" id="{28D896A8-59A6-3014-3AFC-EED6FD6412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2E5E2FC6-9340-DB01-BEFE-012176C4B0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Parsers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CCDED198-7505-5332-971F-866C702D7B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Master assigns a split to an idle parser machine.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Parser reads a document at a time and emits (term, doc) pairs.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Parser writes pairs into </a:t>
            </a:r>
            <a:r>
              <a:rPr lang="en-US" altLang="zh-TW" i="1" dirty="0">
                <a:ea typeface="ＭＳ Ｐゴシック" panose="020B0600070205080204" pitchFamily="34" charset="-128"/>
              </a:rPr>
              <a:t>j</a:t>
            </a:r>
            <a:r>
              <a:rPr lang="en-US" altLang="zh-TW" dirty="0">
                <a:ea typeface="ＭＳ Ｐゴシック" panose="020B0600070205080204" pitchFamily="34" charset="-128"/>
              </a:rPr>
              <a:t> partitions.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Each partition is for a range of terms’ first letters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(e.g.,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a-f, g-p, q-z</a:t>
            </a:r>
            <a:r>
              <a:rPr lang="en-US" altLang="zh-TW" dirty="0">
                <a:ea typeface="ＭＳ Ｐゴシック" panose="020B0600070205080204" pitchFamily="34" charset="-128"/>
              </a:rPr>
              <a:t>) – here </a:t>
            </a:r>
            <a:r>
              <a:rPr lang="en-US" altLang="zh-TW" i="1" dirty="0">
                <a:ea typeface="ＭＳ Ｐゴシック" panose="020B0600070205080204" pitchFamily="34" charset="-128"/>
              </a:rPr>
              <a:t>j </a:t>
            </a:r>
            <a:r>
              <a:rPr lang="en-US" altLang="zh-TW" dirty="0">
                <a:ea typeface="ＭＳ Ｐゴシック" panose="020B0600070205080204" pitchFamily="34" charset="-128"/>
              </a:rPr>
              <a:t>= 3.</a:t>
            </a:r>
          </a:p>
        </p:txBody>
      </p:sp>
      <p:sp>
        <p:nvSpPr>
          <p:cNvPr id="73732" name="TextBox 4">
            <a:extLst>
              <a:ext uri="{FF2B5EF4-FFF2-40B4-BE49-F238E27FC236}">
                <a16:creationId xmlns:a16="http://schemas.microsoft.com/office/drawing/2014/main" id="{FEF0B3C0-D29B-2EC7-A960-79E8DC277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>
            <a:extLst>
              <a:ext uri="{FF2B5EF4-FFF2-40B4-BE49-F238E27FC236}">
                <a16:creationId xmlns:a16="http://schemas.microsoft.com/office/drawing/2014/main" id="{7BC092EA-B2A1-988E-A5FB-AE0B792D8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647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Inverters</a:t>
            </a:r>
          </a:p>
        </p:txBody>
      </p:sp>
      <p:sp>
        <p:nvSpPr>
          <p:cNvPr id="75779" name="Content Placeholder 2">
            <a:extLst>
              <a:ext uri="{FF2B5EF4-FFF2-40B4-BE49-F238E27FC236}">
                <a16:creationId xmlns:a16="http://schemas.microsoft.com/office/drawing/2014/main" id="{A070B27E-147B-137D-B576-DEC12DB2C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An inverter collects all (term, doc) pairs (= postings) for one term-partition.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Sorts and writes to postings lists</a:t>
            </a:r>
          </a:p>
        </p:txBody>
      </p:sp>
      <p:sp>
        <p:nvSpPr>
          <p:cNvPr id="75780" name="TextBox 4">
            <a:extLst>
              <a:ext uri="{FF2B5EF4-FFF2-40B4-BE49-F238E27FC236}">
                <a16:creationId xmlns:a16="http://schemas.microsoft.com/office/drawing/2014/main" id="{DB4E8509-8F14-0F6F-6D4C-02A15F95C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>
            <a:extLst>
              <a:ext uri="{FF2B5EF4-FFF2-40B4-BE49-F238E27FC236}">
                <a16:creationId xmlns:a16="http://schemas.microsoft.com/office/drawing/2014/main" id="{E9A6CA4D-061B-D007-432D-EB5673B380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6953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Data flow</a:t>
            </a:r>
          </a:p>
        </p:txBody>
      </p:sp>
      <p:sp>
        <p:nvSpPr>
          <p:cNvPr id="77887" name="TextBox 4">
            <a:extLst>
              <a:ext uri="{FF2B5EF4-FFF2-40B4-BE49-F238E27FC236}">
                <a16:creationId xmlns:a16="http://schemas.microsoft.com/office/drawing/2014/main" id="{30B51763-4AF0-53BC-C627-E9F84444A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3C519-B3FA-061D-ACC6-8535CB5FB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289" y="1952380"/>
            <a:ext cx="7163421" cy="41303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148A04E5-4D95-76CF-32B4-ABE0E610E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9596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Dynamic indexing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9457DB82-B7B2-F307-07D4-27D7E044DE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Up to now, we have assumed that collections are static.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They rarely are: 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Documents come in over time and need to be inserted.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Documents are deleted and modified.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This means that the dictionary and postings lists have to be modified: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Postings updates for terms already in dictionary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New terms added to dictionary</a:t>
            </a:r>
          </a:p>
        </p:txBody>
      </p:sp>
      <p:sp>
        <p:nvSpPr>
          <p:cNvPr id="86020" name="TextBox 4">
            <a:extLst>
              <a:ext uri="{FF2B5EF4-FFF2-40B4-BE49-F238E27FC236}">
                <a16:creationId xmlns:a16="http://schemas.microsoft.com/office/drawing/2014/main" id="{916890A9-CC75-98EE-9855-0042F28DA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F11D65F7-67AF-7CB4-DE13-313DC6839F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0647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Simplest approach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FBB3E909-402F-9FC0-0B82-A61D8F9CB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Maintain 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“big” main index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New docs go into “small” auxiliary index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Search across both, merge results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Deletions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Invalidation bit-vector for deleted docs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Filter docs output on a search result by this invalidation bit-vector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Periodically, re-index into one main index</a:t>
            </a:r>
          </a:p>
        </p:txBody>
      </p:sp>
      <p:sp>
        <p:nvSpPr>
          <p:cNvPr id="88068" name="TextBox 4">
            <a:extLst>
              <a:ext uri="{FF2B5EF4-FFF2-40B4-BE49-F238E27FC236}">
                <a16:creationId xmlns:a16="http://schemas.microsoft.com/office/drawing/2014/main" id="{B1A739AB-B6E8-7600-F0C8-6797CECE9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>
            <a:extLst>
              <a:ext uri="{FF2B5EF4-FFF2-40B4-BE49-F238E27FC236}">
                <a16:creationId xmlns:a16="http://schemas.microsoft.com/office/drawing/2014/main" id="{96A379C7-DE9C-BF14-C4E4-BAE58727D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80045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Logarithmic merge</a:t>
            </a:r>
          </a:p>
        </p:txBody>
      </p:sp>
      <p:sp>
        <p:nvSpPr>
          <p:cNvPr id="92163" name="Content Placeholder 2">
            <a:extLst>
              <a:ext uri="{FF2B5EF4-FFF2-40B4-BE49-F238E27FC236}">
                <a16:creationId xmlns:a16="http://schemas.microsoft.com/office/drawing/2014/main" id="{8661D8FD-0355-B002-4560-C47AC16E6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Maintain a series of indexes, each twice as large as the previous one.</a:t>
            </a: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Keep smallest (Z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zh-TW" dirty="0">
                <a:ea typeface="ＭＳ Ｐゴシック" panose="020B0600070205080204" pitchFamily="34" charset="-128"/>
              </a:rPr>
              <a:t>) in memory</a:t>
            </a: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Larger ones (I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zh-TW" dirty="0">
                <a:ea typeface="ＭＳ Ｐゴシック" panose="020B0600070205080204" pitchFamily="34" charset="-128"/>
              </a:rPr>
              <a:t>, I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, …) on disk</a:t>
            </a: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If Z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zh-TW" dirty="0">
                <a:ea typeface="ＭＳ Ｐゴシック" panose="020B0600070205080204" pitchFamily="34" charset="-128"/>
              </a:rPr>
              <a:t> gets too big (&gt; </a:t>
            </a:r>
            <a:r>
              <a:rPr lang="en-US" altLang="zh-TW" i="1" dirty="0">
                <a:ea typeface="ＭＳ Ｐゴシック" panose="020B0600070205080204" pitchFamily="34" charset="-128"/>
              </a:rPr>
              <a:t>n</a:t>
            </a:r>
            <a:r>
              <a:rPr lang="en-US" altLang="zh-TW" dirty="0">
                <a:ea typeface="ＭＳ Ｐゴシック" panose="020B0600070205080204" pitchFamily="34" charset="-128"/>
              </a:rPr>
              <a:t>), write to disk as I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0 </a:t>
            </a:r>
            <a:r>
              <a:rPr lang="en-US" altLang="zh-TW" dirty="0">
                <a:ea typeface="ＭＳ Ｐゴシック" panose="020B0600070205080204" pitchFamily="34" charset="-128"/>
              </a:rPr>
              <a:t>or merge with I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zh-TW" dirty="0">
                <a:ea typeface="ＭＳ Ｐゴシック" panose="020B0600070205080204" pitchFamily="34" charset="-128"/>
              </a:rPr>
              <a:t> (if I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0</a:t>
            </a:r>
            <a:r>
              <a:rPr lang="en-US" altLang="zh-TW" dirty="0">
                <a:ea typeface="ＭＳ Ｐゴシック" panose="020B0600070205080204" pitchFamily="34" charset="-128"/>
              </a:rPr>
              <a:t> already exists) as Z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1</a:t>
            </a: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Either write merge Z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 to disk as I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 (if no I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)</a:t>
            </a:r>
            <a:endParaRPr lang="en-US" altLang="zh-TW" baseline="-25000" dirty="0">
              <a:ea typeface="ＭＳ Ｐゴシック" panose="020B0600070205080204" pitchFamily="34" charset="-128"/>
            </a:endParaRP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Or merge with I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1</a:t>
            </a:r>
            <a:r>
              <a:rPr lang="en-US" altLang="zh-TW" dirty="0">
                <a:ea typeface="ＭＳ Ｐゴシック" panose="020B0600070205080204" pitchFamily="34" charset="-128"/>
              </a:rPr>
              <a:t> to form Z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2</a:t>
            </a: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etc.</a:t>
            </a:r>
          </a:p>
        </p:txBody>
      </p:sp>
      <p:sp>
        <p:nvSpPr>
          <p:cNvPr id="92164" name="TextBox 4">
            <a:extLst>
              <a:ext uri="{FF2B5EF4-FFF2-40B4-BE49-F238E27FC236}">
                <a16:creationId xmlns:a16="http://schemas.microsoft.com/office/drawing/2014/main" id="{052AF4B6-A2E9-0C4E-2C9D-38DB49A17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Picture 4">
            <a:extLst>
              <a:ext uri="{FF2B5EF4-FFF2-40B4-BE49-F238E27FC236}">
                <a16:creationId xmlns:a16="http://schemas.microsoft.com/office/drawing/2014/main" id="{FD99E484-32A5-DE92-AB61-DC733F815B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8464" y="381000"/>
            <a:ext cx="8115072" cy="5788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211" name="TextBox 4">
            <a:extLst>
              <a:ext uri="{FF2B5EF4-FFF2-40B4-BE49-F238E27FC236}">
                <a16:creationId xmlns:a16="http://schemas.microsoft.com/office/drawing/2014/main" id="{869B00DC-3987-1393-CAFE-6ACAE7D60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>
            <a:extLst>
              <a:ext uri="{FF2B5EF4-FFF2-40B4-BE49-F238E27FC236}">
                <a16:creationId xmlns:a16="http://schemas.microsoft.com/office/drawing/2014/main" id="{061EF569-83DD-BEEB-B53E-570C07A89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Logarithmic merge</a:t>
            </a:r>
          </a:p>
        </p:txBody>
      </p:sp>
      <p:sp>
        <p:nvSpPr>
          <p:cNvPr id="96259" name="Content Placeholder 2">
            <a:extLst>
              <a:ext uri="{FF2B5EF4-FFF2-40B4-BE49-F238E27FC236}">
                <a16:creationId xmlns:a16="http://schemas.microsoft.com/office/drawing/2014/main" id="{2A083390-EA10-04D3-49EF-72803A45A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ea typeface="ＭＳ Ｐゴシック" panose="020B0600070205080204" pitchFamily="34" charset="-128"/>
              </a:rPr>
              <a:t>Auxiliary and main index</a:t>
            </a:r>
            <a:r>
              <a:rPr lang="en-US" altLang="zh-TW" dirty="0">
                <a:ea typeface="ＭＳ Ｐゴシック" panose="020B0600070205080204" pitchFamily="34" charset="-128"/>
              </a:rPr>
              <a:t>: index construction time is O(T</a:t>
            </a:r>
            <a:r>
              <a:rPr lang="en-US" altLang="zh-TW" baseline="30000" dirty="0">
                <a:ea typeface="ＭＳ Ｐゴシック" panose="020B0600070205080204" pitchFamily="34" charset="-128"/>
              </a:rPr>
              <a:t>2</a:t>
            </a:r>
            <a:r>
              <a:rPr lang="en-US" altLang="zh-TW" dirty="0">
                <a:ea typeface="ＭＳ Ｐゴシック" panose="020B0600070205080204" pitchFamily="34" charset="-128"/>
              </a:rPr>
              <a:t>) as each posting is touched in each merge.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ea typeface="ＭＳ Ｐゴシック" panose="020B0600070205080204" pitchFamily="34" charset="-128"/>
              </a:rPr>
              <a:t>Logarithmic merge</a:t>
            </a:r>
            <a:r>
              <a:rPr lang="en-US" altLang="zh-TW" dirty="0">
                <a:ea typeface="ＭＳ Ｐゴシック" panose="020B0600070205080204" pitchFamily="34" charset="-128"/>
              </a:rPr>
              <a:t>: Each posting is merged O(</a:t>
            </a:r>
            <a:r>
              <a:rPr lang="en-US" altLang="zh-TW" dirty="0" err="1">
                <a:ea typeface="ＭＳ Ｐゴシック" panose="020B0600070205080204" pitchFamily="34" charset="-128"/>
              </a:rPr>
              <a:t>logT</a:t>
            </a:r>
            <a:r>
              <a:rPr lang="en-US" altLang="zh-TW" dirty="0">
                <a:ea typeface="ＭＳ Ｐゴシック" panose="020B0600070205080204" pitchFamily="34" charset="-128"/>
              </a:rPr>
              <a:t>) times, so complexity is O(T </a:t>
            </a:r>
            <a:r>
              <a:rPr lang="en-US" altLang="zh-TW" dirty="0" err="1">
                <a:ea typeface="ＭＳ Ｐゴシック" panose="020B0600070205080204" pitchFamily="34" charset="-128"/>
              </a:rPr>
              <a:t>logT</a:t>
            </a:r>
            <a:r>
              <a:rPr lang="en-US" altLang="zh-TW" dirty="0">
                <a:ea typeface="ＭＳ Ｐゴシック" panose="020B0600070205080204" pitchFamily="34" charset="-128"/>
              </a:rPr>
              <a:t>)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So logarithmic merge is much more efficient for index construction.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But query processing now requires the merging of O(log T) indexes. Whereas it is O(1) if you just have a main and auxiliary index</a:t>
            </a:r>
          </a:p>
        </p:txBody>
      </p:sp>
      <p:sp>
        <p:nvSpPr>
          <p:cNvPr id="96260" name="TextBox 4">
            <a:extLst>
              <a:ext uri="{FF2B5EF4-FFF2-40B4-BE49-F238E27FC236}">
                <a16:creationId xmlns:a16="http://schemas.microsoft.com/office/drawing/2014/main" id="{B9788EC2-A051-00A3-F4A4-46064427D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>
            <a:extLst>
              <a:ext uri="{FF2B5EF4-FFF2-40B4-BE49-F238E27FC236}">
                <a16:creationId xmlns:a16="http://schemas.microsoft.com/office/drawing/2014/main" id="{236E79CC-D0D7-0B6E-8B72-3AA207356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0647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Dynamic indexing at search engines</a:t>
            </a:r>
          </a:p>
        </p:txBody>
      </p:sp>
      <p:sp>
        <p:nvSpPr>
          <p:cNvPr id="100355" name="Content Placeholder 2">
            <a:extLst>
              <a:ext uri="{FF2B5EF4-FFF2-40B4-BE49-F238E27FC236}">
                <a16:creationId xmlns:a16="http://schemas.microsoft.com/office/drawing/2014/main" id="{50C057EE-5FC9-0255-1D9A-8BC7B19FC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All the large search engines now do dynamic indexing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Their indices have frequent incremental changes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News items, blogs, new topical web pages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But (sometimes/typically) they also periodically reconstruct the index from scratch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Query processing is then switched to the new index, and the old index is then deleted</a:t>
            </a:r>
          </a:p>
          <a:p>
            <a:pPr lvl="2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zh-TW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00356" name="TextBox 4">
            <a:extLst>
              <a:ext uri="{FF2B5EF4-FFF2-40B4-BE49-F238E27FC236}">
                <a16:creationId xmlns:a16="http://schemas.microsoft.com/office/drawing/2014/main" id="{43CF7BE6-074F-5241-F3E4-9B1B08EB24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9715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Arial Unicode MS" pitchFamily="34" charset="-120"/>
              </a:rPr>
              <a:t>Sec. 4.5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E3CB6DBE-0C63-3550-D32C-F56281AB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/>
          <a:lstStyle/>
          <a:p>
            <a:r>
              <a:rPr lang="en-US" altLang="zh-TW" sz="3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Why compression for inverted indexes?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49B17FEA-DD39-B9BE-EB76-F7717F04F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600" dirty="0">
                <a:ea typeface="ＭＳ Ｐゴシック" panose="020B0600070205080204" pitchFamily="34" charset="-128"/>
              </a:rPr>
              <a:t> </a:t>
            </a:r>
            <a:r>
              <a:rPr lang="en-US" altLang="zh-TW" sz="26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Dictionary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Make it small enough to keep in main memory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Make it so small that you can keep some postings lists in main memory too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600" dirty="0">
                <a:ea typeface="ＭＳ Ｐゴシック" panose="020B0600070205080204" pitchFamily="34" charset="-128"/>
              </a:rPr>
              <a:t> </a:t>
            </a:r>
            <a:r>
              <a:rPr lang="en-US" altLang="zh-TW" sz="2600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Postings file(s)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Reduce disk space needed, Decrease time needed to read postings lists from disk</a:t>
            </a:r>
          </a:p>
          <a:p>
            <a:pPr lvl="1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Large search engines keep a significant part of the postings in memory.</a:t>
            </a:r>
          </a:p>
          <a:p>
            <a:pPr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TW" sz="2600" dirty="0">
              <a:ea typeface="ＭＳ Ｐゴシック" panose="020B0600070205080204" pitchFamily="34" charset="-128"/>
            </a:endParaRPr>
          </a:p>
        </p:txBody>
      </p:sp>
      <p:sp>
        <p:nvSpPr>
          <p:cNvPr id="19460" name="TextBox 4">
            <a:extLst>
              <a:ext uri="{FF2B5EF4-FFF2-40B4-BE49-F238E27FC236}">
                <a16:creationId xmlns:a16="http://schemas.microsoft.com/office/drawing/2014/main" id="{1110707B-2EF7-2FB1-DFCD-9E7F57D32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-33338"/>
            <a:ext cx="7127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Ch. 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83362CA2-7310-5FD8-49B1-AFD3F9FFB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669" y="381000"/>
            <a:ext cx="9937529" cy="990600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Index parameters vs. what we index </a:t>
            </a:r>
            <a:r>
              <a:rPr lang="en-US" altLang="zh-TW" sz="2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(details </a:t>
            </a:r>
            <a:r>
              <a:rPr lang="en-US" altLang="zh-TW" sz="2800" i="1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IIR </a:t>
            </a:r>
            <a:r>
              <a:rPr lang="en-US" altLang="zh-TW" sz="2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Table 5.1, p.80)</a:t>
            </a:r>
            <a:endParaRPr lang="en-US" altLang="zh-TW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CCEE028-8AFB-0838-F746-AB4B60FE68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5686888"/>
              </p:ext>
            </p:extLst>
          </p:nvPr>
        </p:nvGraphicFramePr>
        <p:xfrm>
          <a:off x="1600200" y="1962807"/>
          <a:ext cx="9067800" cy="4016422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40038">
                <a:tc row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size of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word types (terms)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non-positional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postings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positional postings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89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dictionary</a:t>
                      </a:r>
                      <a:endParaRPr kumimoji="0" lang="en-US" altLang="zh-TW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新細明體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non-positional index </a:t>
                      </a:r>
                      <a:endParaRPr kumimoji="0" lang="en-US" altLang="zh-TW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新細明體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positional index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38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Size (K)</a:t>
                      </a:r>
                    </a:p>
                  </a:txBody>
                  <a:tcPr marT="45711" marB="45711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∆</a:t>
                      </a: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cumul %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Size (K)</a:t>
                      </a:r>
                      <a:endParaRPr kumimoji="0" lang="en-US" altLang="zh-TW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新細明體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cumul %</a:t>
                      </a:r>
                      <a:endParaRPr kumimoji="0" lang="en-US" altLang="zh-TW" sz="18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新細明體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Size (K)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∆ </a:t>
                      </a: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cumul %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Unfiltered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484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109,971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197,879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新細明體" charset="-120"/>
                        <a:cs typeface="Times New Roman" panose="02020603050405020304" pitchFamily="18" charset="0"/>
                      </a:endParaRP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No numbers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474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100,680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-8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-8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179,158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-9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-9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Case folding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392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-17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-19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96,969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-12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179,158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-9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30 stopwords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391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-19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83,390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-14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-24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121,858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-31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-38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150 stopwords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391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-19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67,002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-30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-39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94,517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-47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-52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stemming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322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-17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-33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63,812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-4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-42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94,517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charset="-120"/>
                          <a:cs typeface="Times New Roman" panose="02020603050405020304" pitchFamily="18" charset="0"/>
                        </a:rPr>
                        <a:t>-52</a:t>
                      </a:r>
                    </a:p>
                  </a:txBody>
                  <a:tcPr marT="45711" marB="457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659" name="TextBox 4">
            <a:extLst>
              <a:ext uri="{FF2B5EF4-FFF2-40B4-BE49-F238E27FC236}">
                <a16:creationId xmlns:a16="http://schemas.microsoft.com/office/drawing/2014/main" id="{6C2D5568-9B23-DC2B-67F8-94C84DA3B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4CAE1E6F-44B3-7E42-FE4C-1C9A28498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Lossless vs. lossy compression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56010007-49AD-FC55-B2F5-C55A16092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6390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Lossless compression</a:t>
            </a:r>
            <a:r>
              <a:rPr lang="en-US" altLang="zh-TW" dirty="0">
                <a:ea typeface="ＭＳ Ｐゴシック" panose="020B0600070205080204" pitchFamily="34" charset="-128"/>
              </a:rPr>
              <a:t>: all information is preserved.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What we mostly do in IR.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 Lossy compression</a:t>
            </a:r>
            <a:r>
              <a:rPr lang="en-US" altLang="zh-TW" dirty="0">
                <a:ea typeface="ＭＳ Ｐゴシック" panose="020B0600070205080204" pitchFamily="34" charset="-128"/>
              </a:rPr>
              <a:t>: Discard some information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Several of the preprocessing steps can be viewed as lossy compression: case folding, stop words, stemming, number elimination.</a:t>
            </a:r>
          </a:p>
          <a:p>
            <a:pPr marL="0" indent="0" algn="just">
              <a:lnSpc>
                <a:spcPct val="130000"/>
              </a:lnSpc>
              <a:spcAft>
                <a:spcPts val="600"/>
              </a:spcAft>
              <a:buNone/>
            </a:pP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25604" name="TextBox 4">
            <a:extLst>
              <a:ext uri="{FF2B5EF4-FFF2-40B4-BE49-F238E27FC236}">
                <a16:creationId xmlns:a16="http://schemas.microsoft.com/office/drawing/2014/main" id="{71A33CCD-65DA-0958-04C3-CACD1D741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3">
            <a:extLst>
              <a:ext uri="{FF2B5EF4-FFF2-40B4-BE49-F238E27FC236}">
                <a16:creationId xmlns:a16="http://schemas.microsoft.com/office/drawing/2014/main" id="{CA5A127B-906E-40E8-DE89-D6ACC8C9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5400" cap="none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DICTIONARY COMPRESSION</a:t>
            </a:r>
          </a:p>
        </p:txBody>
      </p:sp>
      <p:sp>
        <p:nvSpPr>
          <p:cNvPr id="41987" name="Text Placeholder 4">
            <a:extLst>
              <a:ext uri="{FF2B5EF4-FFF2-40B4-BE49-F238E27FC236}">
                <a16:creationId xmlns:a16="http://schemas.microsoft.com/office/drawing/2014/main" id="{1C2603C0-D631-776A-6F51-151A9D53B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solidFill>
                <a:srgbClr val="89898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41988" name="TextBox 4">
            <a:extLst>
              <a:ext uri="{FF2B5EF4-FFF2-40B4-BE49-F238E27FC236}">
                <a16:creationId xmlns:a16="http://schemas.microsoft.com/office/drawing/2014/main" id="{0C6BEE03-B214-4042-3A7D-B68A80A0C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CF663C7-45B4-A4A9-D40F-5DC892C608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73331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Dictionary storage - first cut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CA4E900-0DD1-BC44-A732-E26005685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dirty="0">
                <a:ea typeface="ＭＳ Ｐゴシック" panose="020B0600070205080204" pitchFamily="34" charset="-128"/>
              </a:rPr>
              <a:t>Array of fixed-width entries</a:t>
            </a:r>
          </a:p>
          <a:p>
            <a:pPr lvl="1" eaLnBrk="1" hangingPunct="1"/>
            <a:r>
              <a:rPr lang="en-US" altLang="zh-TW" dirty="0">
                <a:ea typeface="ＭＳ Ｐゴシック" panose="020B0600070205080204" pitchFamily="34" charset="-128"/>
              </a:rPr>
              <a:t>~400,000 terms; 28 bytes/term = 11.2 MB.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D7D9DFA-72E6-0A36-FD6C-B764A5751608}"/>
              </a:ext>
            </a:extLst>
          </p:cNvPr>
          <p:cNvGrpSpPr/>
          <p:nvPr/>
        </p:nvGrpSpPr>
        <p:grpSpPr>
          <a:xfrm>
            <a:off x="2087880" y="3168870"/>
            <a:ext cx="8077200" cy="3048001"/>
            <a:chOff x="1981200" y="2969174"/>
            <a:chExt cx="8077200" cy="3048001"/>
          </a:xfrm>
        </p:grpSpPr>
        <p:graphicFrame>
          <p:nvGraphicFramePr>
            <p:cNvPr id="46084" name="Object 0">
              <a:extLst>
                <a:ext uri="{FF2B5EF4-FFF2-40B4-BE49-F238E27FC236}">
                  <a16:creationId xmlns:a16="http://schemas.microsoft.com/office/drawing/2014/main" id="{FE1DA898-A3F3-CF5D-1785-23CDBA72CE5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5613117"/>
                </p:ext>
              </p:extLst>
            </p:nvPr>
          </p:nvGraphicFramePr>
          <p:xfrm>
            <a:off x="4419601" y="2969174"/>
            <a:ext cx="4016375" cy="25479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3" imgW="6560657" imgH="4067652" progId="Word.Document.8">
                    <p:embed/>
                  </p:oleObj>
                </mc:Choice>
                <mc:Fallback>
                  <p:oleObj name="Document" r:id="rId3" imgW="6560657" imgH="4067652" progId="Word.Document.8">
                    <p:embed/>
                    <p:pic>
                      <p:nvPicPr>
                        <p:cNvPr id="46084" name="Object 0">
                          <a:extLst>
                            <a:ext uri="{FF2B5EF4-FFF2-40B4-BE49-F238E27FC236}">
                              <a16:creationId xmlns:a16="http://schemas.microsoft.com/office/drawing/2014/main" id="{FE1DA898-A3F3-CF5D-1785-23CDBA72CE5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9601" y="2969174"/>
                          <a:ext cx="4016375" cy="25479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46085" name="AutoShape 5">
              <a:extLst>
                <a:ext uri="{FF2B5EF4-FFF2-40B4-BE49-F238E27FC236}">
                  <a16:creationId xmlns:a16="http://schemas.microsoft.com/office/drawing/2014/main" id="{977A5DF6-FE28-2BE2-3E0C-C178E99649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43800" y="3731174"/>
              <a:ext cx="25146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086" name="AutoShape 6">
              <a:extLst>
                <a:ext uri="{FF2B5EF4-FFF2-40B4-BE49-F238E27FC236}">
                  <a16:creationId xmlns:a16="http://schemas.microsoft.com/office/drawing/2014/main" id="{50D9512B-79A0-CE79-8F30-1D64306949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43800" y="4112174"/>
              <a:ext cx="25146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087" name="AutoShape 7">
              <a:extLst>
                <a:ext uri="{FF2B5EF4-FFF2-40B4-BE49-F238E27FC236}">
                  <a16:creationId xmlns:a16="http://schemas.microsoft.com/office/drawing/2014/main" id="{BC40029F-2B1A-B025-2454-412F670F49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543800" y="5102774"/>
              <a:ext cx="251460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089" name="AutoShape 9">
              <a:extLst>
                <a:ext uri="{FF2B5EF4-FFF2-40B4-BE49-F238E27FC236}">
                  <a16:creationId xmlns:a16="http://schemas.microsoft.com/office/drawing/2014/main" id="{6A23D937-B50B-3E31-2ABF-F131F67525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3731174"/>
              <a:ext cx="457200" cy="4572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46090" name="AutoShape 10">
              <a:extLst>
                <a:ext uri="{FF2B5EF4-FFF2-40B4-BE49-F238E27FC236}">
                  <a16:creationId xmlns:a16="http://schemas.microsoft.com/office/drawing/2014/main" id="{F381151A-7D01-33B4-A767-47CCF8E9F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000" y="4645574"/>
              <a:ext cx="457200" cy="4572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46091" name="AutoShape 11">
              <a:extLst>
                <a:ext uri="{FF2B5EF4-FFF2-40B4-BE49-F238E27FC236}">
                  <a16:creationId xmlns:a16="http://schemas.microsoft.com/office/drawing/2014/main" id="{D421FF09-063D-151B-7F5E-58EE62297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200" y="4188374"/>
              <a:ext cx="457200" cy="4572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46092" name="Line 12">
              <a:extLst>
                <a:ext uri="{FF2B5EF4-FFF2-40B4-BE49-F238E27FC236}">
                  <a16:creationId xmlns:a16="http://schemas.microsoft.com/office/drawing/2014/main" id="{4F8A4CBD-51E4-797D-EE8E-807AC0C26E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8400" y="4035974"/>
              <a:ext cx="609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3" name="Line 13">
              <a:extLst>
                <a:ext uri="{FF2B5EF4-FFF2-40B4-BE49-F238E27FC236}">
                  <a16:creationId xmlns:a16="http://schemas.microsoft.com/office/drawing/2014/main" id="{2B28FD3C-DDAF-4C7F-FF2B-0F056A66B9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3731174"/>
              <a:ext cx="990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4" name="Line 14">
              <a:extLst>
                <a:ext uri="{FF2B5EF4-FFF2-40B4-BE49-F238E27FC236}">
                  <a16:creationId xmlns:a16="http://schemas.microsoft.com/office/drawing/2014/main" id="{1A7A71F5-B3AE-585B-22FA-373491A20A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4035974"/>
              <a:ext cx="990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5" name="Line 15">
              <a:extLst>
                <a:ext uri="{FF2B5EF4-FFF2-40B4-BE49-F238E27FC236}">
                  <a16:creationId xmlns:a16="http://schemas.microsoft.com/office/drawing/2014/main" id="{B7519607-4590-8313-C4A3-36133EBB2A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4950374"/>
              <a:ext cx="990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6" name="Line 16">
              <a:extLst>
                <a:ext uri="{FF2B5EF4-FFF2-40B4-BE49-F238E27FC236}">
                  <a16:creationId xmlns:a16="http://schemas.microsoft.com/office/drawing/2014/main" id="{EAF48803-501D-975F-CEFC-5110B6A111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200" y="4645574"/>
              <a:ext cx="99060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7" name="Line 17">
              <a:extLst>
                <a:ext uri="{FF2B5EF4-FFF2-40B4-BE49-F238E27FC236}">
                  <a16:creationId xmlns:a16="http://schemas.microsoft.com/office/drawing/2014/main" id="{30BB82C7-B6A7-F8B4-C9B1-AA2409BC46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400" y="4493174"/>
              <a:ext cx="609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8" name="Text Box 18">
              <a:extLst>
                <a:ext uri="{FF2B5EF4-FFF2-40B4-BE49-F238E27FC236}">
                  <a16:creationId xmlns:a16="http://schemas.microsoft.com/office/drawing/2014/main" id="{A92D42A2-6341-D9BA-9C09-0A9AF757D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801" y="5550450"/>
              <a:ext cx="1217613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20 bytes</a:t>
              </a:r>
            </a:p>
          </p:txBody>
        </p:sp>
        <p:sp>
          <p:nvSpPr>
            <p:cNvPr id="46099" name="Text Box 19">
              <a:extLst>
                <a:ext uri="{FF2B5EF4-FFF2-40B4-BE49-F238E27FC236}">
                  <a16:creationId xmlns:a16="http://schemas.microsoft.com/office/drawing/2014/main" id="{CE8ADB4C-A137-7614-E3EC-421D440BF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6176" y="5550450"/>
              <a:ext cx="1698625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4 bytes each</a:t>
              </a:r>
            </a:p>
          </p:txBody>
        </p:sp>
        <p:sp>
          <p:nvSpPr>
            <p:cNvPr id="46100" name="Line 20">
              <a:extLst>
                <a:ext uri="{FF2B5EF4-FFF2-40B4-BE49-F238E27FC236}">
                  <a16:creationId xmlns:a16="http://schemas.microsoft.com/office/drawing/2014/main" id="{3506E90A-9D15-6823-C73F-F35B0A3C2A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24600" y="5255174"/>
              <a:ext cx="228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101" name="Line 21">
              <a:extLst>
                <a:ext uri="{FF2B5EF4-FFF2-40B4-BE49-F238E27FC236}">
                  <a16:creationId xmlns:a16="http://schemas.microsoft.com/office/drawing/2014/main" id="{83FBE6C0-EE15-5643-1315-2734E1CBE1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10400" y="5255174"/>
              <a:ext cx="2286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6102" name="TextBox 4">
            <a:extLst>
              <a:ext uri="{FF2B5EF4-FFF2-40B4-BE49-F238E27FC236}">
                <a16:creationId xmlns:a16="http://schemas.microsoft.com/office/drawing/2014/main" id="{91C523B4-6D33-2829-CD12-AB2D3CC12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D7CEF95E-CE8C-A224-A8EF-37E88BCEB0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827494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Fixed-width terms are wasteful</a:t>
            </a:r>
          </a:p>
        </p:txBody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C7C821DF-32F3-7329-94B9-BD23B00C89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97280" y="1845733"/>
            <a:ext cx="10058400" cy="4334349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Most of the bytes in the </a:t>
            </a:r>
            <a:r>
              <a:rPr lang="en-US" altLang="zh-TW" b="1" dirty="0">
                <a:ea typeface="ＭＳ Ｐゴシック" panose="020B0600070205080204" pitchFamily="34" charset="-128"/>
              </a:rPr>
              <a:t>Term</a:t>
            </a:r>
            <a:r>
              <a:rPr lang="en-US" altLang="zh-TW" dirty="0">
                <a:ea typeface="ＭＳ Ｐゴシック" panose="020B0600070205080204" pitchFamily="34" charset="-128"/>
              </a:rPr>
              <a:t> column are wasted </a:t>
            </a:r>
            <a:r>
              <a:rPr lang="en-US" altLang="zh-TW" dirty="0">
                <a:solidFill>
                  <a:srgbClr val="000000"/>
                </a:solidFill>
                <a:ea typeface="ＭＳ Ｐゴシック" panose="020B0600070205080204" pitchFamily="34" charset="-128"/>
                <a:cs typeface="Times New Roman" panose="02020603050405020304" pitchFamily="18" charset="0"/>
              </a:rPr>
              <a:t>–</a:t>
            </a:r>
            <a:r>
              <a:rPr lang="en-US" altLang="zh-TW" dirty="0">
                <a:ea typeface="ＭＳ Ｐゴシック" panose="020B0600070205080204" pitchFamily="34" charset="-128"/>
              </a:rPr>
              <a:t> we allot 20 bytes for 1 letter terms.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ea typeface="ＭＳ Ｐゴシック" panose="020B0600070205080204" pitchFamily="34" charset="-128"/>
              </a:rPr>
              <a:t>And we still can’t handle </a:t>
            </a:r>
            <a:r>
              <a:rPr lang="en-US" altLang="zh-TW" sz="2000" i="1" dirty="0">
                <a:ea typeface="ＭＳ Ｐゴシック" panose="020B0600070205080204" pitchFamily="34" charset="-128"/>
              </a:rPr>
              <a:t>supercalifragilisticexpialidocious </a:t>
            </a:r>
            <a:r>
              <a:rPr lang="en-US" altLang="zh-TW" sz="2000" dirty="0">
                <a:ea typeface="ＭＳ Ｐゴシック" panose="020B0600070205080204" pitchFamily="34" charset="-128"/>
              </a:rPr>
              <a:t>or </a:t>
            </a:r>
            <a:r>
              <a:rPr lang="en-US" altLang="zh-TW" sz="2000" i="1" dirty="0">
                <a:ea typeface="ＭＳ Ｐゴシック" panose="020B0600070205080204" pitchFamily="34" charset="-128"/>
              </a:rPr>
              <a:t>hydrochlorofluorocarbons.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Written English averages ~4.5 characters/word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Ave. dictionary word in English: ~8 characters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How do we use ~8 characters per dictionary term?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Short words dominate token counts but not type average.</a:t>
            </a:r>
          </a:p>
        </p:txBody>
      </p:sp>
      <p:sp>
        <p:nvSpPr>
          <p:cNvPr id="48132" name="TextBox 4">
            <a:extLst>
              <a:ext uri="{FF2B5EF4-FFF2-40B4-BE49-F238E27FC236}">
                <a16:creationId xmlns:a16="http://schemas.microsoft.com/office/drawing/2014/main" id="{B807B013-65A8-EFE9-5F9B-C911ED0AF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8963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455C9F8-6AF5-00DB-9578-776B57A81F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627797"/>
          </a:xfrm>
        </p:spPr>
        <p:txBody>
          <a:bodyPr/>
          <a:lstStyle/>
          <a:p>
            <a:pPr eaLnBrk="1" hangingPunct="1"/>
            <a:r>
              <a:rPr lang="en-US" altLang="zh-TW" sz="3600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Compressing the term list: Dictionary-as-a-String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1E7C87F-AE21-D7AC-B4FE-2FF4A83217D5}"/>
              </a:ext>
            </a:extLst>
          </p:cNvPr>
          <p:cNvGrpSpPr/>
          <p:nvPr/>
        </p:nvGrpSpPr>
        <p:grpSpPr>
          <a:xfrm>
            <a:off x="1704975" y="3158306"/>
            <a:ext cx="8782050" cy="3063875"/>
            <a:chOff x="1671638" y="2879725"/>
            <a:chExt cx="8782050" cy="3063875"/>
          </a:xfrm>
        </p:grpSpPr>
        <p:sp>
          <p:nvSpPr>
            <p:cNvPr id="50179" name="Text Box 3">
              <a:extLst>
                <a:ext uri="{FF2B5EF4-FFF2-40B4-BE49-F238E27FC236}">
                  <a16:creationId xmlns:a16="http://schemas.microsoft.com/office/drawing/2014/main" id="{63E4E2CF-3271-AD35-E101-EC74B64C3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7450" y="2879725"/>
              <a:ext cx="6599238" cy="406400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00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….systilesyzygeticsyzygialsyzygyszaibelyiteszczecinszomo….</a:t>
              </a:r>
              <a:endParaRPr lang="en-US" altLang="zh-TW" sz="1600">
                <a:latin typeface="Times New Roman" panose="02020603050405020304" pitchFamily="18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graphicFrame>
          <p:nvGraphicFramePr>
            <p:cNvPr id="50180" name="Object 0">
              <a:extLst>
                <a:ext uri="{FF2B5EF4-FFF2-40B4-BE49-F238E27FC236}">
                  <a16:creationId xmlns:a16="http://schemas.microsoft.com/office/drawing/2014/main" id="{4C85DFFC-760F-6D42-14E9-1A985D0B5C8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6919241"/>
                </p:ext>
              </p:extLst>
            </p:nvPr>
          </p:nvGraphicFramePr>
          <p:xfrm>
            <a:off x="1671638" y="3697289"/>
            <a:ext cx="3219450" cy="1970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Document" r:id="rId3" imgW="6403848" imgH="3941064" progId="Word.Document.8">
                    <p:embed/>
                  </p:oleObj>
                </mc:Choice>
                <mc:Fallback>
                  <p:oleObj name="Document" r:id="rId3" imgW="6403848" imgH="3941064" progId="Word.Document.8">
                    <p:embed/>
                    <p:pic>
                      <p:nvPicPr>
                        <p:cNvPr id="50180" name="Object 0">
                          <a:extLst>
                            <a:ext uri="{FF2B5EF4-FFF2-40B4-BE49-F238E27FC236}">
                              <a16:creationId xmlns:a16="http://schemas.microsoft.com/office/drawing/2014/main" id="{4C85DFFC-760F-6D42-14E9-1A985D0B5C8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1638" y="3697289"/>
                          <a:ext cx="3219450" cy="1970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1" name="Line 5">
              <a:extLst>
                <a:ext uri="{FF2B5EF4-FFF2-40B4-BE49-F238E27FC236}">
                  <a16:creationId xmlns:a16="http://schemas.microsoft.com/office/drawing/2014/main" id="{AEDAA5AF-6AD4-0F16-21CA-3E439625C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4313238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2" name="Line 6">
              <a:extLst>
                <a:ext uri="{FF2B5EF4-FFF2-40B4-BE49-F238E27FC236}">
                  <a16:creationId xmlns:a16="http://schemas.microsoft.com/office/drawing/2014/main" id="{4BCA43C1-8589-E4E1-39D6-4B06F0580B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029200" y="3551238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3" name="Line 7">
              <a:extLst>
                <a:ext uri="{FF2B5EF4-FFF2-40B4-BE49-F238E27FC236}">
                  <a16:creationId xmlns:a16="http://schemas.microsoft.com/office/drawing/2014/main" id="{DCB81BD3-8C11-2536-01C7-A5C538218F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91000" y="3246438"/>
              <a:ext cx="838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4" name="Line 8">
              <a:extLst>
                <a:ext uri="{FF2B5EF4-FFF2-40B4-BE49-F238E27FC236}">
                  <a16:creationId xmlns:a16="http://schemas.microsoft.com/office/drawing/2014/main" id="{238D135F-EC6D-E994-50B0-EBD721134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4618038"/>
              <a:ext cx="990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5" name="Line 9">
              <a:extLst>
                <a:ext uri="{FF2B5EF4-FFF2-40B4-BE49-F238E27FC236}">
                  <a16:creationId xmlns:a16="http://schemas.microsoft.com/office/drawing/2014/main" id="{AD7AC855-04BA-610A-C6AE-1903E7E439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34000" y="3475038"/>
              <a:ext cx="0" cy="1143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6" name="Line 10">
              <a:extLst>
                <a:ext uri="{FF2B5EF4-FFF2-40B4-BE49-F238E27FC236}">
                  <a16:creationId xmlns:a16="http://schemas.microsoft.com/office/drawing/2014/main" id="{8662EE43-B8CE-798D-E402-4BA316589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53000" y="3246438"/>
              <a:ext cx="3810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7" name="Line 11">
              <a:extLst>
                <a:ext uri="{FF2B5EF4-FFF2-40B4-BE49-F238E27FC236}">
                  <a16:creationId xmlns:a16="http://schemas.microsoft.com/office/drawing/2014/main" id="{0CBA5C49-86F9-81C4-DD29-FA507089F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4999038"/>
              <a:ext cx="1447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8" name="Line 12">
              <a:extLst>
                <a:ext uri="{FF2B5EF4-FFF2-40B4-BE49-F238E27FC236}">
                  <a16:creationId xmlns:a16="http://schemas.microsoft.com/office/drawing/2014/main" id="{838364F8-8D8A-E925-5C29-D02F070AAA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91200" y="3246438"/>
              <a:ext cx="0" cy="1752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9" name="Line 13">
              <a:extLst>
                <a:ext uri="{FF2B5EF4-FFF2-40B4-BE49-F238E27FC236}">
                  <a16:creationId xmlns:a16="http://schemas.microsoft.com/office/drawing/2014/main" id="{6A05EED1-F16F-19A5-BB83-2E5C1D77B2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5456238"/>
              <a:ext cx="2286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0" name="Line 14">
              <a:extLst>
                <a:ext uri="{FF2B5EF4-FFF2-40B4-BE49-F238E27FC236}">
                  <a16:creationId xmlns:a16="http://schemas.microsoft.com/office/drawing/2014/main" id="{25A24F4A-43C3-9DD7-8DC5-0F15BCAF5E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29400" y="3246438"/>
              <a:ext cx="0" cy="2209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91" name="AutoShape 16">
              <a:extLst>
                <a:ext uri="{FF2B5EF4-FFF2-40B4-BE49-F238E27FC236}">
                  <a16:creationId xmlns:a16="http://schemas.microsoft.com/office/drawing/2014/main" id="{26C98E0F-3B04-18BF-3AC1-5E872AEE48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1" y="3398838"/>
              <a:ext cx="2741613" cy="1096962"/>
            </a:xfrm>
            <a:prstGeom prst="upArrowCallout">
              <a:avLst>
                <a:gd name="adj1" fmla="val 62482"/>
                <a:gd name="adj2" fmla="val 62482"/>
                <a:gd name="adj3" fmla="val 16667"/>
                <a:gd name="adj4" fmla="val 66667"/>
              </a:avLst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Total string length =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400K x 8B = 3.2MB</a:t>
              </a:r>
            </a:p>
          </p:txBody>
        </p:sp>
        <p:sp>
          <p:nvSpPr>
            <p:cNvPr id="50192" name="AutoShape 17">
              <a:extLst>
                <a:ext uri="{FF2B5EF4-FFF2-40B4-BE49-F238E27FC236}">
                  <a16:creationId xmlns:a16="http://schemas.microsoft.com/office/drawing/2014/main" id="{A11C912B-3D8A-19DF-4C5D-4C602493F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5600" y="4846638"/>
              <a:ext cx="3748088" cy="1096962"/>
            </a:xfrm>
            <a:prstGeom prst="leftArrowCallout">
              <a:avLst>
                <a:gd name="adj1" fmla="val 25000"/>
                <a:gd name="adj2" fmla="val 25000"/>
                <a:gd name="adj3" fmla="val 56946"/>
                <a:gd name="adj4" fmla="val 71157"/>
              </a:avLst>
            </a:prstGeom>
            <a:solidFill>
              <a:srgbClr val="00CC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Pointers resolve 3.2M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positions: log</a:t>
              </a:r>
              <a:r>
                <a:rPr lang="en-US" altLang="zh-TW" sz="2400" baseline="-2500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2</a:t>
              </a:r>
              <a:r>
                <a:rPr lang="en-US" altLang="zh-TW" sz="240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3.2M =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22bits = 3bytes</a:t>
              </a:r>
            </a:p>
          </p:txBody>
        </p:sp>
      </p:grpSp>
      <p:sp>
        <p:nvSpPr>
          <p:cNvPr id="50193" name="Rectangle 18">
            <a:extLst>
              <a:ext uri="{FF2B5EF4-FFF2-40B4-BE49-F238E27FC236}">
                <a16:creationId xmlns:a16="http://schemas.microsoft.com/office/drawing/2014/main" id="{1C265502-0C1B-2C17-F4DD-1542F910E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0136" y="1818458"/>
            <a:ext cx="9946235" cy="1253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A50021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TW" sz="2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sz="2600" dirty="0">
                <a:solidFill>
                  <a:srgbClr val="00B05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Store dictionary</a:t>
            </a:r>
            <a:r>
              <a:rPr lang="en-US" altLang="zh-TW" sz="2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as a (long) 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string of characters</a:t>
            </a:r>
            <a:r>
              <a:rPr lang="en-US" altLang="zh-TW" sz="26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: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TW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Pointer to next word</a:t>
            </a:r>
            <a:r>
              <a:rPr lang="en-US" altLang="zh-TW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00B050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shows end of current word,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Clr>
                <a:schemeClr val="tx1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TW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Hope to save up to 60% of dictionary space.</a:t>
            </a:r>
          </a:p>
        </p:txBody>
      </p:sp>
      <p:sp>
        <p:nvSpPr>
          <p:cNvPr id="50194" name="TextBox 4">
            <a:extLst>
              <a:ext uri="{FF2B5EF4-FFF2-40B4-BE49-F238E27FC236}">
                <a16:creationId xmlns:a16="http://schemas.microsoft.com/office/drawing/2014/main" id="{C24FC388-917D-D9E7-F0F0-817C69DB81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1448801D-E761-1DB6-19AF-917608F0FA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8545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Space for dictionary as a string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2CB049E4-6146-80C7-FF39-7FD0C200CB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4 bytes per term for Freq.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4 bytes per term for pointer to Postings.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3 bytes per term pointer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Avg. 8 bytes per term in term string</a:t>
            </a:r>
          </a:p>
          <a:p>
            <a:pPr algn="just" eaLnBrk="1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400K terms x 19 </a:t>
            </a:r>
            <a:r>
              <a:rPr lang="en-US" altLang="zh-TW" dirty="0">
                <a:ea typeface="ＭＳ Ｐゴシック" panose="020B0600070205080204" pitchFamily="34" charset="-128"/>
                <a:sym typeface="Symbol" panose="05050102010706020507" pitchFamily="18" charset="2"/>
              </a:rPr>
              <a:t> 7.6 MB (against 11.2MB for fixed width)</a:t>
            </a:r>
            <a:endParaRPr lang="en-US" altLang="zh-TW" dirty="0">
              <a:ea typeface="ＭＳ Ｐゴシック" panose="020B0600070205080204" pitchFamily="34" charset="-128"/>
            </a:endParaRPr>
          </a:p>
        </p:txBody>
      </p:sp>
      <p:sp>
        <p:nvSpPr>
          <p:cNvPr id="52228" name="Text Box 4">
            <a:extLst>
              <a:ext uri="{FF2B5EF4-FFF2-40B4-BE49-F238E27FC236}">
                <a16:creationId xmlns:a16="http://schemas.microsoft.com/office/drawing/2014/main" id="{F9FD0588-97CF-6C49-A75E-027432ECE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1325" y="1999594"/>
            <a:ext cx="3028404" cy="1535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r>
              <a:rPr lang="zh-TW" altLang="en-US" sz="2400" dirty="0">
                <a:latin typeface="Times New Roman" panose="02020603050405020304" pitchFamily="18" charset="0"/>
                <a:ea typeface="新細明體" panose="02020500000000000000" pitchFamily="18" charset="-120"/>
                <a:cs typeface="Arial Unicode MS" pitchFamily="34" charset="-120"/>
                <a:sym typeface="Symbol" panose="05050102010706020507" pitchFamily="18" charset="2"/>
              </a:rPr>
              <a:t> 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cs typeface="Arial Unicode MS" pitchFamily="34" charset="-120"/>
                <a:sym typeface="Symbol" panose="05050102010706020507" pitchFamily="18" charset="2"/>
              </a:rPr>
              <a:t>Now avg. 11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cs typeface="Arial Unicode MS" pitchFamily="34" charset="-120"/>
                <a:sym typeface="Symbol" panose="05050102010706020507" pitchFamily="18" charset="2"/>
              </a:rPr>
              <a:t> bytes/term,</a:t>
            </a:r>
          </a:p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cs typeface="Arial Unicode MS" pitchFamily="34" charset="-120"/>
                <a:sym typeface="Symbol" panose="05050102010706020507" pitchFamily="18" charset="2"/>
              </a:rPr>
              <a:t> not 20.</a:t>
            </a: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52229" name="TextBox 4">
            <a:extLst>
              <a:ext uri="{FF2B5EF4-FFF2-40B4-BE49-F238E27FC236}">
                <a16:creationId xmlns:a16="http://schemas.microsoft.com/office/drawing/2014/main" id="{F9F914FC-CE32-781F-D98F-DDDE7F6476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C235DEEA-8CE5-CECA-61C5-DD6F95F56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803903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Blocking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03E220B4-3368-BFFA-CE33-B69793596D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Store pointers to every </a:t>
            </a:r>
            <a:r>
              <a:rPr lang="en-US" altLang="zh-TW" i="1" dirty="0"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ea typeface="ＭＳ Ｐゴシック" panose="020B0600070205080204" pitchFamily="34" charset="-128"/>
              </a:rPr>
              <a:t>th term string (example below: </a:t>
            </a:r>
            <a:r>
              <a:rPr lang="en-US" altLang="zh-TW" i="1" dirty="0">
                <a:ea typeface="ＭＳ Ｐゴシック" panose="020B0600070205080204" pitchFamily="34" charset="-128"/>
              </a:rPr>
              <a:t>k=</a:t>
            </a:r>
            <a:r>
              <a:rPr lang="en-US" altLang="zh-TW" dirty="0">
                <a:ea typeface="ＭＳ Ｐゴシック" panose="020B0600070205080204" pitchFamily="34" charset="-128"/>
              </a:rPr>
              <a:t>4).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Need to store term lengths (1 extra byte)</a:t>
            </a:r>
          </a:p>
        </p:txBody>
      </p:sp>
      <p:graphicFrame>
        <p:nvGraphicFramePr>
          <p:cNvPr id="54277" name="Object 1024">
            <a:extLst>
              <a:ext uri="{FF2B5EF4-FFF2-40B4-BE49-F238E27FC236}">
                <a16:creationId xmlns:a16="http://schemas.microsoft.com/office/drawing/2014/main" id="{3517AD7D-F2F4-92B2-A74B-9C2B18E641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3339163"/>
              </p:ext>
            </p:extLst>
          </p:nvPr>
        </p:nvGraphicFramePr>
        <p:xfrm>
          <a:off x="928619" y="4000500"/>
          <a:ext cx="3317875" cy="233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598920" imgH="4687824" progId="Word.Document.8">
                  <p:embed/>
                </p:oleObj>
              </mc:Choice>
              <mc:Fallback>
                <p:oleObj name="Document" r:id="rId3" imgW="6598920" imgH="4687824" progId="Word.Document.8">
                  <p:embed/>
                  <p:pic>
                    <p:nvPicPr>
                      <p:cNvPr id="54277" name="Object 1024">
                        <a:extLst>
                          <a:ext uri="{FF2B5EF4-FFF2-40B4-BE49-F238E27FC236}">
                            <a16:creationId xmlns:a16="http://schemas.microsoft.com/office/drawing/2014/main" id="{3517AD7D-F2F4-92B2-A74B-9C2B18E641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19" y="4000500"/>
                        <a:ext cx="3317875" cy="233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EAB84435-6B9A-A39B-1C74-539AFAE30B7D}"/>
              </a:ext>
            </a:extLst>
          </p:cNvPr>
          <p:cNvGrpSpPr/>
          <p:nvPr/>
        </p:nvGrpSpPr>
        <p:grpSpPr>
          <a:xfrm>
            <a:off x="2976563" y="3276600"/>
            <a:ext cx="7429500" cy="2822028"/>
            <a:chOff x="2976563" y="3276600"/>
            <a:chExt cx="7429500" cy="2822028"/>
          </a:xfrm>
        </p:grpSpPr>
        <p:sp>
          <p:nvSpPr>
            <p:cNvPr id="54276" name="Text Box 4">
              <a:extLst>
                <a:ext uri="{FF2B5EF4-FFF2-40B4-BE49-F238E27FC236}">
                  <a16:creationId xmlns:a16="http://schemas.microsoft.com/office/drawing/2014/main" id="{00F23A9B-2479-5C09-39CD-88034D9356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563" y="3276600"/>
              <a:ext cx="7429500" cy="406400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00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….</a:t>
              </a:r>
              <a:r>
                <a:rPr lang="en-US" altLang="zh-TW" sz="2000" b="1">
                  <a:solidFill>
                    <a:srgbClr val="990033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7</a:t>
              </a:r>
              <a:r>
                <a:rPr lang="en-US" altLang="zh-TW" sz="2000" b="1" i="1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systile</a:t>
              </a:r>
              <a:r>
                <a:rPr lang="en-US" altLang="zh-TW" sz="2000">
                  <a:solidFill>
                    <a:srgbClr val="990033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9</a:t>
              </a:r>
              <a:r>
                <a:rPr lang="en-US" altLang="zh-TW" sz="2000" b="1" i="1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syzygetic</a:t>
              </a:r>
              <a:r>
                <a:rPr lang="en-US" altLang="zh-TW" sz="2000">
                  <a:solidFill>
                    <a:srgbClr val="990033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8</a:t>
              </a:r>
              <a:r>
                <a:rPr lang="en-US" altLang="zh-TW" sz="2000" b="1" i="1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syzygial</a:t>
              </a:r>
              <a:r>
                <a:rPr lang="en-US" altLang="zh-TW" sz="2000">
                  <a:solidFill>
                    <a:srgbClr val="990033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6</a:t>
              </a:r>
              <a:r>
                <a:rPr lang="en-US" altLang="zh-TW" sz="2000" b="1" i="1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syzygy</a:t>
              </a:r>
              <a:r>
                <a:rPr lang="en-US" altLang="zh-TW" sz="2000">
                  <a:solidFill>
                    <a:srgbClr val="990033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11</a:t>
              </a:r>
              <a:r>
                <a:rPr lang="en-US" altLang="zh-TW" sz="2000" b="1" i="1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szaibelyite</a:t>
              </a:r>
              <a:r>
                <a:rPr lang="en-US" altLang="zh-TW" sz="2000">
                  <a:solidFill>
                    <a:srgbClr val="990033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8</a:t>
              </a:r>
              <a:r>
                <a:rPr lang="en-US" altLang="zh-TW" sz="2000" b="1" i="1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szczecin</a:t>
              </a:r>
              <a:r>
                <a:rPr lang="en-US" altLang="zh-TW" sz="2000">
                  <a:solidFill>
                    <a:srgbClr val="990033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9</a:t>
              </a:r>
              <a:r>
                <a:rPr lang="en-US" altLang="zh-TW" sz="2000" b="1" i="1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szomo</a:t>
              </a:r>
              <a:r>
                <a:rPr lang="en-US" altLang="zh-TW" sz="200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….</a:t>
              </a:r>
              <a:endParaRPr lang="en-US" altLang="zh-TW" sz="1600">
                <a:latin typeface="Times New Roman" panose="02020603050405020304" pitchFamily="18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54278" name="Line 6">
              <a:extLst>
                <a:ext uri="{FF2B5EF4-FFF2-40B4-BE49-F238E27FC236}">
                  <a16:creationId xmlns:a16="http://schemas.microsoft.com/office/drawing/2014/main" id="{C4316D18-3C94-7D2C-9767-EA8F10EAA4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7200" y="4566744"/>
              <a:ext cx="762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4279" name="Line 7">
              <a:extLst>
                <a:ext uri="{FF2B5EF4-FFF2-40B4-BE49-F238E27FC236}">
                  <a16:creationId xmlns:a16="http://schemas.microsoft.com/office/drawing/2014/main" id="{94A2313C-FDCD-0260-7D53-C320780AB8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29200" y="4343400"/>
              <a:ext cx="0" cy="223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4280" name="Line 8">
              <a:extLst>
                <a:ext uri="{FF2B5EF4-FFF2-40B4-BE49-F238E27FC236}">
                  <a16:creationId xmlns:a16="http://schemas.microsoft.com/office/drawing/2014/main" id="{C03039B5-E0AA-CCF3-63FC-CC73E32954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05200" y="3657600"/>
              <a:ext cx="1524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1" name="Line 9">
              <a:extLst>
                <a:ext uri="{FF2B5EF4-FFF2-40B4-BE49-F238E27FC236}">
                  <a16:creationId xmlns:a16="http://schemas.microsoft.com/office/drawing/2014/main" id="{BE4F818B-6182-57BC-79F7-4378463279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2610" y="6098628"/>
              <a:ext cx="2971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2" name="Line 10">
              <a:extLst>
                <a:ext uri="{FF2B5EF4-FFF2-40B4-BE49-F238E27FC236}">
                  <a16:creationId xmlns:a16="http://schemas.microsoft.com/office/drawing/2014/main" id="{D7EF95E3-4D24-5701-1A3B-4A30D0F14A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44407" y="3657600"/>
              <a:ext cx="0" cy="24410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283" name="Text Box 11">
              <a:extLst>
                <a:ext uri="{FF2B5EF4-FFF2-40B4-BE49-F238E27FC236}">
                  <a16:creationId xmlns:a16="http://schemas.microsoft.com/office/drawing/2014/main" id="{F2B83E87-4063-98FE-7391-0A3E62CF1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4780437"/>
              <a:ext cx="1968809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TW" altLang="en-US" sz="2400" dirty="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  <a:sym typeface="Symbol" panose="05050102010706020507" pitchFamily="18" charset="2"/>
                </a:rPr>
                <a:t> </a:t>
              </a:r>
              <a:r>
                <a:rPr lang="en-US" altLang="zh-TW" sz="2400" dirty="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  <a:sym typeface="Symbol" panose="05050102010706020507" pitchFamily="18" charset="2"/>
                </a:rPr>
                <a:t>Save 9 bytes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  <a:sym typeface="Symbol" panose="05050102010706020507" pitchFamily="18" charset="2"/>
                </a:rPr>
                <a:t> on 3</a:t>
              </a:r>
            </a:p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  <a:sym typeface="Symbol" panose="05050102010706020507" pitchFamily="18" charset="2"/>
                </a:rPr>
                <a:t> pointers.</a:t>
              </a:r>
              <a:endPara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54284" name="AutoShape 12">
              <a:extLst>
                <a:ext uri="{FF2B5EF4-FFF2-40B4-BE49-F238E27FC236}">
                  <a16:creationId xmlns:a16="http://schemas.microsoft.com/office/drawing/2014/main" id="{2566ABD1-1E76-9A28-3EAA-36B58C5D4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5851" y="4923401"/>
              <a:ext cx="2970212" cy="914400"/>
            </a:xfrm>
            <a:prstGeom prst="leftArrowCallout">
              <a:avLst>
                <a:gd name="adj1" fmla="val 25000"/>
                <a:gd name="adj2" fmla="val 25000"/>
                <a:gd name="adj3" fmla="val 54138"/>
                <a:gd name="adj4" fmla="val 70444"/>
              </a:avLst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Lose 4 bytes on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 dirty="0">
                  <a:latin typeface="Times New Roman" panose="02020603050405020304" pitchFamily="18" charset="0"/>
                  <a:ea typeface="新細明體" panose="02020500000000000000" pitchFamily="18" charset="-120"/>
                  <a:cs typeface="Arial Unicode MS" pitchFamily="34" charset="-120"/>
                </a:rPr>
                <a:t>term lengths.</a:t>
              </a:r>
            </a:p>
          </p:txBody>
        </p:sp>
      </p:grpSp>
      <p:sp>
        <p:nvSpPr>
          <p:cNvPr id="54285" name="TextBox 4">
            <a:extLst>
              <a:ext uri="{FF2B5EF4-FFF2-40B4-BE49-F238E27FC236}">
                <a16:creationId xmlns:a16="http://schemas.microsoft.com/office/drawing/2014/main" id="{6DB397A5-5909-CE8F-DFBE-C6B0B2A75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88D7DF9-703D-36FF-731A-FA4CEB5A6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4"/>
            <a:ext cx="10058400" cy="785452"/>
          </a:xfrm>
        </p:spPr>
        <p:txBody>
          <a:bodyPr/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Net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52C7E536-88EE-101F-759F-E00DC4A510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Example for block size </a:t>
            </a:r>
            <a:r>
              <a:rPr lang="en-US" altLang="zh-TW" i="1" dirty="0"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ea typeface="ＭＳ Ｐゴシック" panose="020B0600070205080204" pitchFamily="34" charset="-128"/>
              </a:rPr>
              <a:t> = 4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Where we used 3 bytes/pointer without blocking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3 x 4 = 12 bytes</a:t>
            </a:r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, now we use 3 + 4 = 7 bytes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1217540" name="Text Box 4">
            <a:extLst>
              <a:ext uri="{FF2B5EF4-FFF2-40B4-BE49-F238E27FC236}">
                <a16:creationId xmlns:a16="http://schemas.microsoft.com/office/drawing/2014/main" id="{D7EC5944-822C-4E41-33DA-DA416E445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363" y="3857414"/>
            <a:ext cx="1005840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dirty="0">
                <a:solidFill>
                  <a:srgbClr val="357E69"/>
                </a:solidFill>
                <a:ea typeface="新細明體" panose="02020500000000000000" pitchFamily="18" charset="-120"/>
                <a:cs typeface="Arial Unicode MS" pitchFamily="34" charset="-120"/>
              </a:rPr>
              <a:t>Shaved another ~0.5MB. This reduces the size of the dictionary from 7.6 MB to 7.1 MB.</a:t>
            </a:r>
          </a:p>
          <a:p>
            <a:pPr>
              <a:spcBef>
                <a:spcPct val="0"/>
              </a:spcBef>
              <a:buClrTx/>
              <a:buNone/>
            </a:pPr>
            <a:r>
              <a:rPr lang="en-US" altLang="zh-TW" dirty="0">
                <a:solidFill>
                  <a:srgbClr val="357E69"/>
                </a:solidFill>
                <a:ea typeface="新細明體" panose="02020500000000000000" pitchFamily="18" charset="-120"/>
                <a:cs typeface="Arial Unicode MS" pitchFamily="34" charset="-120"/>
              </a:rPr>
              <a:t>We can save more with larger </a:t>
            </a:r>
            <a:r>
              <a:rPr lang="en-US" altLang="zh-TW" i="1" dirty="0">
                <a:solidFill>
                  <a:srgbClr val="357E69"/>
                </a:solidFill>
                <a:ea typeface="新細明體" panose="02020500000000000000" pitchFamily="18" charset="-120"/>
                <a:cs typeface="Arial Unicode MS" pitchFamily="34" charset="-120"/>
              </a:rPr>
              <a:t>k</a:t>
            </a:r>
            <a:r>
              <a:rPr lang="en-US" altLang="zh-TW" dirty="0">
                <a:solidFill>
                  <a:srgbClr val="357E69"/>
                </a:solidFill>
                <a:ea typeface="新細明體" panose="02020500000000000000" pitchFamily="18" charset="-120"/>
                <a:cs typeface="Arial Unicode MS" pitchFamily="34" charset="-120"/>
              </a:rPr>
              <a:t>. </a:t>
            </a:r>
            <a:r>
              <a:rPr lang="en-US" altLang="zh-TW" dirty="0">
                <a:solidFill>
                  <a:srgbClr val="FF0000"/>
                </a:solidFill>
                <a:ea typeface="新細明體" panose="02020500000000000000" pitchFamily="18" charset="-120"/>
                <a:cs typeface="Arial Unicode MS" pitchFamily="34" charset="-120"/>
              </a:rPr>
              <a:t>But w</a:t>
            </a:r>
            <a:r>
              <a:rPr lang="en-GB" altLang="zh-TW" dirty="0" err="1">
                <a:solidFill>
                  <a:srgbClr val="FF0000"/>
                </a:solidFill>
                <a:ea typeface="新細明體" panose="02020500000000000000" pitchFamily="18" charset="-120"/>
                <a:cs typeface="Arial Unicode MS" pitchFamily="34" charset="-120"/>
              </a:rPr>
              <a:t>hy</a:t>
            </a:r>
            <a:r>
              <a:rPr lang="en-GB" altLang="zh-TW" dirty="0">
                <a:solidFill>
                  <a:srgbClr val="FF0000"/>
                </a:solidFill>
                <a:ea typeface="新細明體" panose="02020500000000000000" pitchFamily="18" charset="-120"/>
                <a:cs typeface="Arial Unicode MS" pitchFamily="34" charset="-120"/>
              </a:rPr>
              <a:t> not go with larger k?</a:t>
            </a:r>
          </a:p>
        </p:txBody>
      </p:sp>
      <p:sp>
        <p:nvSpPr>
          <p:cNvPr id="56326" name="TextBox 4">
            <a:extLst>
              <a:ext uri="{FF2B5EF4-FFF2-40B4-BE49-F238E27FC236}">
                <a16:creationId xmlns:a16="http://schemas.microsoft.com/office/drawing/2014/main" id="{48B0FF9A-EED5-5F56-EA46-17FE2B0C1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7540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>
            <a:extLst>
              <a:ext uri="{FF2B5EF4-FFF2-40B4-BE49-F238E27FC236}">
                <a16:creationId xmlns:a16="http://schemas.microsoft.com/office/drawing/2014/main" id="{9DB9BDC7-FC67-8C69-3829-67FD73205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617287"/>
          </a:xfrm>
        </p:spPr>
        <p:txBody>
          <a:bodyPr/>
          <a:lstStyle/>
          <a:p>
            <a:r>
              <a:rPr lang="en-US" altLang="zh-TW" sz="3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Dictionary search without blocking</a:t>
            </a:r>
          </a:p>
        </p:txBody>
      </p:sp>
      <p:pic>
        <p:nvPicPr>
          <p:cNvPr id="58371" name="Content Placeholder 3" descr="tree1.gif">
            <a:extLst>
              <a:ext uri="{FF2B5EF4-FFF2-40B4-BE49-F238E27FC236}">
                <a16:creationId xmlns:a16="http://schemas.microsoft.com/office/drawing/2014/main" id="{D03692B2-AD9F-030F-7848-F202F4DAD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733" r="-5733"/>
          <a:stretch>
            <a:fillRect/>
          </a:stretch>
        </p:blipFill>
        <p:spPr>
          <a:xfrm>
            <a:off x="7568145" y="2073165"/>
            <a:ext cx="3536408" cy="3707524"/>
          </a:xfrm>
        </p:spPr>
      </p:pic>
      <p:sp>
        <p:nvSpPr>
          <p:cNvPr id="58372" name="Text Placeholder 4">
            <a:extLst>
              <a:ext uri="{FF2B5EF4-FFF2-40B4-BE49-F238E27FC236}">
                <a16:creationId xmlns:a16="http://schemas.microsoft.com/office/drawing/2014/main" id="{9D9AC01F-DC14-CCFE-9767-93B37F22DD38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1097280" y="1825352"/>
            <a:ext cx="6049754" cy="2938462"/>
          </a:xfrm>
        </p:spPr>
        <p:txBody>
          <a:bodyPr>
            <a:normAutofit/>
          </a:bodyPr>
          <a:lstStyle/>
          <a:p>
            <a:r>
              <a:rPr lang="en-US" altLang="zh-TW" sz="30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Assuming each dictionary term equally likely in query (not really so in practice!), average number of comparisons = </a:t>
            </a:r>
            <a:r>
              <a:rPr lang="en-US" altLang="zh-TW" sz="3000" dirty="0">
                <a:solidFill>
                  <a:srgbClr val="A40508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(1+2*2+4*3+4)/8 ~2.6</a:t>
            </a:r>
          </a:p>
        </p:txBody>
      </p:sp>
      <p:sp>
        <p:nvSpPr>
          <p:cNvPr id="58373" name="TextBox 4">
            <a:extLst>
              <a:ext uri="{FF2B5EF4-FFF2-40B4-BE49-F238E27FC236}">
                <a16:creationId xmlns:a16="http://schemas.microsoft.com/office/drawing/2014/main" id="{42BF9B25-CE13-C3C5-AF52-FBB05A640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>
            <a:extLst>
              <a:ext uri="{FF2B5EF4-FFF2-40B4-BE49-F238E27FC236}">
                <a16:creationId xmlns:a16="http://schemas.microsoft.com/office/drawing/2014/main" id="{0E9F4A49-0F65-0758-17BC-755D4F455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691055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Dictionary search with blocking</a:t>
            </a:r>
          </a:p>
        </p:txBody>
      </p:sp>
      <p:pic>
        <p:nvPicPr>
          <p:cNvPr id="60419" name="Content Placeholder 4" descr="tree2.gif">
            <a:extLst>
              <a:ext uri="{FF2B5EF4-FFF2-40B4-BE49-F238E27FC236}">
                <a16:creationId xmlns:a16="http://schemas.microsoft.com/office/drawing/2014/main" id="{48BC63BD-71AE-0E5D-A6A8-10B1D58456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81200" y="1905000"/>
            <a:ext cx="8339138" cy="1981200"/>
          </a:xfrm>
        </p:spPr>
      </p:pic>
      <p:sp>
        <p:nvSpPr>
          <p:cNvPr id="60420" name="Text Placeholder 5">
            <a:extLst>
              <a:ext uri="{FF2B5EF4-FFF2-40B4-BE49-F238E27FC236}">
                <a16:creationId xmlns:a16="http://schemas.microsoft.com/office/drawing/2014/main" id="{4328454F-69CA-4793-63EF-13475869A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4400" y="4267200"/>
            <a:ext cx="10363200" cy="167114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Binary search down to 4-term block;</a:t>
            </a:r>
          </a:p>
          <a:p>
            <a:pPr lvl="1" eaLnBrk="1" hangingPunct="1"/>
            <a:r>
              <a:rPr lang="en-US" altLang="zh-TW" sz="24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Then linear search through terms in block.</a:t>
            </a:r>
          </a:p>
          <a:p>
            <a:pPr eaLnBrk="1" hangingPunct="1"/>
            <a:r>
              <a:rPr lang="en-US" altLang="zh-TW" sz="2800" dirty="0"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Blocks of 4 (binary tree), avg. = </a:t>
            </a:r>
            <a:r>
              <a:rPr lang="en-US" altLang="zh-TW" sz="2800" dirty="0">
                <a:solidFill>
                  <a:srgbClr val="A40508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(1+2*2+2*3+2*4+5)/8 = 3 compares</a:t>
            </a:r>
          </a:p>
          <a:p>
            <a:endParaRPr lang="zh-TW" altLang="en-US" sz="2800" dirty="0">
              <a:latin typeface="Times New Roman" panose="02020603050405020304" pitchFamily="18" charset="0"/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  <p:sp>
        <p:nvSpPr>
          <p:cNvPr id="60421" name="TextBox 4">
            <a:extLst>
              <a:ext uri="{FF2B5EF4-FFF2-40B4-BE49-F238E27FC236}">
                <a16:creationId xmlns:a16="http://schemas.microsoft.com/office/drawing/2014/main" id="{21E6A337-64DA-35E6-BB87-C729EC158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C3E0F544-D844-FC4B-641B-52FE4FE80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Front coding</a:t>
            </a:r>
          </a:p>
        </p:txBody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56566EFD-766D-B588-9528-9B9A3A0CE0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u="sng" dirty="0">
                <a:ea typeface="ＭＳ Ｐゴシック" panose="020B0600070205080204" pitchFamily="34" charset="-128"/>
              </a:rPr>
              <a:t>Front-coding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Sorted words commonly have long common prefix – store differences only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(for last </a:t>
            </a:r>
            <a:r>
              <a:rPr lang="en-US" altLang="zh-TW" i="1" dirty="0">
                <a:ea typeface="ＭＳ Ｐゴシック" panose="020B0600070205080204" pitchFamily="34" charset="-128"/>
              </a:rPr>
              <a:t>k-1</a:t>
            </a:r>
            <a:r>
              <a:rPr lang="en-US" altLang="zh-TW" dirty="0">
                <a:ea typeface="ＭＳ Ｐゴシック" panose="020B0600070205080204" pitchFamily="34" charset="-128"/>
              </a:rPr>
              <a:t> in a block of </a:t>
            </a:r>
            <a:r>
              <a:rPr lang="en-US" altLang="zh-TW" i="1" dirty="0">
                <a:ea typeface="ＭＳ Ｐゴシック" panose="020B0600070205080204" pitchFamily="34" charset="-128"/>
              </a:rPr>
              <a:t>k</a:t>
            </a:r>
            <a:r>
              <a:rPr lang="en-US" altLang="zh-TW" dirty="0">
                <a:ea typeface="ＭＳ Ｐゴシック" panose="020B0600070205080204" pitchFamily="34" charset="-128"/>
              </a:rPr>
              <a:t>)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A40508"/>
                </a:solidFill>
                <a:ea typeface="ＭＳ Ｐゴシック" panose="020B0600070205080204" pitchFamily="34" charset="-128"/>
              </a:rPr>
              <a:t>8</a:t>
            </a:r>
            <a:r>
              <a:rPr lang="en-US" altLang="zh-TW" b="1" i="1" dirty="0">
                <a:ea typeface="ＭＳ Ｐゴシック" panose="020B0600070205080204" pitchFamily="34" charset="-128"/>
              </a:rPr>
              <a:t>automata</a:t>
            </a:r>
            <a:r>
              <a:rPr lang="en-US" altLang="zh-TW" dirty="0">
                <a:solidFill>
                  <a:srgbClr val="A40508"/>
                </a:solidFill>
                <a:ea typeface="ＭＳ Ｐゴシック" panose="020B0600070205080204" pitchFamily="34" charset="-128"/>
              </a:rPr>
              <a:t>8</a:t>
            </a:r>
            <a:r>
              <a:rPr lang="en-US" altLang="zh-TW" b="1" i="1" dirty="0">
                <a:ea typeface="ＭＳ Ｐゴシック" panose="020B0600070205080204" pitchFamily="34" charset="-128"/>
              </a:rPr>
              <a:t>automate</a:t>
            </a:r>
            <a:r>
              <a:rPr lang="en-US" altLang="zh-TW" dirty="0">
                <a:solidFill>
                  <a:srgbClr val="A40508"/>
                </a:solidFill>
                <a:ea typeface="ＭＳ Ｐゴシック" panose="020B0600070205080204" pitchFamily="34" charset="-128"/>
              </a:rPr>
              <a:t>9</a:t>
            </a:r>
            <a:r>
              <a:rPr lang="en-US" altLang="zh-TW" b="1" i="1" dirty="0">
                <a:ea typeface="ＭＳ Ｐゴシック" panose="020B0600070205080204" pitchFamily="34" charset="-128"/>
              </a:rPr>
              <a:t>automatic</a:t>
            </a:r>
            <a:r>
              <a:rPr lang="en-US" altLang="zh-TW" dirty="0">
                <a:solidFill>
                  <a:srgbClr val="A40508"/>
                </a:solidFill>
                <a:ea typeface="ＭＳ Ｐゴシック" panose="020B0600070205080204" pitchFamily="34" charset="-128"/>
              </a:rPr>
              <a:t>10</a:t>
            </a:r>
            <a:r>
              <a:rPr lang="en-US" altLang="zh-TW" b="1" i="1" dirty="0">
                <a:ea typeface="ＭＳ Ｐゴシック" panose="020B0600070205080204" pitchFamily="34" charset="-128"/>
              </a:rPr>
              <a:t>automation</a:t>
            </a:r>
          </a:p>
        </p:txBody>
      </p:sp>
      <p:sp>
        <p:nvSpPr>
          <p:cNvPr id="62468" name="Text Box 4">
            <a:extLst>
              <a:ext uri="{FF2B5EF4-FFF2-40B4-BE49-F238E27FC236}">
                <a16:creationId xmlns:a16="http://schemas.microsoft.com/office/drawing/2014/main" id="{E5FEE4F1-0846-CEB7-BB18-95C19ECB29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76" y="4038601"/>
            <a:ext cx="4321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TW" altLang="en-US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  <a:sym typeface="Symbol" panose="05050102010706020507" pitchFamily="18" charset="2"/>
              </a:rPr>
              <a:t></a:t>
            </a:r>
            <a:r>
              <a:rPr lang="en-US" altLang="zh-TW" sz="2400">
                <a:solidFill>
                  <a:srgbClr val="A40508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8</a:t>
            </a:r>
            <a:r>
              <a:rPr lang="en-US" altLang="zh-TW" sz="2400" b="1" i="1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automat</a:t>
            </a: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*</a:t>
            </a:r>
            <a:r>
              <a:rPr lang="en-US" altLang="zh-TW" sz="2400" b="1" i="1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a</a:t>
            </a:r>
            <a:r>
              <a:rPr lang="en-US" altLang="zh-TW" sz="2400">
                <a:solidFill>
                  <a:srgbClr val="A40508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1</a:t>
            </a: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  <a:sym typeface="Symbol" panose="05050102010706020507" pitchFamily="18" charset="2"/>
              </a:rPr>
              <a:t></a:t>
            </a:r>
            <a:r>
              <a:rPr lang="en-US" altLang="zh-TW" sz="2400" b="1" i="1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  <a:sym typeface="Symbol" panose="05050102010706020507" pitchFamily="18" charset="2"/>
              </a:rPr>
              <a:t>e</a:t>
            </a:r>
            <a:r>
              <a:rPr lang="en-US" altLang="zh-TW" sz="2400">
                <a:solidFill>
                  <a:srgbClr val="A40508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  <a:sym typeface="Symbol" panose="05050102010706020507" pitchFamily="18" charset="2"/>
              </a:rPr>
              <a:t>2</a:t>
            </a: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  <a:sym typeface="Symbol" panose="05050102010706020507" pitchFamily="18" charset="2"/>
              </a:rPr>
              <a:t></a:t>
            </a:r>
            <a:r>
              <a:rPr lang="en-US" altLang="zh-TW" sz="2400" b="1" i="1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  <a:sym typeface="Symbol" panose="05050102010706020507" pitchFamily="18" charset="2"/>
              </a:rPr>
              <a:t>ic</a:t>
            </a:r>
            <a:r>
              <a:rPr lang="en-US" altLang="zh-TW" sz="2400">
                <a:solidFill>
                  <a:srgbClr val="A40508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  <a:sym typeface="Symbol" panose="05050102010706020507" pitchFamily="18" charset="2"/>
              </a:rPr>
              <a:t>3</a:t>
            </a: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  <a:sym typeface="Symbol" panose="05050102010706020507" pitchFamily="18" charset="2"/>
              </a:rPr>
              <a:t></a:t>
            </a:r>
            <a:r>
              <a:rPr lang="en-US" altLang="zh-TW" sz="2400" b="1" i="1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  <a:sym typeface="Symbol" panose="05050102010706020507" pitchFamily="18" charset="2"/>
              </a:rPr>
              <a:t>ion</a:t>
            </a:r>
          </a:p>
        </p:txBody>
      </p:sp>
      <p:sp>
        <p:nvSpPr>
          <p:cNvPr id="62469" name="Line 5">
            <a:extLst>
              <a:ext uri="{FF2B5EF4-FFF2-40B4-BE49-F238E27FC236}">
                <a16:creationId xmlns:a16="http://schemas.microsoft.com/office/drawing/2014/main" id="{16589925-DAAA-48E3-70F6-D2C1322E76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4575" y="4419600"/>
            <a:ext cx="0" cy="1143000"/>
          </a:xfrm>
          <a:prstGeom prst="line">
            <a:avLst/>
          </a:prstGeom>
          <a:noFill/>
          <a:ln w="12700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0" name="Text Box 6">
            <a:extLst>
              <a:ext uri="{FF2B5EF4-FFF2-40B4-BE49-F238E27FC236}">
                <a16:creationId xmlns:a16="http://schemas.microsoft.com/office/drawing/2014/main" id="{74FBFD16-804E-C6D8-70E7-1E1BA411D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025" y="5486401"/>
            <a:ext cx="2840842" cy="461665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Encodes </a:t>
            </a:r>
            <a:r>
              <a:rPr lang="en-US" altLang="zh-TW" sz="2400" b="1" i="1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automat</a:t>
            </a:r>
          </a:p>
        </p:txBody>
      </p:sp>
      <p:sp>
        <p:nvSpPr>
          <p:cNvPr id="62471" name="Line 7">
            <a:extLst>
              <a:ext uri="{FF2B5EF4-FFF2-40B4-BE49-F238E27FC236}">
                <a16:creationId xmlns:a16="http://schemas.microsoft.com/office/drawing/2014/main" id="{912AE104-FD00-55DF-03C8-20F9F0363B5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57800" y="4419600"/>
            <a:ext cx="38100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472" name="Text Box 8">
            <a:extLst>
              <a:ext uri="{FF2B5EF4-FFF2-40B4-BE49-F238E27FC236}">
                <a16:creationId xmlns:a16="http://schemas.microsoft.com/office/drawing/2014/main" id="{32CA047F-571C-5867-2F14-8008C60EA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1" y="5370514"/>
            <a:ext cx="2816797" cy="830997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Extra length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beyond </a:t>
            </a:r>
            <a:r>
              <a:rPr lang="en-US" altLang="zh-TW" sz="2400" b="1" i="1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automat.</a:t>
            </a:r>
          </a:p>
        </p:txBody>
      </p:sp>
      <p:sp>
        <p:nvSpPr>
          <p:cNvPr id="62474" name="TextBox 4">
            <a:extLst>
              <a:ext uri="{FF2B5EF4-FFF2-40B4-BE49-F238E27FC236}">
                <a16:creationId xmlns:a16="http://schemas.microsoft.com/office/drawing/2014/main" id="{FD17F183-C9D6-4FF5-21F5-455DDA24D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>
            <a:extLst>
              <a:ext uri="{FF2B5EF4-FFF2-40B4-BE49-F238E27FC236}">
                <a16:creationId xmlns:a16="http://schemas.microsoft.com/office/drawing/2014/main" id="{4D1F7D9E-FA13-5F71-77F8-3C3B833CF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690859"/>
          </a:xfrm>
        </p:spPr>
        <p:txBody>
          <a:bodyPr/>
          <a:lstStyle/>
          <a:p>
            <a:r>
              <a:rPr lang="en-US" altLang="zh-TW" sz="38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RCV1 dictionary compression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6FD3F6-F53B-5668-54AF-AB9F7B3C38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7292372"/>
              </p:ext>
            </p:extLst>
          </p:nvPr>
        </p:nvGraphicFramePr>
        <p:xfrm>
          <a:off x="1981200" y="1994338"/>
          <a:ext cx="8229600" cy="40385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812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in 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812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</a:t>
                      </a:r>
                      <a:r>
                        <a:rPr lang="en-US" sz="24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width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611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Dictionary-as-String with pointers to every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812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Also, blocking </a:t>
                      </a:r>
                      <a:r>
                        <a:rPr lang="en-US" sz="2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sz="2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4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8122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Also, Blocking + front 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535" name="TextBox 4">
            <a:extLst>
              <a:ext uri="{FF2B5EF4-FFF2-40B4-BE49-F238E27FC236}">
                <a16:creationId xmlns:a16="http://schemas.microsoft.com/office/drawing/2014/main" id="{72755B16-6BB0-1AA6-AFBA-DF14FC919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3">
            <a:extLst>
              <a:ext uri="{FF2B5EF4-FFF2-40B4-BE49-F238E27FC236}">
                <a16:creationId xmlns:a16="http://schemas.microsoft.com/office/drawing/2014/main" id="{378C9B1D-FBEA-264B-B6D3-01D3E586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6000" cap="none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POSTINGS COMPRESSION</a:t>
            </a:r>
          </a:p>
        </p:txBody>
      </p:sp>
      <p:sp>
        <p:nvSpPr>
          <p:cNvPr id="66563" name="Text Placeholder 4">
            <a:extLst>
              <a:ext uri="{FF2B5EF4-FFF2-40B4-BE49-F238E27FC236}">
                <a16:creationId xmlns:a16="http://schemas.microsoft.com/office/drawing/2014/main" id="{5D702072-8BD8-434E-CD11-E86C140482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solidFill>
                <a:srgbClr val="89898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6564" name="TextBox 4">
            <a:extLst>
              <a:ext uri="{FF2B5EF4-FFF2-40B4-BE49-F238E27FC236}">
                <a16:creationId xmlns:a16="http://schemas.microsoft.com/office/drawing/2014/main" id="{0C707A7B-40E0-59AA-43B5-F76D72F8C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>
            <a:extLst>
              <a:ext uri="{FF2B5EF4-FFF2-40B4-BE49-F238E27FC236}">
                <a16:creationId xmlns:a16="http://schemas.microsoft.com/office/drawing/2014/main" id="{EA0D599F-6363-74FF-4F4D-7EBB291DF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Postings compression</a:t>
            </a:r>
          </a:p>
        </p:txBody>
      </p:sp>
      <p:sp>
        <p:nvSpPr>
          <p:cNvPr id="68611" name="Content Placeholder 2">
            <a:extLst>
              <a:ext uri="{FF2B5EF4-FFF2-40B4-BE49-F238E27FC236}">
                <a16:creationId xmlns:a16="http://schemas.microsoft.com/office/drawing/2014/main" id="{D0DC632A-C1EB-3F41-69F2-B09750C67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The postings file is much larger than the dictionary, </a:t>
            </a:r>
            <a:r>
              <a:rPr lang="en-US" altLang="zh-TW" i="1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factor of at least 10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 posting for our purposes is a </a:t>
            </a:r>
            <a:r>
              <a:rPr lang="en-US" altLang="zh-TW" dirty="0" err="1">
                <a:ea typeface="ＭＳ Ｐゴシック" panose="020B0600070205080204" pitchFamily="34" charset="-128"/>
              </a:rPr>
              <a:t>docID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For Reuters (800,000 documents), we would use 32 bits per </a:t>
            </a:r>
            <a:r>
              <a:rPr lang="en-US" altLang="zh-TW" dirty="0" err="1">
                <a:ea typeface="ＭＳ Ｐゴシック" panose="020B0600070205080204" pitchFamily="34" charset="-128"/>
              </a:rPr>
              <a:t>docID</a:t>
            </a:r>
            <a:r>
              <a:rPr lang="en-US" altLang="zh-TW" dirty="0">
                <a:ea typeface="ＭＳ Ｐゴシック" panose="020B0600070205080204" pitchFamily="34" charset="-128"/>
              </a:rPr>
              <a:t> when using 4-byte integers.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Alternatively, we can use log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dirty="0">
                <a:ea typeface="ＭＳ Ｐゴシック" panose="020B0600070205080204" pitchFamily="34" charset="-128"/>
              </a:rPr>
              <a:t> 800,000 ≈ 20 bits per </a:t>
            </a:r>
            <a:r>
              <a:rPr lang="en-US" altLang="zh-TW" dirty="0" err="1">
                <a:ea typeface="ＭＳ Ｐゴシック" panose="020B0600070205080204" pitchFamily="34" charset="-128"/>
              </a:rPr>
              <a:t>docID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Our goal</a:t>
            </a:r>
            <a:r>
              <a:rPr lang="en-US" altLang="zh-TW" dirty="0">
                <a:ea typeface="ＭＳ Ｐゴシック" panose="020B0600070205080204" pitchFamily="34" charset="-128"/>
              </a:rPr>
              <a:t>: use a lot less than 20 bits per </a:t>
            </a:r>
            <a:r>
              <a:rPr lang="en-US" altLang="zh-TW" dirty="0" err="1">
                <a:ea typeface="ＭＳ Ｐゴシック" panose="020B0600070205080204" pitchFamily="34" charset="-128"/>
              </a:rPr>
              <a:t>docID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</p:txBody>
      </p:sp>
      <p:sp>
        <p:nvSpPr>
          <p:cNvPr id="68612" name="TextBox 3">
            <a:extLst>
              <a:ext uri="{FF2B5EF4-FFF2-40B4-BE49-F238E27FC236}">
                <a16:creationId xmlns:a16="http://schemas.microsoft.com/office/drawing/2014/main" id="{24FCF1C3-9B4F-67AC-2F9B-4248F6459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050">
            <a:extLst>
              <a:ext uri="{FF2B5EF4-FFF2-40B4-BE49-F238E27FC236}">
                <a16:creationId xmlns:a16="http://schemas.microsoft.com/office/drawing/2014/main" id="{5DC95CE7-FBF2-2660-A77A-279F0C1B2F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Postings: two conflicting forces</a:t>
            </a:r>
          </a:p>
        </p:txBody>
      </p:sp>
      <p:sp>
        <p:nvSpPr>
          <p:cNvPr id="70659" name="Rectangle 2051">
            <a:extLst>
              <a:ext uri="{FF2B5EF4-FFF2-40B4-BE49-F238E27FC236}">
                <a16:creationId xmlns:a16="http://schemas.microsoft.com/office/drawing/2014/main" id="{1E3B570F-521D-1601-9491-F4594E8B11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 term like </a:t>
            </a:r>
            <a:r>
              <a:rPr lang="en-US" altLang="zh-TW" b="1" i="1" dirty="0" err="1">
                <a:ea typeface="ＭＳ Ｐゴシック" panose="020B0600070205080204" pitchFamily="34" charset="-128"/>
              </a:rPr>
              <a:t>arachnocentric</a:t>
            </a:r>
            <a:r>
              <a:rPr lang="en-US" altLang="zh-TW" b="1" i="1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occurs in maybe one doc out of a million</a:t>
            </a:r>
            <a:r>
              <a:rPr lang="en-US" altLang="zh-TW" dirty="0">
                <a:ea typeface="ＭＳ Ｐゴシック" panose="020B0600070205080204" pitchFamily="34" charset="-128"/>
              </a:rPr>
              <a:t> – we would like to store this posting using log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dirty="0">
                <a:ea typeface="ＭＳ Ｐゴシック" panose="020B0600070205080204" pitchFamily="34" charset="-128"/>
              </a:rPr>
              <a:t> 1M ~ 20 bits.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 term like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the</a:t>
            </a: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dirty="0">
                <a:solidFill>
                  <a:srgbClr val="00B050"/>
                </a:solidFill>
                <a:ea typeface="ＭＳ Ｐゴシック" panose="020B0600070205080204" pitchFamily="34" charset="-128"/>
              </a:rPr>
              <a:t>occurs in virtually every doc</a:t>
            </a:r>
            <a:r>
              <a:rPr lang="en-US" altLang="zh-TW" dirty="0">
                <a:ea typeface="ＭＳ Ｐゴシック" panose="020B0600070205080204" pitchFamily="34" charset="-128"/>
              </a:rPr>
              <a:t>, so 20 bits/posting is too expensive.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Prefer 0/1 bitmap vector in this case </a:t>
            </a:r>
          </a:p>
        </p:txBody>
      </p:sp>
      <p:sp>
        <p:nvSpPr>
          <p:cNvPr id="70660" name="TextBox 3">
            <a:extLst>
              <a:ext uri="{FF2B5EF4-FFF2-40B4-BE49-F238E27FC236}">
                <a16:creationId xmlns:a16="http://schemas.microsoft.com/office/drawing/2014/main" id="{30BFC534-B5DC-8DE5-7B27-34987A08A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E9E0D5F2-29C3-188E-D770-005A11078C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69912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Postings file entry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A7FF5020-D489-9577-70C9-D9514AF8CD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We store the list of docs containing a term in increasing order of </a:t>
            </a:r>
            <a:r>
              <a:rPr lang="en-US" altLang="zh-TW" dirty="0" err="1">
                <a:ea typeface="ＭＳ Ｐゴシック" panose="020B0600070205080204" pitchFamily="34" charset="-128"/>
              </a:rPr>
              <a:t>docID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b="1" i="1" dirty="0">
                <a:ea typeface="ＭＳ Ｐゴシック" panose="020B0600070205080204" pitchFamily="34" charset="-128"/>
              </a:rPr>
              <a:t>computer</a:t>
            </a:r>
            <a:r>
              <a:rPr lang="en-US" altLang="zh-TW" dirty="0">
                <a:ea typeface="ＭＳ Ｐゴシック" panose="020B0600070205080204" pitchFamily="34" charset="-128"/>
              </a:rPr>
              <a:t>: 33,47,154,159,202 …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ea typeface="ＭＳ Ｐゴシック" panose="020B0600070205080204" pitchFamily="34" charset="-128"/>
              </a:rPr>
              <a:t>Consequence</a:t>
            </a:r>
            <a:r>
              <a:rPr lang="en-US" altLang="zh-TW" dirty="0">
                <a:ea typeface="ＭＳ Ｐゴシック" panose="020B0600070205080204" pitchFamily="34" charset="-128"/>
              </a:rPr>
              <a:t>: it suffices to store </a:t>
            </a:r>
            <a:r>
              <a:rPr lang="en-US" altLang="zh-TW" i="1" dirty="0">
                <a:ea typeface="ＭＳ Ｐゴシック" panose="020B0600070205080204" pitchFamily="34" charset="-128"/>
              </a:rPr>
              <a:t>gaps</a:t>
            </a:r>
            <a:r>
              <a:rPr lang="en-US" altLang="zh-TW" dirty="0">
                <a:ea typeface="ＭＳ Ｐゴシック" panose="020B0600070205080204" pitchFamily="34" charset="-128"/>
              </a:rPr>
              <a:t>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33,14,107,5,43 …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ea typeface="ＭＳ Ｐゴシック" panose="020B0600070205080204" pitchFamily="34" charset="-128"/>
              </a:rPr>
              <a:t>Hope</a:t>
            </a:r>
            <a:r>
              <a:rPr lang="en-US" altLang="zh-TW" dirty="0">
                <a:ea typeface="ＭＳ Ｐゴシック" panose="020B0600070205080204" pitchFamily="34" charset="-128"/>
              </a:rPr>
              <a:t>: most gaps can be encoded/stored with far fewer than 20 bits.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3EEB814E-4E7F-7B02-ACA7-2064ABBFE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8186" y="3048000"/>
            <a:ext cx="990600" cy="3810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5255AF61-22F0-FD71-27A3-3C19B78D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297" y="4390698"/>
            <a:ext cx="304800" cy="30162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TW" altLang="en-US" sz="2400">
              <a:latin typeface="Lucida Sans" panose="020B0602030504020204" pitchFamily="34" charset="0"/>
              <a:ea typeface="新細明體" panose="02020500000000000000" pitchFamily="18" charset="-120"/>
              <a:cs typeface="Arial Unicode MS" pitchFamily="34" charset="-120"/>
            </a:endParaRPr>
          </a:p>
        </p:txBody>
      </p:sp>
      <p:cxnSp>
        <p:nvCxnSpPr>
          <p:cNvPr id="72710" name="AutoShape 6">
            <a:extLst>
              <a:ext uri="{FF2B5EF4-FFF2-40B4-BE49-F238E27FC236}">
                <a16:creationId xmlns:a16="http://schemas.microsoft.com/office/drawing/2014/main" id="{69B35B3E-7793-C1AA-098A-1C796C28C161}"/>
              </a:ext>
            </a:extLst>
          </p:cNvPr>
          <p:cNvCxnSpPr>
            <a:cxnSpLocks noChangeShapeType="1"/>
            <a:stCxn id="72709" idx="0"/>
            <a:endCxn id="72708" idx="2"/>
          </p:cNvCxnSpPr>
          <p:nvPr/>
        </p:nvCxnSpPr>
        <p:spPr bwMode="auto">
          <a:xfrm flipV="1">
            <a:off x="2866697" y="3429000"/>
            <a:ext cx="1246789" cy="961698"/>
          </a:xfrm>
          <a:prstGeom prst="straightConnector1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711" name="TextBox 6">
            <a:extLst>
              <a:ext uri="{FF2B5EF4-FFF2-40B4-BE49-F238E27FC236}">
                <a16:creationId xmlns:a16="http://schemas.microsoft.com/office/drawing/2014/main" id="{F712B561-9A42-5E3E-6441-FE94DF9E1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>
            <a:extLst>
              <a:ext uri="{FF2B5EF4-FFF2-40B4-BE49-F238E27FC236}">
                <a16:creationId xmlns:a16="http://schemas.microsoft.com/office/drawing/2014/main" id="{A6AE14B8-0681-A5C3-8708-8A8F8B4F9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43411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Three postings entries</a:t>
            </a:r>
          </a:p>
        </p:txBody>
      </p:sp>
      <p:pic>
        <p:nvPicPr>
          <p:cNvPr id="74755" name="Content Placeholder 3" descr="postingsgaps.gif">
            <a:extLst>
              <a:ext uri="{FF2B5EF4-FFF2-40B4-BE49-F238E27FC236}">
                <a16:creationId xmlns:a16="http://schemas.microsoft.com/office/drawing/2014/main" id="{CFC7EC85-7788-68D6-DCEF-E5C80CB5D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7279" y="2073164"/>
            <a:ext cx="10094295" cy="2025869"/>
          </a:xfrm>
        </p:spPr>
      </p:pic>
      <p:sp>
        <p:nvSpPr>
          <p:cNvPr id="74756" name="TextBox 3">
            <a:extLst>
              <a:ext uri="{FF2B5EF4-FFF2-40B4-BE49-F238E27FC236}">
                <a16:creationId xmlns:a16="http://schemas.microsoft.com/office/drawing/2014/main" id="{15430576-A081-9934-7F71-6760F54C5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050">
            <a:extLst>
              <a:ext uri="{FF2B5EF4-FFF2-40B4-BE49-F238E27FC236}">
                <a16:creationId xmlns:a16="http://schemas.microsoft.com/office/drawing/2014/main" id="{FDF30C36-6DF1-6FDB-D6FA-3C3493619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Variable length encoding</a:t>
            </a:r>
          </a:p>
        </p:txBody>
      </p:sp>
      <p:sp>
        <p:nvSpPr>
          <p:cNvPr id="76803" name="Rectangle 2051">
            <a:extLst>
              <a:ext uri="{FF2B5EF4-FFF2-40B4-BE49-F238E27FC236}">
                <a16:creationId xmlns:a16="http://schemas.microsoft.com/office/drawing/2014/main" id="{D05AE1BC-FD19-A650-CF1B-B0F0200777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Aim: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For </a:t>
            </a:r>
            <a:r>
              <a:rPr lang="en-US" altLang="zh-TW" b="1" i="1" dirty="0" err="1">
                <a:ea typeface="ＭＳ Ｐゴシック" panose="020B0600070205080204" pitchFamily="34" charset="-128"/>
              </a:rPr>
              <a:t>arachnocentric</a:t>
            </a:r>
            <a:r>
              <a:rPr lang="en-US" altLang="zh-TW" dirty="0">
                <a:ea typeface="ＭＳ Ｐゴシック" panose="020B0600070205080204" pitchFamily="34" charset="-128"/>
              </a:rPr>
              <a:t>, we will use ~20 bits/gap entry.</a:t>
            </a:r>
          </a:p>
          <a:p>
            <a:pPr lvl="1"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For </a:t>
            </a:r>
            <a:r>
              <a:rPr lang="en-US" altLang="zh-TW" b="1" i="1" dirty="0">
                <a:ea typeface="ＭＳ Ｐゴシック" panose="020B0600070205080204" pitchFamily="34" charset="-128"/>
              </a:rPr>
              <a:t>the</a:t>
            </a:r>
            <a:r>
              <a:rPr lang="en-US" altLang="zh-TW" dirty="0">
                <a:ea typeface="ＭＳ Ｐゴシック" panose="020B0600070205080204" pitchFamily="34" charset="-128"/>
              </a:rPr>
              <a:t>, we will use ~1 bit/gap entry.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If the average gap for a term is </a:t>
            </a:r>
            <a:r>
              <a:rPr lang="en-US" altLang="zh-TW" i="1" dirty="0">
                <a:ea typeface="ＭＳ Ｐゴシック" panose="020B0600070205080204" pitchFamily="34" charset="-128"/>
              </a:rPr>
              <a:t>G</a:t>
            </a:r>
            <a:r>
              <a:rPr lang="en-US" altLang="zh-TW" dirty="0">
                <a:ea typeface="ＭＳ Ｐゴシック" panose="020B0600070205080204" pitchFamily="34" charset="-128"/>
              </a:rPr>
              <a:t>, we want to use ~log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2</a:t>
            </a:r>
            <a:r>
              <a:rPr lang="en-US" altLang="zh-TW" i="1" dirty="0">
                <a:ea typeface="ＭＳ Ｐゴシック" panose="020B0600070205080204" pitchFamily="34" charset="-128"/>
              </a:rPr>
              <a:t>G</a:t>
            </a:r>
            <a:r>
              <a:rPr lang="en-US" altLang="zh-TW" dirty="0">
                <a:ea typeface="ＭＳ Ｐゴシック" panose="020B0600070205080204" pitchFamily="34" charset="-128"/>
              </a:rPr>
              <a:t> bits/gap entry.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</a:t>
            </a:r>
            <a:r>
              <a:rPr lang="en-US" altLang="zh-TW" u="sng" dirty="0">
                <a:ea typeface="ＭＳ Ｐゴシック" panose="020B0600070205080204" pitchFamily="34" charset="-128"/>
              </a:rPr>
              <a:t>Key challenge</a:t>
            </a:r>
            <a:r>
              <a:rPr lang="en-US" altLang="zh-TW" dirty="0">
                <a:ea typeface="ＭＳ Ｐゴシック" panose="020B0600070205080204" pitchFamily="34" charset="-128"/>
              </a:rPr>
              <a:t>: encode every integer (gap) with about as few bits as needed for that integer.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This requires a </a:t>
            </a:r>
            <a:r>
              <a:rPr lang="en-US" altLang="zh-TW" i="1" dirty="0">
                <a:solidFill>
                  <a:srgbClr val="357E69"/>
                </a:solidFill>
                <a:ea typeface="ＭＳ Ｐゴシック" panose="020B0600070205080204" pitchFamily="34" charset="-128"/>
              </a:rPr>
              <a:t>variable length encoding</a:t>
            </a:r>
          </a:p>
          <a:p>
            <a:pPr algn="just" eaLnBrk="1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Variable length codes achieve this by using short codes for small numbers</a:t>
            </a:r>
          </a:p>
        </p:txBody>
      </p:sp>
      <p:sp>
        <p:nvSpPr>
          <p:cNvPr id="76804" name="TextBox 3">
            <a:extLst>
              <a:ext uri="{FF2B5EF4-FFF2-40B4-BE49-F238E27FC236}">
                <a16:creationId xmlns:a16="http://schemas.microsoft.com/office/drawing/2014/main" id="{A89736CC-906E-B71C-D682-E7584E2FC1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>
            <a:extLst>
              <a:ext uri="{FF2B5EF4-FFF2-40B4-BE49-F238E27FC236}">
                <a16:creationId xmlns:a16="http://schemas.microsoft.com/office/drawing/2014/main" id="{B3AE346A-0018-B1CC-DA8E-C502A75C5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Variable Byte (VB) codes</a:t>
            </a:r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37740C86-C96A-127B-F093-CA4CDA4B3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For a gap value </a:t>
            </a:r>
            <a:r>
              <a:rPr lang="en-US" altLang="zh-TW" i="1" dirty="0">
                <a:ea typeface="ＭＳ Ｐゴシック" panose="020B0600070205080204" pitchFamily="34" charset="-128"/>
              </a:rPr>
              <a:t>G, </a:t>
            </a:r>
            <a:r>
              <a:rPr lang="en-US" altLang="zh-TW" dirty="0">
                <a:ea typeface="ＭＳ Ｐゴシック" panose="020B0600070205080204" pitchFamily="34" charset="-128"/>
              </a:rPr>
              <a:t>we want to use close to the fewest bytes needed to hold log</a:t>
            </a:r>
            <a:r>
              <a:rPr lang="en-US" altLang="zh-TW" baseline="-25000" dirty="0">
                <a:ea typeface="ＭＳ Ｐゴシック" panose="020B0600070205080204" pitchFamily="34" charset="-128"/>
              </a:rPr>
              <a:t>2 </a:t>
            </a:r>
            <a:r>
              <a:rPr lang="en-US" altLang="zh-TW" i="1" dirty="0">
                <a:ea typeface="ＭＳ Ｐゴシック" panose="020B0600070205080204" pitchFamily="34" charset="-128"/>
              </a:rPr>
              <a:t>G</a:t>
            </a:r>
            <a:r>
              <a:rPr lang="en-US" altLang="zh-TW" dirty="0">
                <a:ea typeface="ＭＳ Ｐゴシック" panose="020B0600070205080204" pitchFamily="34" charset="-128"/>
              </a:rPr>
              <a:t> bits.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Begin with one byte to store </a:t>
            </a:r>
            <a:r>
              <a:rPr lang="en-US" altLang="zh-TW" i="1" dirty="0">
                <a:ea typeface="ＭＳ Ｐゴシック" panose="020B0600070205080204" pitchFamily="34" charset="-128"/>
              </a:rPr>
              <a:t>G</a:t>
            </a:r>
            <a:r>
              <a:rPr lang="en-US" altLang="zh-TW" dirty="0">
                <a:ea typeface="ＭＳ Ｐゴシック" panose="020B0600070205080204" pitchFamily="34" charset="-128"/>
              </a:rPr>
              <a:t> and dedicate 1 bit in it to be a </a:t>
            </a:r>
            <a:r>
              <a:rPr lang="en-US" altLang="zh-TW" u="sng" dirty="0">
                <a:ea typeface="ＭＳ Ｐゴシック" panose="020B0600070205080204" pitchFamily="34" charset="-128"/>
              </a:rPr>
              <a:t>continuation </a:t>
            </a:r>
            <a:r>
              <a:rPr lang="en-US" altLang="zh-TW" dirty="0">
                <a:ea typeface="ＭＳ Ｐゴシック" panose="020B0600070205080204" pitchFamily="34" charset="-128"/>
              </a:rPr>
              <a:t>bit </a:t>
            </a:r>
            <a:r>
              <a:rPr lang="en-US" altLang="zh-TW" i="1" dirty="0">
                <a:ea typeface="ＭＳ Ｐゴシック" panose="020B0600070205080204" pitchFamily="34" charset="-128"/>
              </a:rPr>
              <a:t>c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If </a:t>
            </a:r>
            <a:r>
              <a:rPr lang="en-US" altLang="zh-TW" i="1" dirty="0">
                <a:ea typeface="ＭＳ Ｐゴシック" panose="020B0600070205080204" pitchFamily="34" charset="-128"/>
              </a:rPr>
              <a:t>G</a:t>
            </a:r>
            <a:r>
              <a:rPr lang="en-US" altLang="zh-TW" dirty="0">
                <a:ea typeface="ＭＳ Ｐゴシック" panose="020B0600070205080204" pitchFamily="34" charset="-128"/>
              </a:rPr>
              <a:t> ≤127, binary-encode it in the 7 available bits and set </a:t>
            </a:r>
            <a:r>
              <a:rPr lang="en-US" altLang="zh-TW" i="1" dirty="0">
                <a:ea typeface="ＭＳ Ｐゴシック" panose="020B0600070205080204" pitchFamily="34" charset="-128"/>
              </a:rPr>
              <a:t>c </a:t>
            </a:r>
            <a:r>
              <a:rPr lang="en-US" altLang="zh-TW" dirty="0">
                <a:ea typeface="ＭＳ Ｐゴシック" panose="020B0600070205080204" pitchFamily="34" charset="-128"/>
              </a:rPr>
              <a:t>=1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Else encode </a:t>
            </a:r>
            <a:r>
              <a:rPr lang="en-US" altLang="zh-TW" i="1" dirty="0">
                <a:ea typeface="ＭＳ Ｐゴシック" panose="020B0600070205080204" pitchFamily="34" charset="-128"/>
              </a:rPr>
              <a:t>G</a:t>
            </a:r>
            <a:r>
              <a:rPr lang="en-US" altLang="zh-TW" dirty="0">
                <a:ea typeface="ＭＳ Ｐゴシック" panose="020B0600070205080204" pitchFamily="34" charset="-128"/>
              </a:rPr>
              <a:t>’s lower-order 7 bits and then use additional bytes to encode the higher order bits using the same algorithm</a:t>
            </a:r>
          </a:p>
          <a:p>
            <a:pPr algn="just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At the end set the continuation bit of the last byte to 1 (</a:t>
            </a:r>
            <a:r>
              <a:rPr lang="en-US" altLang="zh-TW" i="1" dirty="0">
                <a:ea typeface="ＭＳ Ｐゴシック" panose="020B0600070205080204" pitchFamily="34" charset="-128"/>
              </a:rPr>
              <a:t>c</a:t>
            </a:r>
            <a:r>
              <a:rPr lang="en-US" altLang="zh-TW" dirty="0">
                <a:ea typeface="ＭＳ Ｐゴシック" panose="020B0600070205080204" pitchFamily="34" charset="-128"/>
              </a:rPr>
              <a:t> =1) – and for the other bytes </a:t>
            </a:r>
            <a:r>
              <a:rPr lang="en-US" altLang="zh-TW" i="1" dirty="0">
                <a:ea typeface="ＭＳ Ｐゴシック" panose="020B0600070205080204" pitchFamily="34" charset="-128"/>
              </a:rPr>
              <a:t>c</a:t>
            </a:r>
            <a:r>
              <a:rPr lang="en-US" altLang="zh-TW" dirty="0">
                <a:ea typeface="ＭＳ Ｐゴシック" panose="020B0600070205080204" pitchFamily="34" charset="-128"/>
              </a:rPr>
              <a:t> = 0.</a:t>
            </a:r>
          </a:p>
        </p:txBody>
      </p:sp>
      <p:sp>
        <p:nvSpPr>
          <p:cNvPr id="78852" name="TextBox 3">
            <a:extLst>
              <a:ext uri="{FF2B5EF4-FFF2-40B4-BE49-F238E27FC236}">
                <a16:creationId xmlns:a16="http://schemas.microsoft.com/office/drawing/2014/main" id="{B1E80C55-56BC-0F33-88BF-E503EC0AF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>
            <a:extLst>
              <a:ext uri="{FF2B5EF4-FFF2-40B4-BE49-F238E27FC236}">
                <a16:creationId xmlns:a16="http://schemas.microsoft.com/office/drawing/2014/main" id="{845F0EFC-D523-E763-1B52-4044D0368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69938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16F021-632E-3DBA-444B-5B92021383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09800" y="1752600"/>
          <a:ext cx="7772400" cy="1657350"/>
        </p:xfrm>
        <a:graphic>
          <a:graphicData uri="http://schemas.openxmlformats.org/drawingml/2006/table">
            <a:tbl>
              <a:tblPr/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docIDs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824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829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215406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gaps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charset="-120"/>
                        <a:cs typeface="Arial Unicode MS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214577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VB code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00000110 10111000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10000101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00001101 00001100 10110001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CC3D00A-730A-78CD-0E40-043C4A56E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3581400"/>
            <a:ext cx="8037513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Postings stored as the byte concatenation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A40508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000001101011100010000101000011010000110010110001</a:t>
            </a:r>
          </a:p>
        </p:txBody>
      </p:sp>
      <p:sp>
        <p:nvSpPr>
          <p:cNvPr id="6" name="Up Arrow Callout 5">
            <a:extLst>
              <a:ext uri="{FF2B5EF4-FFF2-40B4-BE49-F238E27FC236}">
                <a16:creationId xmlns:a16="http://schemas.microsoft.com/office/drawing/2014/main" id="{C72E1817-5692-2BB4-BEAE-A5D768D0A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289426"/>
            <a:ext cx="5983288" cy="1273175"/>
          </a:xfrm>
          <a:prstGeom prst="upArrowCallout">
            <a:avLst>
              <a:gd name="adj1" fmla="val 25020"/>
              <a:gd name="adj2" fmla="val 24999"/>
              <a:gd name="adj3" fmla="val 25000"/>
              <a:gd name="adj4" fmla="val 64977"/>
            </a:avLst>
          </a:prstGeom>
          <a:solidFill>
            <a:srgbClr val="FFC000">
              <a:alpha val="2901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Key property: VB-encoded postings are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uniquely prefix-decodable.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D991A3CD-A927-4F6B-DB99-7E3284F365AE}"/>
              </a:ext>
            </a:extLst>
          </p:cNvPr>
          <p:cNvGrpSpPr>
            <a:grpSpLocks/>
          </p:cNvGrpSpPr>
          <p:nvPr/>
        </p:nvGrpSpPr>
        <p:grpSpPr bwMode="auto">
          <a:xfrm>
            <a:off x="6076157" y="2150849"/>
            <a:ext cx="5811043" cy="4139620"/>
            <a:chOff x="2494757" y="2642180"/>
            <a:chExt cx="5811043" cy="4139620"/>
          </a:xfrm>
        </p:grpSpPr>
        <p:sp>
          <p:nvSpPr>
            <p:cNvPr id="80925" name="Rounded Rectangle 6">
              <a:extLst>
                <a:ext uri="{FF2B5EF4-FFF2-40B4-BE49-F238E27FC236}">
                  <a16:creationId xmlns:a16="http://schemas.microsoft.com/office/drawing/2014/main" id="{9782D36A-CDC0-A53E-DD87-02592B4FA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757" y="2642180"/>
              <a:ext cx="1219200" cy="685800"/>
            </a:xfrm>
            <a:prstGeom prst="roundRect">
              <a:avLst>
                <a:gd name="adj" fmla="val 16667"/>
              </a:avLst>
            </a:prstGeom>
            <a:solidFill>
              <a:srgbClr val="FFFF00">
                <a:alpha val="25098"/>
              </a:srgbClr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TW" altLang="en-US" sz="2400"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endParaRPr>
            </a:p>
          </p:txBody>
        </p:sp>
        <p:sp>
          <p:nvSpPr>
            <p:cNvPr id="80926" name="Line Callout 3 7">
              <a:extLst>
                <a:ext uri="{FF2B5EF4-FFF2-40B4-BE49-F238E27FC236}">
                  <a16:creationId xmlns:a16="http://schemas.microsoft.com/office/drawing/2014/main" id="{B9EAAF47-523F-17AB-4213-67DCE2ADC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800" y="5867400"/>
              <a:ext cx="3810000" cy="914400"/>
            </a:xfrm>
            <a:prstGeom prst="borderCallout3">
              <a:avLst>
                <a:gd name="adj1" fmla="val -894"/>
                <a:gd name="adj2" fmla="val 100759"/>
                <a:gd name="adj3" fmla="val -147966"/>
                <a:gd name="adj4" fmla="val 67712"/>
                <a:gd name="adj5" fmla="val -239287"/>
                <a:gd name="adj6" fmla="val 60000"/>
                <a:gd name="adj7" fmla="val -314008"/>
                <a:gd name="adj8" fmla="val -21917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437085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spcBef>
                  <a:spcPct val="20000"/>
                </a:spcBef>
                <a:buClr>
                  <a:srgbClr val="357E6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918BA3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2F6E7E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233337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For a small gap (5), VB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TW" sz="2400">
                  <a:latin typeface="Lucida Sans" panose="020B0602030504020204" pitchFamily="34" charset="0"/>
                  <a:ea typeface="新細明體" panose="02020500000000000000" pitchFamily="18" charset="-120"/>
                  <a:cs typeface="Arial Unicode MS" pitchFamily="34" charset="-120"/>
                </a:rPr>
                <a:t>uses a whole byte.</a:t>
              </a:r>
            </a:p>
          </p:txBody>
        </p:sp>
      </p:grpSp>
      <p:sp>
        <p:nvSpPr>
          <p:cNvPr id="80924" name="TextBox 8">
            <a:extLst>
              <a:ext uri="{FF2B5EF4-FFF2-40B4-BE49-F238E27FC236}">
                <a16:creationId xmlns:a16="http://schemas.microsoft.com/office/drawing/2014/main" id="{8B5D4BC2-EB6B-DD35-C7BF-18D525ABE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>
            <a:extLst>
              <a:ext uri="{FF2B5EF4-FFF2-40B4-BE49-F238E27FC236}">
                <a16:creationId xmlns:a16="http://schemas.microsoft.com/office/drawing/2014/main" id="{7B266DFD-F519-FB9D-A0C3-4F9371C8F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Other variable unit codes</a:t>
            </a:r>
          </a:p>
        </p:txBody>
      </p:sp>
      <p:sp>
        <p:nvSpPr>
          <p:cNvPr id="82947" name="Content Placeholder 2">
            <a:extLst>
              <a:ext uri="{FF2B5EF4-FFF2-40B4-BE49-F238E27FC236}">
                <a16:creationId xmlns:a16="http://schemas.microsoft.com/office/drawing/2014/main" id="{1C2308A6-FFC8-8388-A290-388EEBCA6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44859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Instead of bytes, we can also use a different “unit of alignment”: 32 bits (words), 16 bits, 4 bits (nibbles).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Variable byte alignment wastes space if you have many small gaps – nibbles do better in such cases.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Variable byte codes Used by many commercial/research systems</a:t>
            </a:r>
          </a:p>
        </p:txBody>
      </p:sp>
      <p:sp>
        <p:nvSpPr>
          <p:cNvPr id="82948" name="TextBox 3">
            <a:extLst>
              <a:ext uri="{FF2B5EF4-FFF2-40B4-BE49-F238E27FC236}">
                <a16:creationId xmlns:a16="http://schemas.microsoft.com/office/drawing/2014/main" id="{51166F17-19E6-1ABB-A449-B6613D9DD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1CB51978-532E-4752-AFA6-6F31AFCF6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Unary code</a:t>
            </a:r>
          </a:p>
        </p:txBody>
      </p:sp>
      <p:sp>
        <p:nvSpPr>
          <p:cNvPr id="84995" name="Content Placeholder 2">
            <a:extLst>
              <a:ext uri="{FF2B5EF4-FFF2-40B4-BE49-F238E27FC236}">
                <a16:creationId xmlns:a16="http://schemas.microsoft.com/office/drawing/2014/main" id="{E3A6CBE1-B868-05A4-D86A-3F9696A3E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Represent </a:t>
            </a:r>
            <a:r>
              <a:rPr lang="en-US" altLang="zh-TW" i="1" dirty="0">
                <a:ea typeface="ＭＳ Ｐゴシック" panose="020B0600070205080204" pitchFamily="34" charset="-128"/>
              </a:rPr>
              <a:t>n</a:t>
            </a:r>
            <a:r>
              <a:rPr lang="en-US" altLang="zh-TW" dirty="0">
                <a:ea typeface="ＭＳ Ｐゴシック" panose="020B0600070205080204" pitchFamily="34" charset="-128"/>
              </a:rPr>
              <a:t> as </a:t>
            </a:r>
            <a:r>
              <a:rPr lang="en-US" altLang="zh-TW" i="1" dirty="0">
                <a:ea typeface="ＭＳ Ｐゴシック" panose="020B0600070205080204" pitchFamily="34" charset="-128"/>
              </a:rPr>
              <a:t>n</a:t>
            </a:r>
            <a:r>
              <a:rPr lang="en-US" altLang="zh-TW" dirty="0">
                <a:ea typeface="ＭＳ Ｐゴシック" panose="020B0600070205080204" pitchFamily="34" charset="-128"/>
              </a:rPr>
              <a:t> 1s with a final 0.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Unary code for 3 is 1110.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Unary code for 80 is:</a:t>
            </a:r>
          </a:p>
          <a:p>
            <a:pPr marL="0" indent="0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altLang="zh-TW" dirty="0">
                <a:ea typeface="ＭＳ Ｐゴシック" panose="020B0600070205080204" pitchFamily="34" charset="-128"/>
              </a:rPr>
              <a:t>111111111111111111111111111111111111111111111111111111111111111111111111111111110</a:t>
            </a:r>
          </a:p>
          <a:p>
            <a:pPr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dirty="0">
              <a:ea typeface="ＭＳ Ｐゴシック" panose="020B0600070205080204" pitchFamily="34" charset="-128"/>
            </a:endParaRPr>
          </a:p>
          <a:p>
            <a:pPr marL="0" indent="0" algn="just">
              <a:lnSpc>
                <a:spcPct val="14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zh-TW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84996" name="Slide Number Placeholder 3">
            <a:extLst>
              <a:ext uri="{FF2B5EF4-FFF2-40B4-BE49-F238E27FC236}">
                <a16:creationId xmlns:a16="http://schemas.microsoft.com/office/drawing/2014/main" id="{38FD2D66-14F0-CDC9-323C-C2E5EEF0D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F13BFBF-8E18-4990-A89F-F6874D253633}" type="slidenum">
              <a:rPr lang="zh-TW" altLang="en-US" sz="1200">
                <a:solidFill>
                  <a:srgbClr val="898989"/>
                </a:solidFill>
                <a:ea typeface="新細明體" panose="02020500000000000000" pitchFamily="18" charset="-120"/>
                <a:cs typeface="Arial Unicode MS" pitchFamily="34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zh-TW" sz="1200">
              <a:solidFill>
                <a:srgbClr val="898989"/>
              </a:solidFill>
              <a:ea typeface="新細明體" panose="02020500000000000000" pitchFamily="18" charset="-120"/>
              <a:cs typeface="Arial Unicode MS" pitchFamily="34" charset="-12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>
            <a:extLst>
              <a:ext uri="{FF2B5EF4-FFF2-40B4-BE49-F238E27FC236}">
                <a16:creationId xmlns:a16="http://schemas.microsoft.com/office/drawing/2014/main" id="{3B908436-60AF-96EA-E57A-82BB9AFA4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16983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Gamma codes</a:t>
            </a:r>
          </a:p>
        </p:txBody>
      </p:sp>
      <p:sp>
        <p:nvSpPr>
          <p:cNvPr id="87043" name="Content Placeholder 2">
            <a:extLst>
              <a:ext uri="{FF2B5EF4-FFF2-40B4-BE49-F238E27FC236}">
                <a16:creationId xmlns:a16="http://schemas.microsoft.com/office/drawing/2014/main" id="{4BD6EC63-1939-02A0-D733-E79D935F6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23838"/>
          </a:xfrm>
        </p:spPr>
        <p:txBody>
          <a:bodyPr>
            <a:normAutofit fontScale="92500"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We can compress better with </a:t>
            </a:r>
            <a:r>
              <a:rPr lang="en-US" altLang="zh-TW" u="sng" dirty="0">
                <a:ea typeface="ＭＳ Ｐゴシック" panose="020B0600070205080204" pitchFamily="34" charset="-128"/>
              </a:rPr>
              <a:t>bit-level</a:t>
            </a:r>
            <a:r>
              <a:rPr lang="en-US" altLang="zh-TW" dirty="0">
                <a:ea typeface="ＭＳ Ｐゴシック" panose="020B0600070205080204" pitchFamily="34" charset="-128"/>
              </a:rPr>
              <a:t> codes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The Gamma code is the best known of these.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Represent a gap </a:t>
            </a:r>
            <a:r>
              <a:rPr lang="en-US" altLang="zh-TW" i="1" dirty="0">
                <a:ea typeface="ＭＳ Ｐゴシック" panose="020B0600070205080204" pitchFamily="34" charset="-128"/>
              </a:rPr>
              <a:t>G</a:t>
            </a:r>
            <a:r>
              <a:rPr lang="en-US" altLang="zh-TW" dirty="0">
                <a:ea typeface="ＭＳ Ｐゴシック" panose="020B0600070205080204" pitchFamily="34" charset="-128"/>
              </a:rPr>
              <a:t> as a pair </a:t>
            </a:r>
            <a:r>
              <a:rPr lang="en-US" altLang="zh-TW" i="1" dirty="0">
                <a:ea typeface="ＭＳ Ｐゴシック" panose="020B0600070205080204" pitchFamily="34" charset="-128"/>
              </a:rPr>
              <a:t>length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n-US" altLang="zh-TW" i="1" dirty="0">
                <a:ea typeface="ＭＳ Ｐゴシック" panose="020B0600070205080204" pitchFamily="34" charset="-128"/>
              </a:rPr>
              <a:t>offset</a:t>
            </a:r>
            <a:endParaRPr lang="en-US" altLang="zh-TW" dirty="0">
              <a:ea typeface="ＭＳ Ｐゴシック" panose="020B0600070205080204" pitchFamily="34" charset="-128"/>
            </a:endParaRP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i="1" dirty="0">
                <a:ea typeface="ＭＳ Ｐゴシック" panose="020B0600070205080204" pitchFamily="34" charset="-128"/>
              </a:rPr>
              <a:t>offset</a:t>
            </a:r>
            <a:r>
              <a:rPr lang="en-US" altLang="zh-TW" dirty="0">
                <a:ea typeface="ＭＳ Ｐゴシック" panose="020B0600070205080204" pitchFamily="34" charset="-128"/>
              </a:rPr>
              <a:t> is </a:t>
            </a:r>
            <a:r>
              <a:rPr lang="en-US" altLang="zh-TW" i="1" dirty="0">
                <a:ea typeface="ＭＳ Ｐゴシック" panose="020B0600070205080204" pitchFamily="34" charset="-128"/>
              </a:rPr>
              <a:t>G</a:t>
            </a:r>
            <a:r>
              <a:rPr lang="en-US" altLang="zh-TW" dirty="0">
                <a:ea typeface="ＭＳ Ｐゴシック" panose="020B0600070205080204" pitchFamily="34" charset="-128"/>
              </a:rPr>
              <a:t> in binary, with the leading bit cut off, for example 13 → 1101 → 101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i="1" dirty="0">
                <a:ea typeface="ＭＳ Ｐゴシック" panose="020B0600070205080204" pitchFamily="34" charset="-128"/>
              </a:rPr>
              <a:t>length</a:t>
            </a:r>
            <a:r>
              <a:rPr lang="en-US" altLang="zh-TW" dirty="0">
                <a:ea typeface="ＭＳ Ｐゴシック" panose="020B0600070205080204" pitchFamily="34" charset="-128"/>
              </a:rPr>
              <a:t> is the length of offset, for 13 (offset 101), this is 3.</a:t>
            </a:r>
          </a:p>
          <a:p>
            <a:pPr lvl="1"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We encode </a:t>
            </a:r>
            <a:r>
              <a:rPr lang="en-US" altLang="zh-TW" i="1" dirty="0">
                <a:ea typeface="ＭＳ Ｐゴシック" panose="020B0600070205080204" pitchFamily="34" charset="-128"/>
              </a:rPr>
              <a:t>length</a:t>
            </a:r>
            <a:r>
              <a:rPr lang="en-US" altLang="zh-TW" dirty="0">
                <a:ea typeface="ＭＳ Ｐゴシック" panose="020B0600070205080204" pitchFamily="34" charset="-128"/>
              </a:rPr>
              <a:t> with </a:t>
            </a:r>
            <a:r>
              <a:rPr lang="en-US" altLang="zh-TW" i="1" dirty="0">
                <a:ea typeface="ＭＳ Ｐゴシック" panose="020B0600070205080204" pitchFamily="34" charset="-128"/>
              </a:rPr>
              <a:t>unary code</a:t>
            </a:r>
            <a:r>
              <a:rPr lang="en-US" altLang="zh-TW" dirty="0">
                <a:ea typeface="ＭＳ Ｐゴシック" panose="020B0600070205080204" pitchFamily="34" charset="-128"/>
              </a:rPr>
              <a:t>: 1110.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TW" dirty="0">
                <a:ea typeface="ＭＳ Ｐゴシック" panose="020B0600070205080204" pitchFamily="34" charset="-128"/>
              </a:rPr>
              <a:t> Gamma code of 13 is the concatenation of </a:t>
            </a:r>
            <a:r>
              <a:rPr lang="en-US" altLang="zh-TW" i="1" dirty="0">
                <a:ea typeface="ＭＳ Ｐゴシック" panose="020B0600070205080204" pitchFamily="34" charset="-128"/>
              </a:rPr>
              <a:t>length</a:t>
            </a:r>
            <a:r>
              <a:rPr lang="en-US" altLang="zh-TW" dirty="0">
                <a:ea typeface="ＭＳ Ｐゴシック" panose="020B0600070205080204" pitchFamily="34" charset="-128"/>
              </a:rPr>
              <a:t> and </a:t>
            </a:r>
            <a:r>
              <a:rPr lang="en-US" altLang="zh-TW" i="1" dirty="0">
                <a:ea typeface="ＭＳ Ｐゴシック" panose="020B0600070205080204" pitchFamily="34" charset="-128"/>
              </a:rPr>
              <a:t>offset</a:t>
            </a:r>
            <a:r>
              <a:rPr lang="en-US" altLang="zh-TW" dirty="0">
                <a:ea typeface="ＭＳ Ｐゴシック" panose="020B0600070205080204" pitchFamily="34" charset="-128"/>
              </a:rPr>
              <a:t>: 1110101</a:t>
            </a:r>
          </a:p>
        </p:txBody>
      </p:sp>
      <p:sp>
        <p:nvSpPr>
          <p:cNvPr id="87044" name="TextBox 3">
            <a:extLst>
              <a:ext uri="{FF2B5EF4-FFF2-40B4-BE49-F238E27FC236}">
                <a16:creationId xmlns:a16="http://schemas.microsoft.com/office/drawing/2014/main" id="{D2D95661-DEE2-E26B-85AA-E2EC2DFF1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>
            <a:extLst>
              <a:ext uri="{FF2B5EF4-FFF2-40B4-BE49-F238E27FC236}">
                <a16:creationId xmlns:a16="http://schemas.microsoft.com/office/drawing/2014/main" id="{4FCD517E-1F28-A09A-04CF-394A677A6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743411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Gamma code examples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542C28-2692-CF64-7F04-44FD4326BA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0117463"/>
              </p:ext>
            </p:extLst>
          </p:nvPr>
        </p:nvGraphicFramePr>
        <p:xfrm>
          <a:off x="2049780" y="2057301"/>
          <a:ext cx="8153400" cy="4086225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length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offset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Symbol" charset="2"/>
                          <a:ea typeface="新細明體" charset="-120"/>
                          <a:cs typeface="Arial Unicode MS" charset="0"/>
                        </a:rPr>
                        <a:t>g</a:t>
                      </a: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-code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charset="-120"/>
                        <a:cs typeface="Arial Unicode MS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charset="-120"/>
                        <a:cs typeface="Arial Unicode MS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none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charset="-120"/>
                        <a:cs typeface="Arial Unicode MS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10,0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10,1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110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110,00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1110,001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1110,101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11110,1000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511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111111110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11111111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111111110,11111111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1025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11111111110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0000000001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11111111110,0000000001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9153" name="TextBox 4">
            <a:extLst>
              <a:ext uri="{FF2B5EF4-FFF2-40B4-BE49-F238E27FC236}">
                <a16:creationId xmlns:a16="http://schemas.microsoft.com/office/drawing/2014/main" id="{54AFAD2A-4360-019A-9628-407CFC535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>
            <a:extLst>
              <a:ext uri="{FF2B5EF4-FFF2-40B4-BE49-F238E27FC236}">
                <a16:creationId xmlns:a16="http://schemas.microsoft.com/office/drawing/2014/main" id="{DCBFE9A0-DD6F-87A6-F376-0604235CD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774942"/>
          </a:xfrm>
        </p:spPr>
        <p:txBody>
          <a:bodyPr/>
          <a:lstStyle/>
          <a:p>
            <a:r>
              <a:rPr lang="en-US" altLang="zh-TW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RCV1 compression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A8F05B-35E6-6B0F-A4F7-33CD04F60A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6438347"/>
              </p:ext>
            </p:extLst>
          </p:nvPr>
        </p:nvGraphicFramePr>
        <p:xfrm>
          <a:off x="2209800" y="1815662"/>
          <a:ext cx="7772400" cy="4457700"/>
        </p:xfrm>
        <a:graphic>
          <a:graphicData uri="http://schemas.openxmlformats.org/drawingml/2006/table">
            <a:tbl>
              <a:tblPr/>
              <a:tblGrid>
                <a:gridCol w="632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Data structure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Size in MB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dictionary, fixed-width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11.2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dictionary, term pointers into string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7.6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with blocking, k =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7.1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with blocking &amp; front coding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5.9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collection (text, xml markup etc)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3,600.0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collection (text)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960.0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Term-doc incidence matrix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40,000.0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postings, uncompressed (32-bit words)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400.0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postings, uncompressed (20 bits)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250.0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Arial Unicode MS" charset="0"/>
                        </a:rPr>
                        <a:t>postings, variable byte encoded</a:t>
                      </a:r>
                      <a:endParaRPr kumimoji="0" lang="en-US" altLang="zh-TW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charset="-120"/>
                        <a:cs typeface="Arial Unicode MS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nb-NO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-128"/>
                          <a:cs typeface="Arial Unicode MS" charset="0"/>
                        </a:rPr>
                        <a:t>116.0</a:t>
                      </a:r>
                      <a:endParaRPr kumimoji="0" lang="en-US" altLang="zh-TW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新細明體" charset="-120"/>
                        <a:cs typeface="Arial Unicode MS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postings, 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Symbol" charset="2"/>
                          <a:ea typeface="新細明體" charset="-120"/>
                          <a:cs typeface="Arial Unicode MS" charset="0"/>
                        </a:rPr>
                        <a:t>g-</a:t>
                      </a: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encoded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437085"/>
                        </a:buClr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1pPr>
                      <a:lvl2pPr marL="37931725" indent="-37474525" eaLnBrk="0" hangingPunct="0">
                        <a:spcBef>
                          <a:spcPct val="20000"/>
                        </a:spcBef>
                        <a:buClr>
                          <a:srgbClr val="357E69"/>
                        </a:buClr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2pPr>
                      <a:lvl3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3pPr>
                      <a:lvl4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4pPr>
                      <a:lvl5pPr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5pPr>
                      <a:lvl6pPr marL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6pPr>
                      <a:lvl7pPr marL="9144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7pPr>
                      <a:lvl8pPr marL="1371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8pPr>
                      <a:lvl9pPr marL="18288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alibri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  <a:ea typeface="新細明體" charset="-120"/>
                          <a:cs typeface="Arial Unicode MS" charset="0"/>
                        </a:rPr>
                        <a:t>101.0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5276" name="TextBox 4">
            <a:extLst>
              <a:ext uri="{FF2B5EF4-FFF2-40B4-BE49-F238E27FC236}">
                <a16:creationId xmlns:a16="http://schemas.microsoft.com/office/drawing/2014/main" id="{3A2EF178-901B-0B76-B34F-EEFAA7CBD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437085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spcBef>
                <a:spcPct val="20000"/>
              </a:spcBef>
              <a:buClr>
                <a:srgbClr val="357E6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18BA3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2F6E7E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33337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>
                <a:solidFill>
                  <a:srgbClr val="FBFCFF"/>
                </a:solidFill>
                <a:latin typeface="Lucida Sans" panose="020B0602030504020204" pitchFamily="34" charset="0"/>
                <a:ea typeface="新細明體" panose="02020500000000000000" pitchFamily="18" charset="-120"/>
                <a:cs typeface="Arial Unicode MS" pitchFamily="34" charset="-120"/>
              </a:rPr>
              <a:t>Sec. 5.3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1017</TotalTime>
  <Words>3017</Words>
  <Application>Microsoft Office PowerPoint</Application>
  <PresentationFormat>Widescreen</PresentationFormat>
  <Paragraphs>473</Paragraphs>
  <Slides>53</Slides>
  <Notes>52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5" baseType="lpstr">
      <vt:lpstr>ＭＳ Ｐゴシック</vt:lpstr>
      <vt:lpstr>新細明體</vt:lpstr>
      <vt:lpstr>Arial</vt:lpstr>
      <vt:lpstr>Calibri</vt:lpstr>
      <vt:lpstr>Calibri Light</vt:lpstr>
      <vt:lpstr>Courier New</vt:lpstr>
      <vt:lpstr>Lucida Sans</vt:lpstr>
      <vt:lpstr>Symbol</vt:lpstr>
      <vt:lpstr>Times New Roman</vt:lpstr>
      <vt:lpstr>Wingdings</vt:lpstr>
      <vt:lpstr>Retrospect</vt:lpstr>
      <vt:lpstr>Document</vt:lpstr>
      <vt:lpstr>Information Retrieval</vt:lpstr>
      <vt:lpstr>Hardware basics</vt:lpstr>
      <vt:lpstr>RCV1: Our collection for this lecture</vt:lpstr>
      <vt:lpstr>Reuters RCV1 statistics</vt:lpstr>
      <vt:lpstr>Sort-based index construction</vt:lpstr>
      <vt:lpstr>Use the same algorithm for disk?</vt:lpstr>
      <vt:lpstr>BSBI: Blocked sort-based Indexing (Sorting with fewer disk seeks)</vt:lpstr>
      <vt:lpstr>PowerPoint Presentation</vt:lpstr>
      <vt:lpstr>Sorting 10 blocks of 10M records</vt:lpstr>
      <vt:lpstr>PowerPoint Presentation</vt:lpstr>
      <vt:lpstr>Remaining problem with sort-based algorithm</vt:lpstr>
      <vt:lpstr>SPIMI: Single-pass in-memory indexing</vt:lpstr>
      <vt:lpstr> SPIMI-Invert</vt:lpstr>
      <vt:lpstr>Distributed indexing</vt:lpstr>
      <vt:lpstr>Google data centers</vt:lpstr>
      <vt:lpstr>Google web crawler</vt:lpstr>
      <vt:lpstr>Distributed indexing</vt:lpstr>
      <vt:lpstr>Parsers</vt:lpstr>
      <vt:lpstr>Inverters</vt:lpstr>
      <vt:lpstr>Data flow</vt:lpstr>
      <vt:lpstr>Dynamic indexing</vt:lpstr>
      <vt:lpstr>Simplest approach</vt:lpstr>
      <vt:lpstr>Logarithmic merge</vt:lpstr>
      <vt:lpstr>PowerPoint Presentation</vt:lpstr>
      <vt:lpstr>Logarithmic merge</vt:lpstr>
      <vt:lpstr>Dynamic indexing at search engines</vt:lpstr>
      <vt:lpstr>Why compression for inverted indexes?</vt:lpstr>
      <vt:lpstr>Index parameters vs. what we index (details IIR Table 5.1, p.80)</vt:lpstr>
      <vt:lpstr>Lossless vs. lossy compression</vt:lpstr>
      <vt:lpstr>DICTIONARY COMPRESSION</vt:lpstr>
      <vt:lpstr>Dictionary storage - first cut</vt:lpstr>
      <vt:lpstr>Fixed-width terms are wasteful</vt:lpstr>
      <vt:lpstr>Compressing the term list: Dictionary-as-a-String</vt:lpstr>
      <vt:lpstr>Space for dictionary as a string</vt:lpstr>
      <vt:lpstr>Blocking</vt:lpstr>
      <vt:lpstr>Net</vt:lpstr>
      <vt:lpstr>Dictionary search without blocking</vt:lpstr>
      <vt:lpstr>Dictionary search with blocking</vt:lpstr>
      <vt:lpstr>Front coding</vt:lpstr>
      <vt:lpstr>RCV1 dictionary compression summary</vt:lpstr>
      <vt:lpstr>POSTINGS COMPRESSION</vt:lpstr>
      <vt:lpstr>Postings compression</vt:lpstr>
      <vt:lpstr>Postings: two conflicting forces</vt:lpstr>
      <vt:lpstr>Postings file entry</vt:lpstr>
      <vt:lpstr>Three postings entries</vt:lpstr>
      <vt:lpstr>Variable length encoding</vt:lpstr>
      <vt:lpstr>Variable Byte (VB) codes</vt:lpstr>
      <vt:lpstr>Example</vt:lpstr>
      <vt:lpstr>Other variable unit codes</vt:lpstr>
      <vt:lpstr>Unary code</vt:lpstr>
      <vt:lpstr>Gamma codes</vt:lpstr>
      <vt:lpstr>Gamma code examples</vt:lpstr>
      <vt:lpstr>RCV1 compression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Web  and Data Mining</dc:title>
  <dc:creator>Quoc Dinh Truong</dc:creator>
  <cp:lastModifiedBy>Quoc Dinh Truong</cp:lastModifiedBy>
  <cp:revision>231</cp:revision>
  <dcterms:created xsi:type="dcterms:W3CDTF">2019-10-28T15:55:27Z</dcterms:created>
  <dcterms:modified xsi:type="dcterms:W3CDTF">2026-02-25T09:17:32Z</dcterms:modified>
</cp:coreProperties>
</file>