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6"/>
  </p:notesMasterIdLst>
  <p:sldIdLst>
    <p:sldId id="256" r:id="rId2"/>
    <p:sldId id="266" r:id="rId3"/>
    <p:sldId id="280" r:id="rId4"/>
    <p:sldId id="281" r:id="rId5"/>
    <p:sldId id="282" r:id="rId6"/>
    <p:sldId id="283" r:id="rId7"/>
    <p:sldId id="284" r:id="rId8"/>
    <p:sldId id="286" r:id="rId9"/>
    <p:sldId id="287" r:id="rId10"/>
    <p:sldId id="293" r:id="rId11"/>
    <p:sldId id="298" r:id="rId12"/>
    <p:sldId id="299" r:id="rId13"/>
    <p:sldId id="300" r:id="rId14"/>
    <p:sldId id="301" r:id="rId15"/>
    <p:sldId id="302" r:id="rId16"/>
    <p:sldId id="304" r:id="rId17"/>
    <p:sldId id="305" r:id="rId18"/>
    <p:sldId id="306" r:id="rId19"/>
    <p:sldId id="307" r:id="rId20"/>
    <p:sldId id="311" r:id="rId21"/>
    <p:sldId id="312" r:id="rId22"/>
    <p:sldId id="310" r:id="rId23"/>
    <p:sldId id="313" r:id="rId24"/>
    <p:sldId id="316" r:id="rId25"/>
    <p:sldId id="317" r:id="rId26"/>
    <p:sldId id="319" r:id="rId27"/>
    <p:sldId id="320" r:id="rId28"/>
    <p:sldId id="321" r:id="rId29"/>
    <p:sldId id="323" r:id="rId30"/>
    <p:sldId id="324" r:id="rId31"/>
    <p:sldId id="325" r:id="rId32"/>
    <p:sldId id="326" r:id="rId33"/>
    <p:sldId id="327" r:id="rId34"/>
    <p:sldId id="328" r:id="rId35"/>
    <p:sldId id="330" r:id="rId36"/>
    <p:sldId id="331" r:id="rId37"/>
    <p:sldId id="332" r:id="rId38"/>
    <p:sldId id="333" r:id="rId39"/>
    <p:sldId id="334" r:id="rId40"/>
    <p:sldId id="335" r:id="rId41"/>
    <p:sldId id="336" r:id="rId42"/>
    <p:sldId id="337" r:id="rId43"/>
    <p:sldId id="338" r:id="rId44"/>
    <p:sldId id="34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335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01B30-8F1D-4816-8F65-1D00D4637009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D19D8-4FDB-4F0E-9F28-C085F3E59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B6828CEA-7DCF-6CBA-06D5-C3BC471E55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A93052E-2E07-4388-9360-84FC45B5F6DC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2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D98BBC3-73C6-1233-C685-3A32433E47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7C29946-5329-E69C-DA0B-D1143B5FB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A14C81F-8DBD-38D3-06BD-351C38EFC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8A418F8-8058-B28D-20DD-69E8E9D1E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12B6C57-F0A7-84FD-B857-14CE9FA2D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10D38CF-9F64-22E1-DEA1-09FA96971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08A9901-2B13-704D-6DD6-13B5DCFB9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FB15F33-91A5-87C5-22EB-59E7E445F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FB25C19-8A6F-F671-B158-CE6B7C27E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D268BD-3CE9-4AE1-9C30-6CC7595DC8CC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6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0D5017-12F2-7180-53EE-D842C9277C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63A0D68-0E11-2FC6-7F3E-597E92E032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CC16872-73B2-FF5E-E3D9-1475CDF1E3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0F2F2B6-F235-9CF2-0DFD-0390C786B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C8347685-04E7-D95D-DD2E-6FFBE2293D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7F28F80-E154-408A-ADA0-5D6F518A0A7E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8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93FA1B2-A2FF-37A5-504A-B23861042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C5BB96F-E209-963C-9837-EDE89C940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D0D4371E-F130-4C52-0483-2146F55939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2D2BEB-1477-46D9-A059-28EC4BDD7EB0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9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D70284E8-74B3-D7FF-337F-E70CCA8B16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08E601B-7D4B-6A1F-182B-11B9B2247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F38C682-D90E-0A2B-BB39-9B8C1A275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0F7991-5A3C-490B-9617-056C8DD70853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10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DD1AFB19-A099-1960-29EB-A1642B1EBC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77CD84F7-7B3E-706C-89FB-36D7B714A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1329B36-77AD-0BAA-9C2D-9EDB0E0A0C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5D17A43-DF01-C289-989C-BA678E8B2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AA8BF77-512B-82BD-7112-806024B7F0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63B18C8-ABBD-B74E-7A92-8531D0348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FFC0BE3F-0471-497A-990E-7A3CC3F5F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7B2F7E1-66E8-455C-9AD6-3C5A0963CDEA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13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AF17B2E2-002C-6FCB-6CFB-12EC358DF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C79F00B-8AB1-B91E-31BD-60585C499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AD1E5B10-BA4F-B333-A7CD-087457E551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83BB20D-67FF-47EA-901A-F5E739154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C38CBC0-01E4-98B5-EEC2-3EFC31F45F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000554-128A-4C20-AF42-331D9BFFD98E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15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4242DFB7-0E46-E048-36B7-ABFCC07C87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25D65BF-5C3E-45CD-B639-2418021FD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3ECE5A9-FA24-D2FB-412B-8808BDBAA2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BD74D15D-EBC3-181B-6BCF-7DCDA4EBE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D4FD961B-412D-9D06-804D-811CA0D49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4BF6E2B-3434-4697-911B-8D28F41A7D52}" type="slidenum">
              <a:rPr kumimoji="0" lang="zh-CN" altLang="en-US">
                <a:latin typeface="Lucida Sans" panose="020B0602030504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17</a:t>
            </a:fld>
            <a:endParaRPr kumimoji="0" lang="en-US" altLang="zh-CN">
              <a:latin typeface="Lucida Sans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4D23EB2-4309-FE94-CEF7-250ACF1AB9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175" y="717550"/>
            <a:ext cx="4775200" cy="3581400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287B1781-5F68-572B-2402-EB7A9ACCA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37075"/>
            <a:ext cx="5365750" cy="4379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803ADD89-B5B7-855A-2F29-16A1ABCECF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3E29FA8-767B-DEEB-EE71-99721C311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3ECE5A9-FA24-D2FB-412B-8808BDBAA2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BD74D15D-EBC3-181B-6BCF-7DCDA4EBE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7173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1047241B-FA5D-02E2-F8BC-4B4657E236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4A9557E-03C1-4269-966E-F1215BF27E83}" type="slidenum">
              <a:rPr kumimoji="0" lang="en-US" altLang="zh-TW">
                <a:latin typeface="Lucida Sans" panose="020B0602030504020204" pitchFamily="34" charset="0"/>
                <a:ea typeface="Arial Unicode MS" pitchFamily="34" charset="-128"/>
              </a:rPr>
              <a:pPr>
                <a:spcBef>
                  <a:spcPct val="0"/>
                </a:spcBef>
              </a:pPr>
              <a:t>42</a:t>
            </a:fld>
            <a:endParaRPr kumimoji="0" lang="en-US" altLang="zh-TW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BC7E97B-36CF-155C-0A12-D384BC4F8D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34975" y="708025"/>
            <a:ext cx="6446838" cy="3627438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B3C18BE-D2C5-F38B-9797-CB4D8C9DD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4572000"/>
            <a:ext cx="5387975" cy="4337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089F-B724-4DB7-966F-A815F7F37156}" type="datetime1">
              <a:rPr lang="vi-VN" smtClean="0"/>
              <a:t>17/01/2024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3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C6BC-BE1B-4014-AA05-62AAA88B1A3B}" type="datetime1">
              <a:rPr lang="vi-VN" smtClean="0"/>
              <a:t>17/01/2024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7731" y="6388834"/>
            <a:ext cx="1312025" cy="365125"/>
          </a:xfrm>
        </p:spPr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951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303B-D7D5-42D3-AE3C-337199AC13CB}" type="datetime1">
              <a:rPr lang="vi-VN" smtClean="0"/>
              <a:t>17/01/2024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0E1C-6609-4571-AAC0-EC9DFB3279EB}" type="datetime1">
              <a:rPr lang="vi-VN" smtClean="0"/>
              <a:t>17/01/2024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1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F7A8-C61A-4659-866C-CD537F901D4F}" type="datetime1">
              <a:rPr lang="vi-VN" smtClean="0"/>
              <a:t>17/01/2024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95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5C43-8F38-47DC-80DF-4D0497C08181}" type="datetime1">
              <a:rPr lang="vi-VN" smtClean="0"/>
              <a:t>17/01/2024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85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57925-9F9D-419A-8B85-1EDF14B77FEB}" type="datetime1">
              <a:rPr lang="vi-VN" smtClean="0"/>
              <a:t>17/01/2024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22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0017B5-F98D-4593-B373-F15243277C20}" type="datetime1">
              <a:rPr lang="vi-VN" smtClean="0"/>
              <a:t>17/01/2024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19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3DB1-2915-4AD4-B284-3EA60BFABA3F}" type="datetime1">
              <a:rPr lang="vi-VN" smtClean="0"/>
              <a:t>17/01/2024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131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BC02-124E-465B-BD80-457C161798B7}" type="datetime1">
              <a:rPr lang="vi-VN" smtClean="0"/>
              <a:t>17/01/2024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3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D81-25AC-4658-9D07-B6C24CDC7F74}" type="datetime1">
              <a:rPr lang="vi-VN" smtClean="0"/>
              <a:t>17/01/2024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38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752600"/>
            <a:ext cx="508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08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C13D818-DF26-C10F-3239-DE34AFD04B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0374ECB-93D8-58D5-F178-5FFF4C5C97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43D70BDC-FEA9-2301-2130-3F43049FE5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CCCD92-30E9-42DD-AAA5-129487C8EE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89C31EB-6A7E-4963-9845-D0A42A645CDC}" type="datetime1">
              <a:rPr lang="vi-VN" smtClean="0"/>
              <a:t>17/01/2024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779" y="628650"/>
            <a:ext cx="11698941" cy="2447365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Courier New" panose="02070309020205020404" pitchFamily="49" charset="0"/>
                <a:cs typeface="Courier New" panose="02070309020205020404" pitchFamily="49" charset="0"/>
              </a:rPr>
              <a:t>Information Retrieval</a:t>
            </a:r>
            <a:endParaRPr lang="vi-VN" sz="8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49" y="4487718"/>
            <a:ext cx="10377248" cy="62736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Chapter 6 – query expansion</a:t>
            </a:r>
            <a:endParaRPr lang="vi-VN" sz="3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98662" y="5688795"/>
            <a:ext cx="10058400" cy="627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Quoc Dinh TRUONG</a:t>
            </a:r>
            <a:r>
              <a:rPr lang="en-US" sz="3600" cap="none" dirty="0"/>
              <a:t>, PhD</a:t>
            </a:r>
          </a:p>
          <a:p>
            <a:pPr algn="ctr"/>
            <a:r>
              <a:rPr lang="en-US" sz="3600" dirty="0"/>
              <a:t>Modified from Christopher D. Manning, Prabhakar Raghavan and Hinrich </a:t>
            </a:r>
            <a:r>
              <a:rPr lang="en-US" sz="3600" dirty="0" err="1"/>
              <a:t>Schütze</a:t>
            </a:r>
            <a:r>
              <a:rPr lang="en-US" sz="3600" dirty="0"/>
              <a:t> slides</a:t>
            </a:r>
          </a:p>
        </p:txBody>
      </p:sp>
    </p:spTree>
    <p:extLst>
      <p:ext uri="{BB962C8B-B14F-4D97-AF65-F5344CB8AC3E}">
        <p14:creationId xmlns:p14="http://schemas.microsoft.com/office/powerpoint/2010/main" val="112253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F1B3171-BDC4-84B8-AF12-BBD8A740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Relevance Feedback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234B9F1-46E0-F91A-04DD-46B46EF08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179" y="1911350"/>
            <a:ext cx="9957501" cy="4289753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u="sng" dirty="0">
                <a:ea typeface="宋体" panose="02010600030101010101" pitchFamily="2" charset="-122"/>
              </a:rPr>
              <a:t>Relevance feedback</a:t>
            </a:r>
            <a:r>
              <a:rPr lang="en-US" altLang="zh-CN" dirty="0">
                <a:ea typeface="宋体" panose="02010600030101010101" pitchFamily="2" charset="-122"/>
              </a:rPr>
              <a:t>: user feedback on relevance of docs in initial set of results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User issues a (short, simple) query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</a:rPr>
              <a:t>user</a:t>
            </a:r>
            <a:r>
              <a:rPr lang="en-US" altLang="zh-CN" dirty="0">
                <a:ea typeface="宋体" panose="02010600030101010101" pitchFamily="2" charset="-122"/>
              </a:rPr>
              <a:t> marks some results as relevant or non-relevant.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The 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</a:rPr>
              <a:t>system</a:t>
            </a:r>
            <a:r>
              <a:rPr lang="en-US" altLang="zh-CN" dirty="0">
                <a:ea typeface="宋体" panose="02010600030101010101" pitchFamily="2" charset="-122"/>
              </a:rPr>
              <a:t> computes a better representation of the information need based on feedback.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Relevance feedback can go through one or more 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</a:rPr>
              <a:t>iterations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u="sng" dirty="0">
                <a:solidFill>
                  <a:srgbClr val="C00000"/>
                </a:solidFill>
                <a:ea typeface="宋体" panose="02010600030101010101" pitchFamily="2" charset="-122"/>
              </a:rPr>
              <a:t>Idea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: it may be difficult to formulate a good query when you don’t know the collection well, so iterate</a:t>
            </a:r>
          </a:p>
        </p:txBody>
      </p:sp>
      <p:sp>
        <p:nvSpPr>
          <p:cNvPr id="15364" name="TextBox 4">
            <a:extLst>
              <a:ext uri="{FF2B5EF4-FFF2-40B4-BE49-F238E27FC236}">
                <a16:creationId xmlns:a16="http://schemas.microsoft.com/office/drawing/2014/main" id="{9076EAED-7BFE-B3BF-422D-F7DC648BB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207B0D21-B88E-F91A-DEDD-BA31EC6D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Key concept: Centroid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69156DFC-353A-95C7-9B2E-4E42C9B84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</a:t>
            </a:r>
            <a:r>
              <a:rPr lang="en-US" altLang="zh-TW" u="sng" dirty="0">
                <a:ea typeface="ＭＳ Ｐゴシック" panose="020B0600070205080204" pitchFamily="34" charset="-128"/>
              </a:rPr>
              <a:t>centroid</a:t>
            </a:r>
            <a:r>
              <a:rPr lang="en-US" altLang="zh-TW" dirty="0">
                <a:ea typeface="ＭＳ Ｐゴシック" panose="020B0600070205080204" pitchFamily="34" charset="-128"/>
              </a:rPr>
              <a:t> is the center of mass of a set of points.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Recall that we represent documents as points in a high-dimensional space.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Definition</a:t>
            </a:r>
            <a:r>
              <a:rPr lang="en-US" altLang="zh-TW" dirty="0">
                <a:ea typeface="ＭＳ Ｐゴシック" panose="020B0600070205080204" pitchFamily="34" charset="-128"/>
              </a:rPr>
              <a:t>: Centroid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33796" name="Object 2">
            <a:extLst>
              <a:ext uri="{FF2B5EF4-FFF2-40B4-BE49-F238E27FC236}">
                <a16:creationId xmlns:a16="http://schemas.microsoft.com/office/drawing/2014/main" id="{5A97D6EA-8B17-15F7-7F1B-A4EF1E63D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811454"/>
              </p:ext>
            </p:extLst>
          </p:nvPr>
        </p:nvGraphicFramePr>
        <p:xfrm>
          <a:off x="4863554" y="3262895"/>
          <a:ext cx="298767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100" imgH="419100" progId="Equation.3">
                  <p:embed/>
                </p:oleObj>
              </mc:Choice>
              <mc:Fallback>
                <p:oleObj name="Equation" r:id="rId3" imgW="1054100" imgH="419100" progId="Equation.3">
                  <p:embed/>
                  <p:pic>
                    <p:nvPicPr>
                      <p:cNvPr id="33796" name="Object 2">
                        <a:extLst>
                          <a:ext uri="{FF2B5EF4-FFF2-40B4-BE49-F238E27FC236}">
                            <a16:creationId xmlns:a16="http://schemas.microsoft.com/office/drawing/2014/main" id="{5A97D6EA-8B17-15F7-7F1B-A4EF1E63D6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3554" y="3262895"/>
                        <a:ext cx="2987675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Box 5">
            <a:extLst>
              <a:ext uri="{FF2B5EF4-FFF2-40B4-BE49-F238E27FC236}">
                <a16:creationId xmlns:a16="http://schemas.microsoft.com/office/drawing/2014/main" id="{50C1B2FD-BDC7-2A61-E6DD-A6077913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5F33FE42-A48C-22A2-A904-3B63E3D3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39463"/>
          </a:xfrm>
        </p:spPr>
        <p:txBody>
          <a:bodyPr/>
          <a:lstStyle/>
          <a:p>
            <a:pPr eaLnBrk="1" hangingPunct="1"/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Rocchio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Algorithm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EFEAE513-55B3-4C55-40AB-78FAA8B26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9964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</a:t>
            </a:r>
            <a:r>
              <a:rPr lang="en-US" altLang="zh-TW" dirty="0" err="1">
                <a:ea typeface="ＭＳ Ｐゴシック" panose="020B0600070205080204" pitchFamily="34" charset="-128"/>
              </a:rPr>
              <a:t>Rocchio</a:t>
            </a:r>
            <a:r>
              <a:rPr lang="en-US" altLang="zh-TW" dirty="0">
                <a:ea typeface="ＭＳ Ｐゴシック" panose="020B0600070205080204" pitchFamily="34" charset="-128"/>
              </a:rPr>
              <a:t> algorithm uses the vector space model to pick a relevance feedback query</a:t>
            </a: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Rocchio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seeks the query </a:t>
            </a:r>
            <a:r>
              <a:rPr lang="en-US" altLang="zh-TW" i="1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q</a:t>
            </a:r>
            <a:r>
              <a:rPr lang="en-US" altLang="zh-TW" i="1" baseline="-250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opt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that maximizes</a:t>
            </a: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Tries to separate docs marked relevant and non-relevant</a:t>
            </a: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Problem: we don’t know the truly relevant docs</a:t>
            </a:r>
          </a:p>
        </p:txBody>
      </p:sp>
      <p:cxnSp>
        <p:nvCxnSpPr>
          <p:cNvPr id="35844" name="Straight Arrow Connector 4">
            <a:extLst>
              <a:ext uri="{FF2B5EF4-FFF2-40B4-BE49-F238E27FC236}">
                <a16:creationId xmlns:a16="http://schemas.microsoft.com/office/drawing/2014/main" id="{147933F5-2298-FDF8-AC58-68811F44FA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85896" y="2503472"/>
            <a:ext cx="228600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5845" name="Object 2">
            <a:extLst>
              <a:ext uri="{FF2B5EF4-FFF2-40B4-BE49-F238E27FC236}">
                <a16:creationId xmlns:a16="http://schemas.microsoft.com/office/drawing/2014/main" id="{1B7B5D0B-B1BA-C4E5-9E96-0B80D0B7CC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661659"/>
              </p:ext>
            </p:extLst>
          </p:nvPr>
        </p:nvGraphicFramePr>
        <p:xfrm>
          <a:off x="1606551" y="2988734"/>
          <a:ext cx="6253337" cy="81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300" imgH="393700" progId="Equation.3">
                  <p:embed/>
                </p:oleObj>
              </mc:Choice>
              <mc:Fallback>
                <p:oleObj name="Equation" r:id="rId3" imgW="3035300" imgH="393700" progId="Equation.3">
                  <p:embed/>
                  <p:pic>
                    <p:nvPicPr>
                      <p:cNvPr id="35845" name="Object 2">
                        <a:extLst>
                          <a:ext uri="{FF2B5EF4-FFF2-40B4-BE49-F238E27FC236}">
                            <a16:creationId xmlns:a16="http://schemas.microsoft.com/office/drawing/2014/main" id="{1B7B5D0B-B1BA-C4E5-9E96-0B80D0B7C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1" y="2988734"/>
                        <a:ext cx="6253337" cy="811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4">
            <a:extLst>
              <a:ext uri="{FF2B5EF4-FFF2-40B4-BE49-F238E27FC236}">
                <a16:creationId xmlns:a16="http://schemas.microsoft.com/office/drawing/2014/main" id="{43B1CC98-1868-5DC4-9BB3-74A7BC167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32685"/>
              </p:ext>
            </p:extLst>
          </p:nvPr>
        </p:nvGraphicFramePr>
        <p:xfrm>
          <a:off x="1606551" y="4214651"/>
          <a:ext cx="4037504" cy="103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700" imgH="457200" progId="Equation.3">
                  <p:embed/>
                </p:oleObj>
              </mc:Choice>
              <mc:Fallback>
                <p:oleObj name="Equation" r:id="rId5" imgW="1790700" imgH="457200" progId="Equation.3">
                  <p:embed/>
                  <p:pic>
                    <p:nvPicPr>
                      <p:cNvPr id="35846" name="Object 4">
                        <a:extLst>
                          <a:ext uri="{FF2B5EF4-FFF2-40B4-BE49-F238E27FC236}">
                            <a16:creationId xmlns:a16="http://schemas.microsoft.com/office/drawing/2014/main" id="{43B1CC98-1868-5DC4-9BB3-74A7BC167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1" y="4214651"/>
                        <a:ext cx="4037504" cy="103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Box 7">
            <a:extLst>
              <a:ext uri="{FF2B5EF4-FFF2-40B4-BE49-F238E27FC236}">
                <a16:creationId xmlns:a16="http://schemas.microsoft.com/office/drawing/2014/main" id="{7039814E-EB7B-4B2D-50FB-5AE9EA157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487B8897-5660-98B7-9280-81845322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21483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Theoretically Best Query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7C73B1-4A7E-BCF5-9027-5C967C884C8B}"/>
              </a:ext>
            </a:extLst>
          </p:cNvPr>
          <p:cNvGrpSpPr/>
          <p:nvPr/>
        </p:nvGrpSpPr>
        <p:grpSpPr>
          <a:xfrm>
            <a:off x="1919288" y="1909106"/>
            <a:ext cx="8215312" cy="4359635"/>
            <a:chOff x="1919288" y="1909106"/>
            <a:chExt cx="8215312" cy="4359635"/>
          </a:xfrm>
        </p:grpSpPr>
        <p:sp>
          <p:nvSpPr>
            <p:cNvPr id="37890" name="Freeform 2">
              <a:extLst>
                <a:ext uri="{FF2B5EF4-FFF2-40B4-BE49-F238E27FC236}">
                  <a16:creationId xmlns:a16="http://schemas.microsoft.com/office/drawing/2014/main" id="{939C8504-EEDB-1F79-C18A-883716CDC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0" y="1909106"/>
              <a:ext cx="5410200" cy="3681138"/>
            </a:xfrm>
            <a:custGeom>
              <a:avLst/>
              <a:gdLst>
                <a:gd name="T0" fmla="*/ 2147483646 w 3927"/>
                <a:gd name="T1" fmla="*/ 2147483646 h 2791"/>
                <a:gd name="T2" fmla="*/ 2147483646 w 3927"/>
                <a:gd name="T3" fmla="*/ 2147483646 h 2791"/>
                <a:gd name="T4" fmla="*/ 2147483646 w 3927"/>
                <a:gd name="T5" fmla="*/ 2147483646 h 2791"/>
                <a:gd name="T6" fmla="*/ 2147483646 w 3927"/>
                <a:gd name="T7" fmla="*/ 2147483646 h 2791"/>
                <a:gd name="T8" fmla="*/ 2147483646 w 3927"/>
                <a:gd name="T9" fmla="*/ 2147483646 h 2791"/>
                <a:gd name="T10" fmla="*/ 2147483646 w 3927"/>
                <a:gd name="T11" fmla="*/ 2147483646 h 2791"/>
                <a:gd name="T12" fmla="*/ 2147483646 w 3927"/>
                <a:gd name="T13" fmla="*/ 2147483646 h 2791"/>
                <a:gd name="T14" fmla="*/ 2147483646 w 3927"/>
                <a:gd name="T15" fmla="*/ 2147483646 h 2791"/>
                <a:gd name="T16" fmla="*/ 2147483646 w 3927"/>
                <a:gd name="T17" fmla="*/ 2147483646 h 2791"/>
                <a:gd name="T18" fmla="*/ 2147483646 w 3927"/>
                <a:gd name="T19" fmla="*/ 2147483646 h 2791"/>
                <a:gd name="T20" fmla="*/ 2147483646 w 3927"/>
                <a:gd name="T21" fmla="*/ 2147483646 h 2791"/>
                <a:gd name="T22" fmla="*/ 2147483646 w 3927"/>
                <a:gd name="T23" fmla="*/ 2147483646 h 2791"/>
                <a:gd name="T24" fmla="*/ 2147483646 w 3927"/>
                <a:gd name="T25" fmla="*/ 2147483646 h 2791"/>
                <a:gd name="T26" fmla="*/ 2147483646 w 3927"/>
                <a:gd name="T27" fmla="*/ 2147483646 h 2791"/>
                <a:gd name="T28" fmla="*/ 2147483646 w 3927"/>
                <a:gd name="T29" fmla="*/ 2147483646 h 2791"/>
                <a:gd name="T30" fmla="*/ 2147483646 w 3927"/>
                <a:gd name="T31" fmla="*/ 2147483646 h 2791"/>
                <a:gd name="T32" fmla="*/ 2147483646 w 3927"/>
                <a:gd name="T33" fmla="*/ 2147483646 h 2791"/>
                <a:gd name="T34" fmla="*/ 2147483646 w 3927"/>
                <a:gd name="T35" fmla="*/ 2147483646 h 2791"/>
                <a:gd name="T36" fmla="*/ 2147483646 w 3927"/>
                <a:gd name="T37" fmla="*/ 2147483646 h 2791"/>
                <a:gd name="T38" fmla="*/ 2147483646 w 3927"/>
                <a:gd name="T39" fmla="*/ 2147483646 h 2791"/>
                <a:gd name="T40" fmla="*/ 2147483646 w 3927"/>
                <a:gd name="T41" fmla="*/ 2147483646 h 2791"/>
                <a:gd name="T42" fmla="*/ 2147483646 w 3927"/>
                <a:gd name="T43" fmla="*/ 2147483646 h 2791"/>
                <a:gd name="T44" fmla="*/ 2147483646 w 3927"/>
                <a:gd name="T45" fmla="*/ 2147483646 h 2791"/>
                <a:gd name="T46" fmla="*/ 2147483646 w 3927"/>
                <a:gd name="T47" fmla="*/ 2147483646 h 2791"/>
                <a:gd name="T48" fmla="*/ 2147483646 w 3927"/>
                <a:gd name="T49" fmla="*/ 2147483646 h 2791"/>
                <a:gd name="T50" fmla="*/ 2147483646 w 3927"/>
                <a:gd name="T51" fmla="*/ 2147483646 h 2791"/>
                <a:gd name="T52" fmla="*/ 2147483646 w 3927"/>
                <a:gd name="T53" fmla="*/ 2147483646 h 2791"/>
                <a:gd name="T54" fmla="*/ 2147483646 w 3927"/>
                <a:gd name="T55" fmla="*/ 2147483646 h 2791"/>
                <a:gd name="T56" fmla="*/ 2147483646 w 3927"/>
                <a:gd name="T57" fmla="*/ 2147483646 h 2791"/>
                <a:gd name="T58" fmla="*/ 2147483646 w 3927"/>
                <a:gd name="T59" fmla="*/ 2147483646 h 2791"/>
                <a:gd name="T60" fmla="*/ 2147483646 w 3927"/>
                <a:gd name="T61" fmla="*/ 2147483646 h 2791"/>
                <a:gd name="T62" fmla="*/ 2147483646 w 3927"/>
                <a:gd name="T63" fmla="*/ 2147483646 h 2791"/>
                <a:gd name="T64" fmla="*/ 2147483646 w 3927"/>
                <a:gd name="T65" fmla="*/ 2147483646 h 2791"/>
                <a:gd name="T66" fmla="*/ 2147483646 w 3927"/>
                <a:gd name="T67" fmla="*/ 2147483646 h 2791"/>
                <a:gd name="T68" fmla="*/ 2147483646 w 3927"/>
                <a:gd name="T69" fmla="*/ 2147483646 h 2791"/>
                <a:gd name="T70" fmla="*/ 2147483646 w 3927"/>
                <a:gd name="T71" fmla="*/ 2147483646 h 2791"/>
                <a:gd name="T72" fmla="*/ 2147483646 w 3927"/>
                <a:gd name="T73" fmla="*/ 2147483646 h 2791"/>
                <a:gd name="T74" fmla="*/ 2147483646 w 3927"/>
                <a:gd name="T75" fmla="*/ 2147483646 h 2791"/>
                <a:gd name="T76" fmla="*/ 2147483646 w 3927"/>
                <a:gd name="T77" fmla="*/ 2147483646 h 2791"/>
                <a:gd name="T78" fmla="*/ 2147483646 w 3927"/>
                <a:gd name="T79" fmla="*/ 2147483646 h 2791"/>
                <a:gd name="T80" fmla="*/ 2147483646 w 3927"/>
                <a:gd name="T81" fmla="*/ 2147483646 h 2791"/>
                <a:gd name="T82" fmla="*/ 2147483646 w 3927"/>
                <a:gd name="T83" fmla="*/ 2147483646 h 2791"/>
                <a:gd name="T84" fmla="*/ 2147483646 w 3927"/>
                <a:gd name="T85" fmla="*/ 2147483646 h 2791"/>
                <a:gd name="T86" fmla="*/ 2147483646 w 3927"/>
                <a:gd name="T87" fmla="*/ 2147483646 h 2791"/>
                <a:gd name="T88" fmla="*/ 2147483646 w 3927"/>
                <a:gd name="T89" fmla="*/ 2147483646 h 2791"/>
                <a:gd name="T90" fmla="*/ 2147483646 w 3927"/>
                <a:gd name="T91" fmla="*/ 2147483646 h 2791"/>
                <a:gd name="T92" fmla="*/ 2147483646 w 3927"/>
                <a:gd name="T93" fmla="*/ 2147483646 h 2791"/>
                <a:gd name="T94" fmla="*/ 2147483646 w 3927"/>
                <a:gd name="T95" fmla="*/ 2147483646 h 2791"/>
                <a:gd name="T96" fmla="*/ 2147483646 w 3927"/>
                <a:gd name="T97" fmla="*/ 2147483646 h 2791"/>
                <a:gd name="T98" fmla="*/ 2147483646 w 3927"/>
                <a:gd name="T99" fmla="*/ 2147483646 h 2791"/>
                <a:gd name="T100" fmla="*/ 2147483646 w 3927"/>
                <a:gd name="T101" fmla="*/ 2147483646 h 2791"/>
                <a:gd name="T102" fmla="*/ 2147483646 w 3927"/>
                <a:gd name="T103" fmla="*/ 2147483646 h 2791"/>
                <a:gd name="T104" fmla="*/ 2147483646 w 3927"/>
                <a:gd name="T105" fmla="*/ 2147483646 h 2791"/>
                <a:gd name="T106" fmla="*/ 2147483646 w 3927"/>
                <a:gd name="T107" fmla="*/ 2147483646 h 2791"/>
                <a:gd name="T108" fmla="*/ 2147483646 w 3927"/>
                <a:gd name="T109" fmla="*/ 2147483646 h 2791"/>
                <a:gd name="T110" fmla="*/ 2147483646 w 3927"/>
                <a:gd name="T111" fmla="*/ 2147483646 h 279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3927"/>
                <a:gd name="T169" fmla="*/ 0 h 2791"/>
                <a:gd name="T170" fmla="*/ 3927 w 3927"/>
                <a:gd name="T171" fmla="*/ 2791 h 2791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3927" h="2791">
                  <a:moveTo>
                    <a:pt x="329" y="2491"/>
                  </a:moveTo>
                  <a:cubicBezTo>
                    <a:pt x="284" y="2395"/>
                    <a:pt x="261" y="2289"/>
                    <a:pt x="221" y="2190"/>
                  </a:cubicBezTo>
                  <a:cubicBezTo>
                    <a:pt x="206" y="2113"/>
                    <a:pt x="189" y="2026"/>
                    <a:pt x="154" y="1956"/>
                  </a:cubicBezTo>
                  <a:cubicBezTo>
                    <a:pt x="135" y="1782"/>
                    <a:pt x="156" y="1989"/>
                    <a:pt x="137" y="1673"/>
                  </a:cubicBezTo>
                  <a:cubicBezTo>
                    <a:pt x="132" y="1591"/>
                    <a:pt x="111" y="1510"/>
                    <a:pt x="96" y="1430"/>
                  </a:cubicBezTo>
                  <a:cubicBezTo>
                    <a:pt x="101" y="1355"/>
                    <a:pt x="112" y="1280"/>
                    <a:pt x="112" y="1205"/>
                  </a:cubicBezTo>
                  <a:cubicBezTo>
                    <a:pt x="112" y="1191"/>
                    <a:pt x="68" y="1097"/>
                    <a:pt x="62" y="1080"/>
                  </a:cubicBezTo>
                  <a:cubicBezTo>
                    <a:pt x="54" y="1031"/>
                    <a:pt x="38" y="987"/>
                    <a:pt x="29" y="938"/>
                  </a:cubicBezTo>
                  <a:cubicBezTo>
                    <a:pt x="19" y="822"/>
                    <a:pt x="0" y="650"/>
                    <a:pt x="71" y="546"/>
                  </a:cubicBezTo>
                  <a:cubicBezTo>
                    <a:pt x="94" y="474"/>
                    <a:pt x="52" y="591"/>
                    <a:pt x="129" y="479"/>
                  </a:cubicBezTo>
                  <a:cubicBezTo>
                    <a:pt x="137" y="467"/>
                    <a:pt x="132" y="450"/>
                    <a:pt x="137" y="437"/>
                  </a:cubicBezTo>
                  <a:cubicBezTo>
                    <a:pt x="154" y="396"/>
                    <a:pt x="195" y="348"/>
                    <a:pt x="229" y="320"/>
                  </a:cubicBezTo>
                  <a:cubicBezTo>
                    <a:pt x="282" y="277"/>
                    <a:pt x="347" y="254"/>
                    <a:pt x="405" y="220"/>
                  </a:cubicBezTo>
                  <a:cubicBezTo>
                    <a:pt x="466" y="185"/>
                    <a:pt x="524" y="143"/>
                    <a:pt x="588" y="112"/>
                  </a:cubicBezTo>
                  <a:cubicBezTo>
                    <a:pt x="739" y="38"/>
                    <a:pt x="934" y="27"/>
                    <a:pt x="1097" y="20"/>
                  </a:cubicBezTo>
                  <a:cubicBezTo>
                    <a:pt x="1304" y="0"/>
                    <a:pt x="1509" y="22"/>
                    <a:pt x="1715" y="36"/>
                  </a:cubicBezTo>
                  <a:cubicBezTo>
                    <a:pt x="1863" y="63"/>
                    <a:pt x="2009" y="30"/>
                    <a:pt x="2158" y="20"/>
                  </a:cubicBezTo>
                  <a:cubicBezTo>
                    <a:pt x="2355" y="27"/>
                    <a:pt x="2546" y="49"/>
                    <a:pt x="2742" y="61"/>
                  </a:cubicBezTo>
                  <a:cubicBezTo>
                    <a:pt x="2883" y="91"/>
                    <a:pt x="2709" y="57"/>
                    <a:pt x="3059" y="78"/>
                  </a:cubicBezTo>
                  <a:cubicBezTo>
                    <a:pt x="3186" y="86"/>
                    <a:pt x="3308" y="119"/>
                    <a:pt x="3435" y="128"/>
                  </a:cubicBezTo>
                  <a:cubicBezTo>
                    <a:pt x="3504" y="147"/>
                    <a:pt x="3574" y="165"/>
                    <a:pt x="3644" y="178"/>
                  </a:cubicBezTo>
                  <a:cubicBezTo>
                    <a:pt x="3679" y="202"/>
                    <a:pt x="3713" y="224"/>
                    <a:pt x="3735" y="262"/>
                  </a:cubicBezTo>
                  <a:cubicBezTo>
                    <a:pt x="3748" y="284"/>
                    <a:pt x="3769" y="329"/>
                    <a:pt x="3769" y="329"/>
                  </a:cubicBezTo>
                  <a:cubicBezTo>
                    <a:pt x="3781" y="379"/>
                    <a:pt x="3799" y="411"/>
                    <a:pt x="3827" y="454"/>
                  </a:cubicBezTo>
                  <a:cubicBezTo>
                    <a:pt x="3855" y="564"/>
                    <a:pt x="3893" y="664"/>
                    <a:pt x="3927" y="771"/>
                  </a:cubicBezTo>
                  <a:cubicBezTo>
                    <a:pt x="3924" y="852"/>
                    <a:pt x="3924" y="932"/>
                    <a:pt x="3919" y="1013"/>
                  </a:cubicBezTo>
                  <a:cubicBezTo>
                    <a:pt x="3917" y="1050"/>
                    <a:pt x="3900" y="1085"/>
                    <a:pt x="3894" y="1122"/>
                  </a:cubicBezTo>
                  <a:cubicBezTo>
                    <a:pt x="3875" y="1240"/>
                    <a:pt x="3857" y="1367"/>
                    <a:pt x="3819" y="1481"/>
                  </a:cubicBezTo>
                  <a:cubicBezTo>
                    <a:pt x="3813" y="1520"/>
                    <a:pt x="3808" y="1558"/>
                    <a:pt x="3802" y="1597"/>
                  </a:cubicBezTo>
                  <a:cubicBezTo>
                    <a:pt x="3794" y="1647"/>
                    <a:pt x="3784" y="1698"/>
                    <a:pt x="3777" y="1748"/>
                  </a:cubicBezTo>
                  <a:cubicBezTo>
                    <a:pt x="3753" y="1909"/>
                    <a:pt x="3768" y="2005"/>
                    <a:pt x="3585" y="2040"/>
                  </a:cubicBezTo>
                  <a:cubicBezTo>
                    <a:pt x="3546" y="2066"/>
                    <a:pt x="3513" y="2093"/>
                    <a:pt x="3468" y="2107"/>
                  </a:cubicBezTo>
                  <a:cubicBezTo>
                    <a:pt x="3446" y="2114"/>
                    <a:pt x="3401" y="2123"/>
                    <a:pt x="3401" y="2123"/>
                  </a:cubicBezTo>
                  <a:cubicBezTo>
                    <a:pt x="3355" y="2154"/>
                    <a:pt x="3317" y="2150"/>
                    <a:pt x="3260" y="2157"/>
                  </a:cubicBezTo>
                  <a:cubicBezTo>
                    <a:pt x="3151" y="2170"/>
                    <a:pt x="3043" y="2186"/>
                    <a:pt x="2934" y="2198"/>
                  </a:cubicBezTo>
                  <a:cubicBezTo>
                    <a:pt x="2874" y="2184"/>
                    <a:pt x="2820" y="2172"/>
                    <a:pt x="2759" y="2165"/>
                  </a:cubicBezTo>
                  <a:cubicBezTo>
                    <a:pt x="2712" y="2168"/>
                    <a:pt x="2664" y="2168"/>
                    <a:pt x="2617" y="2173"/>
                  </a:cubicBezTo>
                  <a:cubicBezTo>
                    <a:pt x="2596" y="2175"/>
                    <a:pt x="2563" y="2200"/>
                    <a:pt x="2550" y="2207"/>
                  </a:cubicBezTo>
                  <a:cubicBezTo>
                    <a:pt x="2506" y="2229"/>
                    <a:pt x="2455" y="2236"/>
                    <a:pt x="2408" y="2249"/>
                  </a:cubicBezTo>
                  <a:cubicBezTo>
                    <a:pt x="2339" y="2293"/>
                    <a:pt x="2253" y="2286"/>
                    <a:pt x="2183" y="2324"/>
                  </a:cubicBezTo>
                  <a:cubicBezTo>
                    <a:pt x="2053" y="2394"/>
                    <a:pt x="2185" y="2342"/>
                    <a:pt x="2016" y="2399"/>
                  </a:cubicBezTo>
                  <a:cubicBezTo>
                    <a:pt x="2001" y="2404"/>
                    <a:pt x="1990" y="2420"/>
                    <a:pt x="1974" y="2424"/>
                  </a:cubicBezTo>
                  <a:cubicBezTo>
                    <a:pt x="1809" y="2464"/>
                    <a:pt x="1637" y="2472"/>
                    <a:pt x="1473" y="2516"/>
                  </a:cubicBezTo>
                  <a:cubicBezTo>
                    <a:pt x="1390" y="2538"/>
                    <a:pt x="1327" y="2582"/>
                    <a:pt x="1248" y="2608"/>
                  </a:cubicBezTo>
                  <a:cubicBezTo>
                    <a:pt x="1149" y="2641"/>
                    <a:pt x="1053" y="2676"/>
                    <a:pt x="956" y="2716"/>
                  </a:cubicBezTo>
                  <a:cubicBezTo>
                    <a:pt x="912" y="2760"/>
                    <a:pt x="951" y="2731"/>
                    <a:pt x="872" y="2749"/>
                  </a:cubicBezTo>
                  <a:cubicBezTo>
                    <a:pt x="797" y="2766"/>
                    <a:pt x="734" y="2783"/>
                    <a:pt x="655" y="2791"/>
                  </a:cubicBezTo>
                  <a:cubicBezTo>
                    <a:pt x="636" y="2785"/>
                    <a:pt x="615" y="2782"/>
                    <a:pt x="597" y="2774"/>
                  </a:cubicBezTo>
                  <a:cubicBezTo>
                    <a:pt x="584" y="2768"/>
                    <a:pt x="575" y="2756"/>
                    <a:pt x="563" y="2749"/>
                  </a:cubicBezTo>
                  <a:cubicBezTo>
                    <a:pt x="555" y="2745"/>
                    <a:pt x="546" y="2744"/>
                    <a:pt x="538" y="2741"/>
                  </a:cubicBezTo>
                  <a:cubicBezTo>
                    <a:pt x="521" y="2724"/>
                    <a:pt x="501" y="2710"/>
                    <a:pt x="488" y="2691"/>
                  </a:cubicBezTo>
                  <a:cubicBezTo>
                    <a:pt x="482" y="2683"/>
                    <a:pt x="478" y="2674"/>
                    <a:pt x="471" y="2666"/>
                  </a:cubicBezTo>
                  <a:cubicBezTo>
                    <a:pt x="455" y="2648"/>
                    <a:pt x="421" y="2616"/>
                    <a:pt x="421" y="2616"/>
                  </a:cubicBezTo>
                  <a:cubicBezTo>
                    <a:pt x="418" y="2608"/>
                    <a:pt x="418" y="2598"/>
                    <a:pt x="413" y="2591"/>
                  </a:cubicBezTo>
                  <a:cubicBezTo>
                    <a:pt x="407" y="2583"/>
                    <a:pt x="392" y="2583"/>
                    <a:pt x="388" y="2574"/>
                  </a:cubicBezTo>
                  <a:cubicBezTo>
                    <a:pt x="375" y="2548"/>
                    <a:pt x="389" y="2459"/>
                    <a:pt x="329" y="249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92" name="Text Box 4">
              <a:extLst>
                <a:ext uri="{FF2B5EF4-FFF2-40B4-BE49-F238E27FC236}">
                  <a16:creationId xmlns:a16="http://schemas.microsoft.com/office/drawing/2014/main" id="{789319B1-DE04-0BD4-E694-3BCF6630E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088" y="32924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3" name="Text Box 5">
              <a:extLst>
                <a:ext uri="{FF2B5EF4-FFF2-40B4-BE49-F238E27FC236}">
                  <a16:creationId xmlns:a16="http://schemas.microsoft.com/office/drawing/2014/main" id="{D4DC0B4F-AEBC-5D68-CE95-9C4679980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9288" y="28352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4" name="Text Box 6">
              <a:extLst>
                <a:ext uri="{FF2B5EF4-FFF2-40B4-BE49-F238E27FC236}">
                  <a16:creationId xmlns:a16="http://schemas.microsoft.com/office/drawing/2014/main" id="{B0C0E0BC-24B8-6FBC-E479-0724B2148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4088" y="35972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5" name="Text Box 7">
              <a:extLst>
                <a:ext uri="{FF2B5EF4-FFF2-40B4-BE49-F238E27FC236}">
                  <a16:creationId xmlns:a16="http://schemas.microsoft.com/office/drawing/2014/main" id="{22BCC61B-DED0-9F65-2CAC-3ED309B44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0" y="38100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896" name="Text Box 8">
              <a:extLst>
                <a:ext uri="{FF2B5EF4-FFF2-40B4-BE49-F238E27FC236}">
                  <a16:creationId xmlns:a16="http://schemas.microsoft.com/office/drawing/2014/main" id="{5C707BC9-8D28-1027-6F2D-EAA453D4C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0488" y="4206875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897" name="Text Box 9">
              <a:extLst>
                <a:ext uri="{FF2B5EF4-FFF2-40B4-BE49-F238E27FC236}">
                  <a16:creationId xmlns:a16="http://schemas.microsoft.com/office/drawing/2014/main" id="{EC359130-A423-6E0A-DD0A-6BCF91F8A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1088" y="3978275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898" name="Text Box 10">
              <a:extLst>
                <a:ext uri="{FF2B5EF4-FFF2-40B4-BE49-F238E27FC236}">
                  <a16:creationId xmlns:a16="http://schemas.microsoft.com/office/drawing/2014/main" id="{9AE26B06-8536-67EF-ED78-C214E5C2C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688" y="4206875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899" name="Text Box 11">
              <a:extLst>
                <a:ext uri="{FF2B5EF4-FFF2-40B4-BE49-F238E27FC236}">
                  <a16:creationId xmlns:a16="http://schemas.microsoft.com/office/drawing/2014/main" id="{65594D31-35F0-B1BE-B411-FE90E7448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288" y="5807076"/>
              <a:ext cx="20431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00A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Optimal query</a:t>
              </a:r>
            </a:p>
          </p:txBody>
        </p:sp>
        <p:sp>
          <p:nvSpPr>
            <p:cNvPr id="37900" name="Line 12">
              <a:extLst>
                <a:ext uri="{FF2B5EF4-FFF2-40B4-BE49-F238E27FC236}">
                  <a16:creationId xmlns:a16="http://schemas.microsoft.com/office/drawing/2014/main" id="{A65C44BB-D15F-8422-40FD-4E949F51A0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5600" y="4756149"/>
              <a:ext cx="609600" cy="1127126"/>
            </a:xfrm>
            <a:prstGeom prst="line">
              <a:avLst/>
            </a:prstGeom>
            <a:noFill/>
            <a:ln w="9525">
              <a:solidFill>
                <a:srgbClr val="00A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01" name="Text Box 13">
              <a:extLst>
                <a:ext uri="{FF2B5EF4-FFF2-40B4-BE49-F238E27FC236}">
                  <a16:creationId xmlns:a16="http://schemas.microsoft.com/office/drawing/2014/main" id="{29F5B29C-A414-5D22-A083-2E553158E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5399120"/>
              <a:ext cx="3581400" cy="867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non-relevant documents</a:t>
              </a:r>
            </a:p>
            <a:p>
              <a:pPr>
                <a:spcBef>
                  <a:spcPct val="10000"/>
                </a:spcBef>
                <a:buClrTx/>
                <a:buFontTx/>
                <a:buNone/>
              </a:pPr>
              <a:r>
                <a:rPr lang="en-US" altLang="zh-CN" sz="2400" dirty="0">
                  <a:latin typeface="Lucida Sans" panose="020B0602030504020204" pitchFamily="34" charset="0"/>
                  <a:ea typeface="宋体" panose="02010600030101010101" pitchFamily="2" charset="-122"/>
                </a:rPr>
                <a:t>o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relevant documents</a:t>
              </a:r>
            </a:p>
          </p:txBody>
        </p:sp>
        <p:sp>
          <p:nvSpPr>
            <p:cNvPr id="37902" name="Text Box 14">
              <a:extLst>
                <a:ext uri="{FF2B5EF4-FFF2-40B4-BE49-F238E27FC236}">
                  <a16:creationId xmlns:a16="http://schemas.microsoft.com/office/drawing/2014/main" id="{A06E9082-3CDD-A3B6-D85D-D79477B66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3810000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903" name="Text Box 15">
              <a:extLst>
                <a:ext uri="{FF2B5EF4-FFF2-40B4-BE49-F238E27FC236}">
                  <a16:creationId xmlns:a16="http://schemas.microsoft.com/office/drawing/2014/main" id="{57D06CFC-FDB7-382C-1738-0F6C5BE38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488" y="2530475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904" name="Text Box 16">
              <a:extLst>
                <a:ext uri="{FF2B5EF4-FFF2-40B4-BE49-F238E27FC236}">
                  <a16:creationId xmlns:a16="http://schemas.microsoft.com/office/drawing/2014/main" id="{17678D07-A527-0B01-1B37-9818BF6B4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688" y="3444875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37905" name="Text Box 17">
              <a:extLst>
                <a:ext uri="{FF2B5EF4-FFF2-40B4-BE49-F238E27FC236}">
                  <a16:creationId xmlns:a16="http://schemas.microsoft.com/office/drawing/2014/main" id="{B1A80082-38BC-D6AA-072D-079EC4E27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1336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6" name="Text Box 18">
              <a:extLst>
                <a:ext uri="{FF2B5EF4-FFF2-40B4-BE49-F238E27FC236}">
                  <a16:creationId xmlns:a16="http://schemas.microsoft.com/office/drawing/2014/main" id="{543C5406-2EBC-03A4-541A-059D67E0C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5488" y="19970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7" name="Text Box 19">
              <a:extLst>
                <a:ext uri="{FF2B5EF4-FFF2-40B4-BE49-F238E27FC236}">
                  <a16:creationId xmlns:a16="http://schemas.microsoft.com/office/drawing/2014/main" id="{8ED3A78D-3210-B960-CE89-F8CF24F04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8956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8" name="Text Box 20">
              <a:extLst>
                <a:ext uri="{FF2B5EF4-FFF2-40B4-BE49-F238E27FC236}">
                  <a16:creationId xmlns:a16="http://schemas.microsoft.com/office/drawing/2014/main" id="{7E6AA07C-64D5-170E-0FD4-967AA3D61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8" y="29114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9" name="Text Box 21">
              <a:extLst>
                <a:ext uri="{FF2B5EF4-FFF2-40B4-BE49-F238E27FC236}">
                  <a16:creationId xmlns:a16="http://schemas.microsoft.com/office/drawing/2014/main" id="{8181E476-8EBE-76A5-8AAD-417896182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0" name="Text Box 22">
              <a:extLst>
                <a:ext uri="{FF2B5EF4-FFF2-40B4-BE49-F238E27FC236}">
                  <a16:creationId xmlns:a16="http://schemas.microsoft.com/office/drawing/2014/main" id="{5EEFE8E0-15F8-93EA-2E30-D1F372090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0888" y="19208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1" name="Text Box 23">
              <a:extLst>
                <a:ext uri="{FF2B5EF4-FFF2-40B4-BE49-F238E27FC236}">
                  <a16:creationId xmlns:a16="http://schemas.microsoft.com/office/drawing/2014/main" id="{996DA806-0C76-96FF-AC37-29E9BE115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29718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2" name="Text Box 24">
              <a:extLst>
                <a:ext uri="{FF2B5EF4-FFF2-40B4-BE49-F238E27FC236}">
                  <a16:creationId xmlns:a16="http://schemas.microsoft.com/office/drawing/2014/main" id="{36D0050C-071A-84F4-BC79-5B85C45E8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1336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3" name="Text Box 25">
              <a:extLst>
                <a:ext uri="{FF2B5EF4-FFF2-40B4-BE49-F238E27FC236}">
                  <a16:creationId xmlns:a16="http://schemas.microsoft.com/office/drawing/2014/main" id="{BC07F713-0C19-C45D-2410-14B0AF18C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088" y="46640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4" name="Text Box 26">
              <a:extLst>
                <a:ext uri="{FF2B5EF4-FFF2-40B4-BE49-F238E27FC236}">
                  <a16:creationId xmlns:a16="http://schemas.microsoft.com/office/drawing/2014/main" id="{0DAB129E-275A-773B-B406-049361B44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39624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5" name="Text Box 27">
              <a:extLst>
                <a:ext uri="{FF2B5EF4-FFF2-40B4-BE49-F238E27FC236}">
                  <a16:creationId xmlns:a16="http://schemas.microsoft.com/office/drawing/2014/main" id="{C7217BFB-26DE-4E24-A17F-5E2607851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0488" y="32924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6" name="Text Box 28">
              <a:extLst>
                <a:ext uri="{FF2B5EF4-FFF2-40B4-BE49-F238E27FC236}">
                  <a16:creationId xmlns:a16="http://schemas.microsoft.com/office/drawing/2014/main" id="{4F3894BA-E287-BE99-7A56-B2A7AADDB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7488" y="43592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7917" name="Group 29">
              <a:extLst>
                <a:ext uri="{FF2B5EF4-FFF2-40B4-BE49-F238E27FC236}">
                  <a16:creationId xmlns:a16="http://schemas.microsoft.com/office/drawing/2014/main" id="{DFC58B78-6C9D-B2A8-2214-8EA1C6F616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5200" y="4359275"/>
              <a:ext cx="457200" cy="396875"/>
              <a:chOff x="4896" y="1680"/>
              <a:chExt cx="288" cy="250"/>
            </a:xfrm>
          </p:grpSpPr>
          <p:sp>
            <p:nvSpPr>
              <p:cNvPr id="37921" name="Text Box 30">
                <a:extLst>
                  <a:ext uri="{FF2B5EF4-FFF2-40B4-BE49-F238E27FC236}">
                    <a16:creationId xmlns:a16="http://schemas.microsoft.com/office/drawing/2014/main" id="{660739ED-495C-DA27-286F-EC13AC88E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1680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</a:t>
                </a:r>
                <a:endPara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22" name="Freeform 31">
                <a:extLst>
                  <a:ext uri="{FF2B5EF4-FFF2-40B4-BE49-F238E27FC236}">
                    <a16:creationId xmlns:a16="http://schemas.microsoft.com/office/drawing/2014/main" id="{A5BC3034-7AA4-D1F2-E724-47C56FEB8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7" y="1773"/>
                <a:ext cx="72" cy="87"/>
              </a:xfrm>
              <a:custGeom>
                <a:avLst/>
                <a:gdLst>
                  <a:gd name="T0" fmla="*/ 0 w 72"/>
                  <a:gd name="T1" fmla="*/ 87 h 87"/>
                  <a:gd name="T2" fmla="*/ 37 w 72"/>
                  <a:gd name="T3" fmla="*/ 0 h 87"/>
                  <a:gd name="T4" fmla="*/ 72 w 72"/>
                  <a:gd name="T5" fmla="*/ 87 h 87"/>
                  <a:gd name="T6" fmla="*/ 0 w 72"/>
                  <a:gd name="T7" fmla="*/ 87 h 8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87"/>
                  <a:gd name="T14" fmla="*/ 72 w 72"/>
                  <a:gd name="T15" fmla="*/ 87 h 8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87">
                    <a:moveTo>
                      <a:pt x="0" y="87"/>
                    </a:moveTo>
                    <a:lnTo>
                      <a:pt x="37" y="0"/>
                    </a:lnTo>
                    <a:lnTo>
                      <a:pt x="72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00A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918" name="Text Box 32">
              <a:extLst>
                <a:ext uri="{FF2B5EF4-FFF2-40B4-BE49-F238E27FC236}">
                  <a16:creationId xmlns:a16="http://schemas.microsoft.com/office/drawing/2014/main" id="{992A5017-FBBB-DB91-F645-73EC53D2E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8088" y="39782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9" name="Text Box 33">
              <a:extLst>
                <a:ext uri="{FF2B5EF4-FFF2-40B4-BE49-F238E27FC236}">
                  <a16:creationId xmlns:a16="http://schemas.microsoft.com/office/drawing/2014/main" id="{E467C70F-9DFD-8B13-8743-A436418B1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5288" y="2530475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Lucida Sans" panose="020B0602030504020204" pitchFamily="34" charset="0"/>
                  <a:ea typeface="宋体" panose="02010600030101010101" pitchFamily="2" charset="-122"/>
                </a:rPr>
                <a:t>x</a:t>
              </a:r>
              <a:endParaRPr lang="en-US" altLang="zh-CN" sz="2400">
                <a:latin typeface="Arial Black" panose="020B0A040201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920" name="TextBox 34">
            <a:extLst>
              <a:ext uri="{FF2B5EF4-FFF2-40B4-BE49-F238E27FC236}">
                <a16:creationId xmlns:a16="http://schemas.microsoft.com/office/drawing/2014/main" id="{190CA717-E917-3697-8BF1-12E7186B5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9.1.1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EA8C6A2-230C-7E84-5B91-8DD68130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Rocchio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1971 Algorithm (SMART)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43F7C51-F0D6-E7BF-7093-00610770032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87669" y="1752600"/>
            <a:ext cx="9932276" cy="444850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Used in practice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 of </a:t>
            </a:r>
            <a:r>
              <a:rPr lang="en-US" altLang="zh-CN" sz="28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known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relevant doc vectors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nr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set of </a:t>
            </a:r>
            <a:r>
              <a:rPr lang="en-US" altLang="zh-CN" sz="28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known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irrelevant doc vectors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l-GR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α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l-GR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β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l-GR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γ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weights (hand-chosen or set empirically)</a:t>
            </a:r>
          </a:p>
        </p:txBody>
      </p:sp>
      <p:graphicFrame>
        <p:nvGraphicFramePr>
          <p:cNvPr id="39940" name="Object 7">
            <a:extLst>
              <a:ext uri="{FF2B5EF4-FFF2-40B4-BE49-F238E27FC236}">
                <a16:creationId xmlns:a16="http://schemas.microsoft.com/office/drawing/2014/main" id="{DFB65378-206C-0D2F-0B90-074CCF3BC2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15109"/>
              </p:ext>
            </p:extLst>
          </p:nvPr>
        </p:nvGraphicFramePr>
        <p:xfrm>
          <a:off x="1902919" y="2388663"/>
          <a:ext cx="5491211" cy="104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3000" imgH="457200" progId="Equation.3">
                  <p:embed/>
                </p:oleObj>
              </mc:Choice>
              <mc:Fallback>
                <p:oleObj name="Equation" r:id="rId3" imgW="2413000" imgH="457200" progId="Equation.3">
                  <p:embed/>
                  <p:pic>
                    <p:nvPicPr>
                      <p:cNvPr id="39940" name="Object 7">
                        <a:extLst>
                          <a:ext uri="{FF2B5EF4-FFF2-40B4-BE49-F238E27FC236}">
                            <a16:creationId xmlns:a16="http://schemas.microsoft.com/office/drawing/2014/main" id="{DFB65378-206C-0D2F-0B90-074CCF3BC2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919" y="2388663"/>
                        <a:ext cx="5491211" cy="104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TextBox 6">
            <a:extLst>
              <a:ext uri="{FF2B5EF4-FFF2-40B4-BE49-F238E27FC236}">
                <a16:creationId xmlns:a16="http://schemas.microsoft.com/office/drawing/2014/main" id="{6ED2C404-071A-8D81-CBD3-D8E5E1974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4">
            <a:extLst>
              <a:ext uri="{FF2B5EF4-FFF2-40B4-BE49-F238E27FC236}">
                <a16:creationId xmlns:a16="http://schemas.microsoft.com/office/drawing/2014/main" id="{D312FDE5-2E83-CFE0-59C8-F7441E87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4310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Subtleties to note</a:t>
            </a:r>
          </a:p>
        </p:txBody>
      </p:sp>
      <p:sp>
        <p:nvSpPr>
          <p:cNvPr id="41987" name="Content Placeholder 5">
            <a:extLst>
              <a:ext uri="{FF2B5EF4-FFF2-40B4-BE49-F238E27FC236}">
                <a16:creationId xmlns:a16="http://schemas.microsoft.com/office/drawing/2014/main" id="{D9ACFC02-0345-76CA-2666-F0F1C63EF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Tradeoff </a:t>
            </a:r>
            <a:r>
              <a:rPr lang="el-GR" altLang="zh-TW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α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vs. </a:t>
            </a:r>
            <a:r>
              <a:rPr lang="el-GR" altLang="zh-TW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β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el-GR" altLang="zh-TW" dirty="0">
                <a:solidFill>
                  <a:srgbClr val="FF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γ</a:t>
            </a:r>
            <a:r>
              <a:rPr lang="en-US" altLang="zh-CN" dirty="0">
                <a:ea typeface="宋体" panose="02010600030101010101" pitchFamily="2" charset="-122"/>
              </a:rPr>
              <a:t>: If we </a:t>
            </a: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have a lot of judged documents</a:t>
            </a:r>
            <a:r>
              <a:rPr lang="en-US" altLang="zh-CN" dirty="0">
                <a:ea typeface="宋体" panose="02010600030101010101" pitchFamily="2" charset="-122"/>
              </a:rPr>
              <a:t>, we want a </a:t>
            </a: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higher </a:t>
            </a:r>
            <a:r>
              <a:rPr lang="el-GR" altLang="zh-TW" dirty="0">
                <a:solidFill>
                  <a:srgbClr val="00B05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β</a:t>
            </a: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/</a:t>
            </a:r>
            <a:r>
              <a:rPr lang="el-GR" altLang="zh-TW" dirty="0">
                <a:solidFill>
                  <a:srgbClr val="00B05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γ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Some weights in query vector can go negative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Negative term weights are ignored (set to 0)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TW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1988" name="TextBox 4">
            <a:extLst>
              <a:ext uri="{FF2B5EF4-FFF2-40B4-BE49-F238E27FC236}">
                <a16:creationId xmlns:a16="http://schemas.microsoft.com/office/drawing/2014/main" id="{29C8D598-6F19-E307-05D4-BBD00DC72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59C07AA-FEE7-EBFA-685E-442047AE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Relevance Feedback in vector spaces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ACD62CF-3234-922B-4B65-E27DDC245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690" y="1911350"/>
            <a:ext cx="9946990" cy="47180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We can modify the query based on relevance feedback and apply standard vector space model.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Use only the docs that were marked.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Relevance feedback can improve recall and precision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Relevance feedback is most useful for increasing </a:t>
            </a:r>
            <a:r>
              <a:rPr lang="en-US" altLang="zh-CN" i="1" dirty="0">
                <a:solidFill>
                  <a:srgbClr val="C00000"/>
                </a:solidFill>
                <a:ea typeface="宋体" panose="02010600030101010101" pitchFamily="2" charset="-122"/>
              </a:rPr>
              <a:t>recall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in situations where recall is important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Users can be expected to review results and to take time to iterate</a:t>
            </a:r>
          </a:p>
        </p:txBody>
      </p:sp>
      <p:sp>
        <p:nvSpPr>
          <p:cNvPr id="46084" name="TextBox 4">
            <a:extLst>
              <a:ext uri="{FF2B5EF4-FFF2-40B4-BE49-F238E27FC236}">
                <a16:creationId xmlns:a16="http://schemas.microsoft.com/office/drawing/2014/main" id="{4B6320F3-9F89-ED86-B120-EF4E15D81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6C37D71-7473-5727-B789-EF20C7EF8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Positive vs Negative Feedback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B6A1BC9-0D64-DB49-8A2F-C0394CF13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7669" y="1911350"/>
            <a:ext cx="9968011" cy="47180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Positive feedback is more valuable than negative feedback (so, set  </a:t>
            </a:r>
            <a:r>
              <a:rPr lang="en-GB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 &lt; ; e.g.  = 0.25,  = 0.75)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Many systems only allow positive feedback </a:t>
            </a:r>
            <a:r>
              <a:rPr lang="en-GB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(=0)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8132" name="TextBox 5">
            <a:extLst>
              <a:ext uri="{FF2B5EF4-FFF2-40B4-BE49-F238E27FC236}">
                <a16:creationId xmlns:a16="http://schemas.microsoft.com/office/drawing/2014/main" id="{C573320D-4471-E26F-A320-6EB48F754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C05997F-90CC-BA44-54C5-521A2F01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Relevance Feedback: Problems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91D1B99-8B3A-385B-14BC-A903151C9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7669" y="1911350"/>
            <a:ext cx="9968011" cy="471805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Long queries are inefficient for typical IR engine.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Long response times for user.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High cost for retrieval system.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Users are often reluctant to provide explicit feedback.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It’s often harder to understand why a particular document was retrieved after applying relevance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8ECFCF6-56D0-54D1-D740-646D31FC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11576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Excite Relevance Feedback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1DF2939-D4CA-FBF6-06BD-E995F145E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845733"/>
            <a:ext cx="10058400" cy="444996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</a:rPr>
              <a:t>Spink et al. 2000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Only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about 4% of query</a:t>
            </a:r>
            <a:r>
              <a:rPr lang="en-US" altLang="zh-CN" dirty="0">
                <a:ea typeface="宋体" panose="02010600030101010101" pitchFamily="2" charset="-122"/>
              </a:rPr>
              <a:t> sessions from a user used relevance feedback option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Expressed as “More like this” link next to each result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But about 70% of users only looked at first page of results.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So 4% is about 1/8 of people extending search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Relevance feedback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improved results about 2/3 of the time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0420" name="TextBox 4">
            <a:extLst>
              <a:ext uri="{FF2B5EF4-FFF2-40B4-BE49-F238E27FC236}">
                <a16:creationId xmlns:a16="http://schemas.microsoft.com/office/drawing/2014/main" id="{CB8C4A5E-6F89-EF5A-CD95-56ED88441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8F355E21-CFF7-C7AF-B53A-C380BD86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90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Pseudo relevance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C635A-E68F-A419-D91D-E45A70B84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13328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Pseudo-relevance feedback </a:t>
            </a:r>
            <a:r>
              <a:rPr lang="en-US" dirty="0">
                <a:solidFill>
                  <a:srgbClr val="FF0000"/>
                </a:solidFill>
              </a:rPr>
              <a:t>automates the “manual” part</a:t>
            </a:r>
            <a:r>
              <a:rPr lang="en-US" dirty="0"/>
              <a:t> of true relevance feedback.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Pseudo-relevance algorithm: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Retrieve a ranked list of hits for the user’s query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Assume that the top k documents are relevant.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Do relevance feedback (e.g., </a:t>
            </a:r>
            <a:r>
              <a:rPr lang="en-US" dirty="0" err="1">
                <a:solidFill>
                  <a:srgbClr val="00B050"/>
                </a:solidFill>
                <a:ea typeface="+mn-ea"/>
              </a:rPr>
              <a:t>Rocchio</a:t>
            </a:r>
            <a:r>
              <a:rPr lang="en-US" dirty="0">
                <a:solidFill>
                  <a:srgbClr val="00B050"/>
                </a:solidFill>
                <a:ea typeface="+mn-ea"/>
              </a:rPr>
              <a:t>)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Works very well on average </a:t>
            </a:r>
            <a:r>
              <a:rPr lang="en-US" dirty="0">
                <a:solidFill>
                  <a:srgbClr val="C00000"/>
                </a:solidFill>
              </a:rPr>
              <a:t>But can go horribly wrong for some queries.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2468" name="TextBox 4">
            <a:extLst>
              <a:ext uri="{FF2B5EF4-FFF2-40B4-BE49-F238E27FC236}">
                <a16:creationId xmlns:a16="http://schemas.microsoft.com/office/drawing/2014/main" id="{F11B1EB5-1106-3E21-038C-A185CE396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9.1.6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88BF783-B2CB-6A63-F418-160566C2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1698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Query Expansion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2E8B508-3770-FC45-7ADB-A063AD0AA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179" y="1911350"/>
            <a:ext cx="9957501" cy="4321284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u="sng" dirty="0">
                <a:ea typeface="宋体" panose="02010600030101010101" pitchFamily="2" charset="-122"/>
              </a:rPr>
              <a:t>In relevance feedback</a:t>
            </a:r>
            <a:r>
              <a:rPr lang="en-US" altLang="zh-CN" dirty="0">
                <a:ea typeface="宋体" panose="02010600030101010101" pitchFamily="2" charset="-122"/>
              </a:rPr>
              <a:t>, users give additional input (relevant/non-relevant) on 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</a:rPr>
              <a:t>documents</a:t>
            </a:r>
            <a:r>
              <a:rPr lang="en-US" altLang="zh-CN" dirty="0">
                <a:ea typeface="宋体" panose="02010600030101010101" pitchFamily="2" charset="-122"/>
              </a:rPr>
              <a:t>, which is used to reweight terms in the documents.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u="sng" dirty="0">
                <a:ea typeface="宋体" panose="02010600030101010101" pitchFamily="2" charset="-122"/>
              </a:rPr>
              <a:t>In query expansion</a:t>
            </a:r>
            <a:r>
              <a:rPr lang="en-US" altLang="zh-CN" dirty="0">
                <a:ea typeface="宋体" panose="02010600030101010101" pitchFamily="2" charset="-122"/>
              </a:rPr>
              <a:t>, users give additional input (good/bad search term) on </a:t>
            </a:r>
            <a:r>
              <a:rPr lang="en-US" altLang="zh-CN" dirty="0">
                <a:solidFill>
                  <a:schemeClr val="folHlink"/>
                </a:solidFill>
                <a:ea typeface="宋体" panose="02010600030101010101" pitchFamily="2" charset="-122"/>
              </a:rPr>
              <a:t>words or phrases.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4516" name="TextBox 4">
            <a:extLst>
              <a:ext uri="{FF2B5EF4-FFF2-40B4-BE49-F238E27FC236}">
                <a16:creationId xmlns:a16="http://schemas.microsoft.com/office/drawing/2014/main" id="{F2A5FAA8-D158-24B8-1941-3A6816664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9.2.2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D8ABE717-1A69-BC11-3043-00BFA77FB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Query assist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01D88-B65E-A0CB-AF33-2995DC59F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CD8BD-17D6-DE57-CA1E-6F0E821E9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618" y="1845734"/>
            <a:ext cx="8355723" cy="44389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6C982DE-686B-E80E-6FEB-89E210430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848" y="402020"/>
            <a:ext cx="80772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How do we augment the user query?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38CD4DA-369A-4916-DE70-CBE8E48EF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5117" y="1911350"/>
            <a:ext cx="10016359" cy="433179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Manual thesaurus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E.g. </a:t>
            </a:r>
            <a:r>
              <a:rPr lang="en-US" altLang="zh-CN" dirty="0" err="1">
                <a:ea typeface="宋体" panose="02010600030101010101" pitchFamily="2" charset="-122"/>
              </a:rPr>
              <a:t>MedLine</a:t>
            </a:r>
            <a:r>
              <a:rPr lang="en-US" altLang="zh-CN" dirty="0">
                <a:ea typeface="宋体" panose="02010600030101010101" pitchFamily="2" charset="-122"/>
              </a:rPr>
              <a:t>: physician, syn: doc, doctor, MD, medico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Can be query rather than just synonyms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Global Analysis: </a:t>
            </a:r>
            <a:r>
              <a:rPr lang="en-US" altLang="zh-CN" sz="2200" dirty="0">
                <a:solidFill>
                  <a:srgbClr val="00B050"/>
                </a:solidFill>
                <a:ea typeface="宋体" panose="02010600030101010101" pitchFamily="2" charset="-122"/>
              </a:rPr>
              <a:t>(static; of all documents in collection)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Automatically derived thesaurus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(co-occurrence statistics)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Refinements based on query log mining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folHlink"/>
              </a:solidFill>
              <a:ea typeface="宋体" panose="02010600030101010101" pitchFamily="2" charset="-122"/>
            </a:endParaRPr>
          </a:p>
        </p:txBody>
      </p:sp>
      <p:sp>
        <p:nvSpPr>
          <p:cNvPr id="68612" name="TextBox 4">
            <a:extLst>
              <a:ext uri="{FF2B5EF4-FFF2-40B4-BE49-F238E27FC236}">
                <a16:creationId xmlns:a16="http://schemas.microsoft.com/office/drawing/2014/main" id="{EF476C61-6FBF-58FD-D0BC-4F57424EA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9.2.2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AA147E0-731A-2B19-3BB6-C0CB7418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91511"/>
            <a:ext cx="82296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Thesaurus-based query expansion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5B3AC2E-D237-DB43-B038-B386B609B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845733"/>
            <a:ext cx="10058400" cy="462075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For each term,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, in a query,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expand</a:t>
            </a:r>
            <a:r>
              <a:rPr lang="en-US" altLang="zh-CN" dirty="0">
                <a:ea typeface="宋体" panose="02010600030101010101" pitchFamily="2" charset="-122"/>
              </a:rPr>
              <a:t> the query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with synonyms and related words</a:t>
            </a:r>
            <a:r>
              <a:rPr lang="en-US" altLang="zh-CN" dirty="0">
                <a:ea typeface="宋体" panose="02010600030101010101" pitchFamily="2" charset="-122"/>
              </a:rPr>
              <a:t> of 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from the thesaurus</a:t>
            </a:r>
            <a:endParaRPr lang="en-US" altLang="zh-CN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</a:rPr>
              <a:t>May weight added terms less than original query terms.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Generally increases recall,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widely used in many science/engineering fields.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 May significantly decrease precision, particularly with ambiguous terms.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There is a high cost of manually producing a thesaurus.</a:t>
            </a:r>
          </a:p>
        </p:txBody>
      </p:sp>
      <p:sp>
        <p:nvSpPr>
          <p:cNvPr id="72708" name="TextBox 4">
            <a:extLst>
              <a:ext uri="{FF2B5EF4-FFF2-40B4-BE49-F238E27FC236}">
                <a16:creationId xmlns:a16="http://schemas.microsoft.com/office/drawing/2014/main" id="{5F5071B7-56D6-89F3-13E1-C6E9B1708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9.2.2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31F0D27-A519-FEC5-F384-F8EC1A8E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90556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Automatic Thesaurus Generation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1EEDF494-9F40-6DE7-957F-C307FE141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79" y="1676400"/>
            <a:ext cx="10058399" cy="471805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Fundamental notion: similarity between two words.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Definition 1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 Two words are similar if they co-occur with similar words.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solidFill>
                  <a:schemeClr val="tx1"/>
                </a:solidFill>
                <a:ea typeface="ＭＳ Ｐゴシック" panose="020B0600070205080204" pitchFamily="34" charset="-128"/>
              </a:rPr>
              <a:t>Definition 2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: Two words are similar if they occur in a given grammatical relation with the same words.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Co-occurrence based is more robust, grammatical relations are more accurate.</a:t>
            </a:r>
          </a:p>
        </p:txBody>
      </p:sp>
      <p:sp>
        <p:nvSpPr>
          <p:cNvPr id="74757" name="TextBox 5">
            <a:extLst>
              <a:ext uri="{FF2B5EF4-FFF2-40B4-BE49-F238E27FC236}">
                <a16:creationId xmlns:a16="http://schemas.microsoft.com/office/drawing/2014/main" id="{D43620B6-370B-48F2-21FA-B8BFEDE19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9.2.3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FD286E5-8B06-98DC-D46E-E86205BD8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329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Co-occurrence Thesaurus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84AE47C-A9D9-8F5D-F3D3-DDB2626CE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179" y="1752599"/>
            <a:ext cx="10058400" cy="4501055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 Simplest way to compute one is based on term-term similarities in </a:t>
            </a:r>
            <a:r>
              <a:rPr lang="en-US" altLang="zh-CN" sz="2400" i="1" dirty="0">
                <a:ea typeface="宋体" panose="02010600030101010101" pitchFamily="2" charset="-122"/>
                <a:cs typeface="Arial" panose="020B0604020202020204" pitchFamily="34" charset="0"/>
              </a:rPr>
              <a:t>C = AA</a:t>
            </a:r>
            <a:r>
              <a:rPr lang="en-US" altLang="zh-CN" sz="2400" i="1" baseline="30000" dirty="0">
                <a:ea typeface="宋体" panose="02010600030101010101" pitchFamily="2" charset="-122"/>
                <a:cs typeface="Arial" panose="020B0604020202020204" pitchFamily="34" charset="0"/>
              </a:rPr>
              <a:t>T </a:t>
            </a: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where </a:t>
            </a:r>
            <a:r>
              <a:rPr lang="en-US" altLang="zh-CN" sz="2400" i="1" dirty="0"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 is term-document matrix.</a:t>
            </a:r>
            <a:endParaRPr lang="en-US" altLang="zh-CN" sz="2400" baseline="30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i="1" dirty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ea typeface="宋体" panose="02010600030101010101" pitchFamily="2" charset="-122"/>
                <a:cs typeface="Arial" panose="020B0604020202020204" pitchFamily="34" charset="0"/>
              </a:rPr>
              <a:t>w</a:t>
            </a:r>
            <a:r>
              <a:rPr lang="en-US" altLang="zh-CN" sz="24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i,j</a:t>
            </a:r>
            <a:r>
              <a:rPr lang="en-US" altLang="zh-CN" sz="2400" i="1" dirty="0">
                <a:ea typeface="宋体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(normalized) weight for (</a:t>
            </a:r>
            <a:r>
              <a:rPr lang="en-US" altLang="zh-CN" sz="2400" i="1" dirty="0" err="1"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i="1" baseline="-25000" dirty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2400" b="1" i="1" dirty="0" err="1">
                <a:ea typeface="宋体" panose="0201060003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4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 For each </a:t>
            </a:r>
            <a:r>
              <a:rPr lang="en-US" altLang="zh-CN" sz="2400" i="1" dirty="0" err="1">
                <a:ea typeface="宋体" panose="0201060003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i="1" baseline="-25000" dirty="0" err="1"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, pick terms with high values in </a:t>
            </a:r>
            <a:r>
              <a:rPr lang="en-US" altLang="zh-CN" sz="2400" i="1" dirty="0">
                <a:ea typeface="宋体" panose="02010600030101010101" pitchFamily="2" charset="-122"/>
                <a:cs typeface="Arial" panose="020B0604020202020204" pitchFamily="34" charset="0"/>
              </a:rPr>
              <a:t>C.</a:t>
            </a:r>
            <a:r>
              <a:rPr lang="en-US" altLang="zh-CN" sz="2400" dirty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6E4549-23D7-A50A-B944-38E66104BC11}"/>
              </a:ext>
            </a:extLst>
          </p:cNvPr>
          <p:cNvGrpSpPr/>
          <p:nvPr/>
        </p:nvGrpSpPr>
        <p:grpSpPr>
          <a:xfrm>
            <a:off x="2362200" y="2986249"/>
            <a:ext cx="7160174" cy="2363553"/>
            <a:chOff x="2286000" y="2819400"/>
            <a:chExt cx="7772401" cy="2961493"/>
          </a:xfrm>
        </p:grpSpPr>
        <p:sp>
          <p:nvSpPr>
            <p:cNvPr id="1373188" name="Rectangle 4">
              <a:extLst>
                <a:ext uri="{FF2B5EF4-FFF2-40B4-BE49-F238E27FC236}">
                  <a16:creationId xmlns:a16="http://schemas.microsoft.com/office/drawing/2014/main" id="{95751F53-6A3C-4364-1D51-5D066D6A8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306763"/>
              <a:ext cx="4648200" cy="220980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805" name="Rectangle 5">
              <a:extLst>
                <a:ext uri="{FF2B5EF4-FFF2-40B4-BE49-F238E27FC236}">
                  <a16:creationId xmlns:a16="http://schemas.microsoft.com/office/drawing/2014/main" id="{A9DB697C-5A08-0D62-9011-B76628BA2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916363"/>
              <a:ext cx="4648200" cy="2286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00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76806" name="Text Box 6">
              <a:extLst>
                <a:ext uri="{FF2B5EF4-FFF2-40B4-BE49-F238E27FC236}">
                  <a16:creationId xmlns:a16="http://schemas.microsoft.com/office/drawing/2014/main" id="{EDBEF0D2-E2D3-16C8-A6FE-113F2B367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810000"/>
              <a:ext cx="685800" cy="50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lang="en-US" altLang="zh-CN" sz="2000" i="1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807" name="Rectangle 7">
              <a:extLst>
                <a:ext uri="{FF2B5EF4-FFF2-40B4-BE49-F238E27FC236}">
                  <a16:creationId xmlns:a16="http://schemas.microsoft.com/office/drawing/2014/main" id="{A1210F2C-0E30-3061-6BC0-81B5D0E46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3306763"/>
              <a:ext cx="228600" cy="22098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00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76808" name="Rectangle 8">
              <a:extLst>
                <a:ext uri="{FF2B5EF4-FFF2-40B4-BE49-F238E27FC236}">
                  <a16:creationId xmlns:a16="http://schemas.microsoft.com/office/drawing/2014/main" id="{20D04833-F65F-AB1B-F88C-482EA5EDD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3916363"/>
              <a:ext cx="228600" cy="228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00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76809" name="Text Box 9">
              <a:extLst>
                <a:ext uri="{FF2B5EF4-FFF2-40B4-BE49-F238E27FC236}">
                  <a16:creationId xmlns:a16="http://schemas.microsoft.com/office/drawing/2014/main" id="{1B580231-6100-44F5-5262-45840B13B1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2819400"/>
              <a:ext cx="685800" cy="501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sz="2000" i="1" baseline="-25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j</a:t>
              </a:r>
              <a:endPara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810" name="Text Box 10">
              <a:extLst>
                <a:ext uri="{FF2B5EF4-FFF2-40B4-BE49-F238E27FC236}">
                  <a16:creationId xmlns:a16="http://schemas.microsoft.com/office/drawing/2014/main" id="{29DA4703-2237-F405-182F-F32EAF57F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5351" y="2971800"/>
              <a:ext cx="688975" cy="462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6811" name="Text Box 11">
              <a:extLst>
                <a:ext uri="{FF2B5EF4-FFF2-40B4-BE49-F238E27FC236}">
                  <a16:creationId xmlns:a16="http://schemas.microsoft.com/office/drawing/2014/main" id="{A890A4CF-4057-AC03-8982-B581340B5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6639" y="5318126"/>
              <a:ext cx="688975" cy="462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373198" name="Rectangle 14">
              <a:extLst>
                <a:ext uri="{FF2B5EF4-FFF2-40B4-BE49-F238E27FC236}">
                  <a16:creationId xmlns:a16="http://schemas.microsoft.com/office/drawing/2014/main" id="{6DFC488C-0E17-9B74-2D6D-D9B49C2BC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1" y="3389721"/>
              <a:ext cx="1828800" cy="204388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What does </a:t>
              </a:r>
              <a:r>
                <a:rPr lang="en-US" altLang="zh-CN" sz="20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contain if </a:t>
              </a:r>
              <a:r>
                <a:rPr lang="en-US" altLang="zh-CN" sz="20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is a term-doc incidence (0/1) matrix?</a:t>
              </a:r>
            </a:p>
          </p:txBody>
        </p:sp>
      </p:grpSp>
      <p:sp>
        <p:nvSpPr>
          <p:cNvPr id="76813" name="TextBox 13">
            <a:extLst>
              <a:ext uri="{FF2B5EF4-FFF2-40B4-BE49-F238E27FC236}">
                <a16:creationId xmlns:a16="http://schemas.microsoft.com/office/drawing/2014/main" id="{665C899F-BAC1-BEA3-EC23-E0CE0B1A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9.2.3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AA147E0-731A-2B19-3BB6-C0CB7418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91511"/>
            <a:ext cx="82296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Automatic Thesaurus Generation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5B3AC2E-D237-DB43-B038-B386B609B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845733"/>
            <a:ext cx="10058400" cy="4620756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Quality of associations is usually a problem.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 Term ambiguity may introduce irrelevant statistically correlated terms.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“Apple computer” </a:t>
            </a: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 “Apple red fruit computer”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GB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Problems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False positives: Words deemed similar that are not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False negatives: Words deemed dissimilar that are similar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chemeClr val="tx1"/>
                </a:solidFill>
                <a:ea typeface="宋体" panose="02010600030101010101" pitchFamily="2" charset="-122"/>
              </a:rPr>
              <a:t> Since terms are highly correlated anyway, expansion may not retrieve many additional documents.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2708" name="TextBox 4">
            <a:extLst>
              <a:ext uri="{FF2B5EF4-FFF2-40B4-BE49-F238E27FC236}">
                <a16:creationId xmlns:a16="http://schemas.microsoft.com/office/drawing/2014/main" id="{5F5071B7-56D6-89F3-13E1-C6E9B1708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</a:rPr>
              <a:t>Sec. 9.2.2</a:t>
            </a:r>
          </a:p>
        </p:txBody>
      </p:sp>
    </p:spTree>
    <p:extLst>
      <p:ext uri="{BB962C8B-B14F-4D97-AF65-F5344CB8AC3E}">
        <p14:creationId xmlns:p14="http://schemas.microsoft.com/office/powerpoint/2010/main" val="2262469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6E35E6F1-D795-DBCC-34EE-8C2D22D6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1972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Thesaurus-based query expansion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2948" name="Slide Number Placeholder 3">
            <a:extLst>
              <a:ext uri="{FF2B5EF4-FFF2-40B4-BE49-F238E27FC236}">
                <a16:creationId xmlns:a16="http://schemas.microsoft.com/office/drawing/2014/main" id="{7A71F28C-FB5E-1E4C-1486-2151C8A89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charset="0"/>
              </a:defRPr>
            </a:lvl9pPr>
          </a:lstStyle>
          <a:p>
            <a:fld id="{57454C0D-BD73-4C9F-A287-FB28688B87CE}" type="slidenum">
              <a:rPr lang="en-US" altLang="zh-TW" sz="1200">
                <a:solidFill>
                  <a:srgbClr val="898989"/>
                </a:solidFill>
                <a:latin typeface="Calibri" panose="020F0502020204030204" pitchFamily="34" charset="0"/>
              </a:rPr>
              <a:pPr/>
              <a:t>20</a:t>
            </a:fld>
            <a:endParaRPr lang="en-US" altLang="zh-TW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651B1E-05B8-31A3-0182-9D75A8ED95F5}"/>
              </a:ext>
            </a:extLst>
          </p:cNvPr>
          <p:cNvGrpSpPr/>
          <p:nvPr/>
        </p:nvGrpSpPr>
        <p:grpSpPr>
          <a:xfrm>
            <a:off x="2502693" y="2880461"/>
            <a:ext cx="7186614" cy="2841624"/>
            <a:chOff x="3028950" y="3289301"/>
            <a:chExt cx="7186614" cy="284162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261ED54-2B65-4716-6981-A635803C493C}"/>
                </a:ext>
              </a:extLst>
            </p:cNvPr>
            <p:cNvCxnSpPr/>
            <p:nvPr/>
          </p:nvCxnSpPr>
          <p:spPr>
            <a:xfrm>
              <a:off x="3276600" y="5486400"/>
              <a:ext cx="6248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950" name="TextBox 6">
              <a:extLst>
                <a:ext uri="{FF2B5EF4-FFF2-40B4-BE49-F238E27FC236}">
                  <a16:creationId xmlns:a16="http://schemas.microsoft.com/office/drawing/2014/main" id="{96901B92-14DD-2647-80F3-F57C482BA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50" y="5557838"/>
              <a:ext cx="4953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r>
                <a:rPr lang="en-US" altLang="en-US"/>
                <a:t>t1</a:t>
              </a:r>
            </a:p>
          </p:txBody>
        </p:sp>
        <p:sp>
          <p:nvSpPr>
            <p:cNvPr id="82951" name="TextBox 8">
              <a:extLst>
                <a:ext uri="{FF2B5EF4-FFF2-40B4-BE49-F238E27FC236}">
                  <a16:creationId xmlns:a16="http://schemas.microsoft.com/office/drawing/2014/main" id="{436062FD-4870-DB08-9E09-F9B176663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7350" y="5668963"/>
              <a:ext cx="4953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r>
                <a:rPr lang="en-US" altLang="en-US"/>
                <a:t>t2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1B6CA8C-093E-308C-51EC-72B52B169490}"/>
                </a:ext>
              </a:extLst>
            </p:cNvPr>
            <p:cNvSpPr/>
            <p:nvPr/>
          </p:nvSpPr>
          <p:spPr>
            <a:xfrm>
              <a:off x="3186113" y="5368925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0129E47-5A67-DD95-B2C8-8C60D6E6EF5B}"/>
                </a:ext>
              </a:extLst>
            </p:cNvPr>
            <p:cNvSpPr/>
            <p:nvPr/>
          </p:nvSpPr>
          <p:spPr>
            <a:xfrm>
              <a:off x="9428163" y="5349875"/>
              <a:ext cx="228600" cy="2286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4C239CC-650B-B079-FAFF-F62AC696559B}"/>
                </a:ext>
              </a:extLst>
            </p:cNvPr>
            <p:cNvSpPr/>
            <p:nvPr/>
          </p:nvSpPr>
          <p:spPr>
            <a:xfrm>
              <a:off x="6291263" y="5368925"/>
              <a:ext cx="228600" cy="228600"/>
            </a:xfrm>
            <a:prstGeom prst="ellipse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2955" name="TextBox 13">
              <a:extLst>
                <a:ext uri="{FF2B5EF4-FFF2-40B4-BE49-F238E27FC236}">
                  <a16:creationId xmlns:a16="http://schemas.microsoft.com/office/drawing/2014/main" id="{6C5681F8-6618-2E4B-3020-5DA01E5A1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3151" y="5646739"/>
              <a:ext cx="37941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r>
                <a:rPr lang="en-US" altLang="en-US"/>
                <a:t>q</a:t>
              </a:r>
            </a:p>
          </p:txBody>
        </p:sp>
        <p:sp>
          <p:nvSpPr>
            <p:cNvPr id="82956" name="TextBox 14">
              <a:extLst>
                <a:ext uri="{FF2B5EF4-FFF2-40B4-BE49-F238E27FC236}">
                  <a16:creationId xmlns:a16="http://schemas.microsoft.com/office/drawing/2014/main" id="{84E756EF-283D-1090-5479-5E4A9CA6A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413" y="4029076"/>
              <a:ext cx="4937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r>
                <a:rPr lang="en-US" altLang="en-US"/>
                <a:t>t3</a:t>
              </a:r>
            </a:p>
          </p:txBody>
        </p:sp>
        <p:sp>
          <p:nvSpPr>
            <p:cNvPr id="82957" name="TextBox 15">
              <a:extLst>
                <a:ext uri="{FF2B5EF4-FFF2-40B4-BE49-F238E27FC236}">
                  <a16:creationId xmlns:a16="http://schemas.microsoft.com/office/drawing/2014/main" id="{F72CFA48-5E0A-AB77-ED86-96492ED99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1" y="3289301"/>
              <a:ext cx="4937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r>
                <a:rPr lang="en-US" altLang="en-US"/>
                <a:t>t4</a:t>
              </a:r>
            </a:p>
          </p:txBody>
        </p:sp>
        <p:sp>
          <p:nvSpPr>
            <p:cNvPr id="82958" name="TextBox 16">
              <a:extLst>
                <a:ext uri="{FF2B5EF4-FFF2-40B4-BE49-F238E27FC236}">
                  <a16:creationId xmlns:a16="http://schemas.microsoft.com/office/drawing/2014/main" id="{1098537D-84BB-67B7-CDFD-6F2CFEC0A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1" y="3786188"/>
              <a:ext cx="493713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r>
                <a:rPr lang="en-US" altLang="en-US"/>
                <a:t>t5</a:t>
              </a:r>
            </a:p>
          </p:txBody>
        </p:sp>
        <p:sp>
          <p:nvSpPr>
            <p:cNvPr id="82959" name="TextBox 17">
              <a:extLst>
                <a:ext uri="{FF2B5EF4-FFF2-40B4-BE49-F238E27FC236}">
                  <a16:creationId xmlns:a16="http://schemas.microsoft.com/office/drawing/2014/main" id="{33FFAB4A-4BC1-B404-5892-F9F423F22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1851" y="4114801"/>
              <a:ext cx="49371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panose="020B0602030504020204" pitchFamily="34" charset="0"/>
                  <a:cs typeface="Arial Unicode MS" charset="0"/>
                </a:defRPr>
              </a:lvl9pPr>
            </a:lstStyle>
            <a:p>
              <a:r>
                <a:rPr lang="en-US" altLang="en-US"/>
                <a:t>t6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ABDB733-B52E-45DB-0B9B-F443E2779F0A}"/>
                </a:ext>
              </a:extLst>
            </p:cNvPr>
            <p:cNvSpPr/>
            <p:nvPr/>
          </p:nvSpPr>
          <p:spPr>
            <a:xfrm>
              <a:off x="3414713" y="4418013"/>
              <a:ext cx="228600" cy="2286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3C5FAEA-E1D4-2816-409B-3A3F3BF1D2EB}"/>
                </a:ext>
              </a:extLst>
            </p:cNvPr>
            <p:cNvSpPr/>
            <p:nvPr/>
          </p:nvSpPr>
          <p:spPr>
            <a:xfrm>
              <a:off x="5619750" y="3657600"/>
              <a:ext cx="228600" cy="2286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A31B13-178B-B6C3-ECAB-88B81C711AF5}"/>
                </a:ext>
              </a:extLst>
            </p:cNvPr>
            <p:cNvSpPr/>
            <p:nvPr/>
          </p:nvSpPr>
          <p:spPr>
            <a:xfrm>
              <a:off x="6959600" y="4238625"/>
              <a:ext cx="228600" cy="2286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160B39D-3476-A4E4-2DCD-8C8A8F016D45}"/>
                </a:ext>
              </a:extLst>
            </p:cNvPr>
            <p:cNvSpPr/>
            <p:nvPr/>
          </p:nvSpPr>
          <p:spPr>
            <a:xfrm>
              <a:off x="9850438" y="4492625"/>
              <a:ext cx="228600" cy="2286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F1379E0-2445-6E89-E119-E17285C1199C}"/>
                </a:ext>
              </a:extLst>
            </p:cNvPr>
            <p:cNvCxnSpPr>
              <a:stCxn id="19" idx="4"/>
              <a:endCxn id="10" idx="0"/>
            </p:cNvCxnSpPr>
            <p:nvPr/>
          </p:nvCxnSpPr>
          <p:spPr>
            <a:xfrm flipH="1">
              <a:off x="3300413" y="4646613"/>
              <a:ext cx="228600" cy="7223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0A6380F-B94F-E651-5FE6-A70505B8FF56}"/>
                </a:ext>
              </a:extLst>
            </p:cNvPr>
            <p:cNvCxnSpPr>
              <a:stCxn id="19" idx="4"/>
              <a:endCxn id="13" idx="1"/>
            </p:cNvCxnSpPr>
            <p:nvPr/>
          </p:nvCxnSpPr>
          <p:spPr>
            <a:xfrm>
              <a:off x="3529014" y="4646613"/>
              <a:ext cx="2797175" cy="7556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C5902E4-DB77-5CE0-3070-C551839DE791}"/>
                </a:ext>
              </a:extLst>
            </p:cNvPr>
            <p:cNvCxnSpPr>
              <a:stCxn id="22" idx="4"/>
              <a:endCxn id="12" idx="0"/>
            </p:cNvCxnSpPr>
            <p:nvPr/>
          </p:nvCxnSpPr>
          <p:spPr>
            <a:xfrm flipH="1">
              <a:off x="9542464" y="4721225"/>
              <a:ext cx="422275" cy="6286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FE87E2B-72CE-26AF-F3A3-53F2CF994350}"/>
                </a:ext>
              </a:extLst>
            </p:cNvPr>
            <p:cNvCxnSpPr>
              <a:stCxn id="22" idx="4"/>
              <a:endCxn id="13" idx="7"/>
            </p:cNvCxnSpPr>
            <p:nvPr/>
          </p:nvCxnSpPr>
          <p:spPr>
            <a:xfrm flipH="1">
              <a:off x="6486526" y="4721225"/>
              <a:ext cx="3478213" cy="6810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70A262B-ABC1-00A3-56A3-5B098A992DDA}"/>
                </a:ext>
              </a:extLst>
            </p:cNvPr>
            <p:cNvCxnSpPr>
              <a:stCxn id="20" idx="4"/>
              <a:endCxn id="13" idx="0"/>
            </p:cNvCxnSpPr>
            <p:nvPr/>
          </p:nvCxnSpPr>
          <p:spPr>
            <a:xfrm>
              <a:off x="5734051" y="3886201"/>
              <a:ext cx="671513" cy="1482725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356C8F5-CFD5-2C7B-F711-19B3650FF52E}"/>
                </a:ext>
              </a:extLst>
            </p:cNvPr>
            <p:cNvCxnSpPr>
              <a:stCxn id="21" idx="4"/>
              <a:endCxn id="13" idx="0"/>
            </p:cNvCxnSpPr>
            <p:nvPr/>
          </p:nvCxnSpPr>
          <p:spPr>
            <a:xfrm flipH="1">
              <a:off x="6405564" y="4467225"/>
              <a:ext cx="668337" cy="901700"/>
            </a:xfrm>
            <a:prstGeom prst="straightConnector1">
              <a:avLst/>
            </a:prstGeom>
            <a:ln>
              <a:prstDash val="dashDot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A38F-1851-42C0-4447-1CEA288F9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87458"/>
            <a:ext cx="10058400" cy="145075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27ADC-0ABF-5009-8858-ACB2A49F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9247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3C53B76-2BB1-B315-3B32-31A709BA5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2942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Web as a Directed Graph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A9291894-127E-0A57-73BE-EDDCB3436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2772" y="4411711"/>
            <a:ext cx="98629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Arial Unicode MS" pitchFamily="34" charset="-128"/>
              </a:rPr>
              <a:t>Assumption 1: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</a:rPr>
              <a:t> A hyperlink between pages denotes author perceived relevance (quality signal).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F60DDFEE-6F88-591A-E058-1D22D371D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2772" y="5402311"/>
            <a:ext cx="986290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Arial Unicode MS" pitchFamily="34" charset="-128"/>
              </a:rPr>
              <a:t>Assumption 2: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</a:rPr>
              <a:t> The text in the anchor of the hyperlink describes the target page (textual context).</a:t>
            </a:r>
          </a:p>
        </p:txBody>
      </p:sp>
      <p:grpSp>
        <p:nvGrpSpPr>
          <p:cNvPr id="12293" name="Group 5">
            <a:extLst>
              <a:ext uri="{FF2B5EF4-FFF2-40B4-BE49-F238E27FC236}">
                <a16:creationId xmlns:a16="http://schemas.microsoft.com/office/drawing/2014/main" id="{A60CAAA1-9152-4BA9-E200-A4E0DD25F6C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868211"/>
            <a:ext cx="6858000" cy="2438400"/>
            <a:chOff x="192" y="912"/>
            <a:chExt cx="5232" cy="1536"/>
          </a:xfrm>
        </p:grpSpPr>
        <p:sp>
          <p:nvSpPr>
            <p:cNvPr id="12295" name="Line 6">
              <a:extLst>
                <a:ext uri="{FF2B5EF4-FFF2-40B4-BE49-F238E27FC236}">
                  <a16:creationId xmlns:a16="http://schemas.microsoft.com/office/drawing/2014/main" id="{1EEA7B71-4BC7-7608-0E0A-DF07CCD0A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680"/>
              <a:ext cx="134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Oval 7">
              <a:extLst>
                <a:ext uri="{FF2B5EF4-FFF2-40B4-BE49-F238E27FC236}">
                  <a16:creationId xmlns:a16="http://schemas.microsoft.com/office/drawing/2014/main" id="{4FF852F8-96BE-2AF9-2569-B30236A96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200"/>
              <a:ext cx="2064" cy="9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latin typeface="Times New Roman" panose="02020603050405020304" pitchFamily="18" charset="0"/>
                  <a:ea typeface="Arial Unicode MS" pitchFamily="34" charset="-128"/>
                </a:rPr>
                <a:t>Page A</a:t>
              </a:r>
            </a:p>
          </p:txBody>
        </p:sp>
        <p:sp>
          <p:nvSpPr>
            <p:cNvPr id="12297" name="Text Box 8">
              <a:extLst>
                <a:ext uri="{FF2B5EF4-FFF2-40B4-BE49-F238E27FC236}">
                  <a16:creationId xmlns:a16="http://schemas.microsoft.com/office/drawing/2014/main" id="{48031391-DA12-22ED-A217-2C41A34F5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438"/>
              <a:ext cx="80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800">
                  <a:latin typeface="Times New Roman" panose="02020603050405020304" pitchFamily="18" charset="0"/>
                  <a:ea typeface="Arial Unicode MS" pitchFamily="34" charset="-128"/>
                </a:rPr>
                <a:t>hyperlink</a:t>
              </a:r>
            </a:p>
          </p:txBody>
        </p:sp>
        <p:sp>
          <p:nvSpPr>
            <p:cNvPr id="12298" name="Line 9">
              <a:extLst>
                <a:ext uri="{FF2B5EF4-FFF2-40B4-BE49-F238E27FC236}">
                  <a16:creationId xmlns:a16="http://schemas.microsoft.com/office/drawing/2014/main" id="{C3A19C13-D9BD-AD27-E132-03758FC09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920"/>
              <a:ext cx="144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Line 10">
              <a:extLst>
                <a:ext uri="{FF2B5EF4-FFF2-40B4-BE49-F238E27FC236}">
                  <a16:creationId xmlns:a16="http://schemas.microsoft.com/office/drawing/2014/main" id="{EC1170E6-3F67-ACA0-69FC-ABDE0A04E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960"/>
              <a:ext cx="72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Line 11">
              <a:extLst>
                <a:ext uri="{FF2B5EF4-FFF2-40B4-BE49-F238E27FC236}">
                  <a16:creationId xmlns:a16="http://schemas.microsoft.com/office/drawing/2014/main" id="{834FFB5C-E84A-13DA-4C72-DAD32B744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824"/>
              <a:ext cx="624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Line 12">
              <a:extLst>
                <a:ext uri="{FF2B5EF4-FFF2-40B4-BE49-F238E27FC236}">
                  <a16:creationId xmlns:a16="http://schemas.microsoft.com/office/drawing/2014/main" id="{FDA99BD3-ED95-5A9F-2F5B-06B422DF05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968"/>
              <a:ext cx="528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Line 13">
              <a:extLst>
                <a:ext uri="{FF2B5EF4-FFF2-40B4-BE49-F238E27FC236}">
                  <a16:creationId xmlns:a16="http://schemas.microsoft.com/office/drawing/2014/main" id="{99C5526C-4FC4-4E0F-D369-C56FF5C43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912"/>
              <a:ext cx="576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Oval 14">
              <a:extLst>
                <a:ext uri="{FF2B5EF4-FFF2-40B4-BE49-F238E27FC236}">
                  <a16:creationId xmlns:a16="http://schemas.microsoft.com/office/drawing/2014/main" id="{C401E02D-F475-C014-DB33-DC8607149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152"/>
              <a:ext cx="1872" cy="9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latin typeface="Times New Roman" panose="02020603050405020304" pitchFamily="18" charset="0"/>
                  <a:ea typeface="Arial Unicode MS" pitchFamily="34" charset="-128"/>
                </a:rPr>
                <a:t>Page B</a:t>
              </a:r>
            </a:p>
          </p:txBody>
        </p:sp>
        <p:sp>
          <p:nvSpPr>
            <p:cNvPr id="12304" name="Text Box 15">
              <a:extLst>
                <a:ext uri="{FF2B5EF4-FFF2-40B4-BE49-F238E27FC236}">
                  <a16:creationId xmlns:a16="http://schemas.microsoft.com/office/drawing/2014/main" id="{40AD075D-5B28-EBEA-484B-89F3789BD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4" y="1566"/>
              <a:ext cx="613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1600">
                  <a:latin typeface="Times New Roman" panose="02020603050405020304" pitchFamily="18" charset="0"/>
                  <a:ea typeface="Arial Unicode MS" pitchFamily="34" charset="-128"/>
                </a:rPr>
                <a:t>Anchor</a:t>
              </a:r>
            </a:p>
          </p:txBody>
        </p:sp>
      </p:grpSp>
      <p:sp>
        <p:nvSpPr>
          <p:cNvPr id="12294" name="TextBox 4">
            <a:extLst>
              <a:ext uri="{FF2B5EF4-FFF2-40B4-BE49-F238E27FC236}">
                <a16:creationId xmlns:a16="http://schemas.microsoft.com/office/drawing/2014/main" id="{283B6C1D-E332-CDA9-DA1B-6C4D4D262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017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21.1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CF3B2DE-3214-7C4C-BEBB-1FFB799E8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35759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Indexing anchor text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C961377-5970-88BF-B2AA-F8C658DEA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When indexing a document </a:t>
            </a:r>
            <a:r>
              <a:rPr lang="en-US" altLang="zh-TW" i="1" dirty="0">
                <a:ea typeface="ＭＳ Ｐゴシック" panose="020B0600070205080204" pitchFamily="34" charset="-128"/>
              </a:rPr>
              <a:t>D</a:t>
            </a:r>
            <a:r>
              <a:rPr lang="en-US" altLang="zh-TW" dirty="0">
                <a:ea typeface="ＭＳ Ｐゴシック" panose="020B0600070205080204" pitchFamily="34" charset="-128"/>
              </a:rPr>
              <a:t>, include anchor text from links pointing to </a:t>
            </a:r>
            <a:r>
              <a:rPr lang="en-US" altLang="zh-TW" i="1" dirty="0">
                <a:ea typeface="ＭＳ Ｐゴシック" panose="020B0600070205080204" pitchFamily="34" charset="-128"/>
              </a:rPr>
              <a:t>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4B01F6-CEF6-5B11-3DEE-CD666EA833FD}"/>
              </a:ext>
            </a:extLst>
          </p:cNvPr>
          <p:cNvGrpSpPr/>
          <p:nvPr/>
        </p:nvGrpSpPr>
        <p:grpSpPr>
          <a:xfrm>
            <a:off x="1931813" y="3190603"/>
            <a:ext cx="8389334" cy="2922692"/>
            <a:chOff x="653067" y="3074989"/>
            <a:chExt cx="8389334" cy="2922692"/>
          </a:xfrm>
        </p:grpSpPr>
        <p:sp>
          <p:nvSpPr>
            <p:cNvPr id="14340" name="AutoShape 4">
              <a:extLst>
                <a:ext uri="{FF2B5EF4-FFF2-40B4-BE49-F238E27FC236}">
                  <a16:creationId xmlns:a16="http://schemas.microsoft.com/office/drawing/2014/main" id="{C79A1BF8-7D0C-778A-D3C3-6D4D921AD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4724400"/>
              <a:ext cx="152400" cy="609600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2400">
                <a:latin typeface="Lucida Sans" panose="020B0602030504020204" pitchFamily="34" charset="0"/>
                <a:ea typeface="Arial Unicode MS" pitchFamily="34" charset="-128"/>
              </a:endParaRPr>
            </a:p>
          </p:txBody>
        </p:sp>
        <p:sp>
          <p:nvSpPr>
            <p:cNvPr id="14341" name="AutoShape 5">
              <a:extLst>
                <a:ext uri="{FF2B5EF4-FFF2-40B4-BE49-F238E27FC236}">
                  <a16:creationId xmlns:a16="http://schemas.microsoft.com/office/drawing/2014/main" id="{C6483DAD-315E-6A1D-1DBD-504B8DEA1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3886200"/>
              <a:ext cx="2057400" cy="304800"/>
            </a:xfrm>
            <a:prstGeom prst="flowChartProcess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TW" sz="2400">
                  <a:latin typeface="Rockwell" panose="02060603020205020403" pitchFamily="18" charset="0"/>
                  <a:ea typeface="Arial Unicode MS" pitchFamily="34" charset="-128"/>
                </a:rPr>
                <a:t>www.ibm.com</a:t>
              </a:r>
              <a:endParaRPr lang="en-US" altLang="zh-TW" sz="1400">
                <a:latin typeface="Rockwell" panose="02060603020205020403" pitchFamily="18" charset="0"/>
                <a:ea typeface="Arial Unicode MS" pitchFamily="34" charset="-128"/>
              </a:endParaRPr>
            </a:p>
          </p:txBody>
        </p:sp>
        <p:sp>
          <p:nvSpPr>
            <p:cNvPr id="14342" name="AutoShape 6">
              <a:extLst>
                <a:ext uri="{FF2B5EF4-FFF2-40B4-BE49-F238E27FC236}">
                  <a16:creationId xmlns:a16="http://schemas.microsoft.com/office/drawing/2014/main" id="{D49C4B86-702B-6BE5-69FF-C8BFED63C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301" y="3074989"/>
              <a:ext cx="3281363" cy="706437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TW" sz="1800">
                  <a:latin typeface="Rockwell" panose="02060603020205020403" pitchFamily="18" charset="0"/>
                  <a:ea typeface="Arial Unicode MS" pitchFamily="34" charset="-128"/>
                </a:rPr>
                <a:t>Armonk, NY-based computer</a:t>
              </a:r>
            </a:p>
            <a:p>
              <a:pPr algn="ctr" eaLnBrk="1" hangingPunct="1">
                <a:buClrTx/>
                <a:buFontTx/>
                <a:buNone/>
              </a:pPr>
              <a:r>
                <a:rPr lang="en-US" altLang="zh-TW" sz="1800">
                  <a:latin typeface="Rockwell" panose="02060603020205020403" pitchFamily="18" charset="0"/>
                  <a:ea typeface="Arial Unicode MS" pitchFamily="34" charset="-128"/>
                </a:rPr>
                <a:t>giant </a:t>
              </a:r>
              <a:r>
                <a:rPr lang="en-US" altLang="zh-TW" sz="1800" u="sng">
                  <a:latin typeface="Rockwell" panose="02060603020205020403" pitchFamily="18" charset="0"/>
                  <a:ea typeface="Arial Unicode MS" pitchFamily="34" charset="-128"/>
                </a:rPr>
                <a:t>IBM</a:t>
              </a:r>
              <a:r>
                <a:rPr lang="en-US" altLang="zh-TW" sz="1800">
                  <a:latin typeface="Rockwell" panose="02060603020205020403" pitchFamily="18" charset="0"/>
                  <a:ea typeface="Arial Unicode MS" pitchFamily="34" charset="-128"/>
                </a:rPr>
                <a:t> announced today</a:t>
              </a:r>
              <a:endParaRPr lang="en-US" altLang="zh-TW" sz="1400">
                <a:latin typeface="Rockwell" panose="02060603020205020403" pitchFamily="18" charset="0"/>
                <a:ea typeface="Arial Unicode MS" pitchFamily="34" charset="-128"/>
              </a:endParaRPr>
            </a:p>
          </p:txBody>
        </p:sp>
        <p:cxnSp>
          <p:nvCxnSpPr>
            <p:cNvPr id="14343" name="AutoShape 7">
              <a:extLst>
                <a:ext uri="{FF2B5EF4-FFF2-40B4-BE49-F238E27FC236}">
                  <a16:creationId xmlns:a16="http://schemas.microsoft.com/office/drawing/2014/main" id="{466F0A5F-2CEA-C05F-F108-8570C46BABB0}"/>
                </a:ext>
              </a:extLst>
            </p:cNvPr>
            <p:cNvCxnSpPr>
              <a:cxnSpLocks noChangeShapeType="1"/>
              <a:stCxn id="14342" idx="2"/>
              <a:endCxn id="14341" idx="1"/>
            </p:cNvCxnSpPr>
            <p:nvPr/>
          </p:nvCxnSpPr>
          <p:spPr bwMode="auto">
            <a:xfrm>
              <a:off x="4422776" y="3781426"/>
              <a:ext cx="1978025" cy="257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44" name="AutoShape 8">
              <a:extLst>
                <a:ext uri="{FF2B5EF4-FFF2-40B4-BE49-F238E27FC236}">
                  <a16:creationId xmlns:a16="http://schemas.microsoft.com/office/drawing/2014/main" id="{72D59CEF-81B4-8356-B066-1FEAE9D1E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067" y="4631153"/>
              <a:ext cx="3364896" cy="1366528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altLang="zh-TW" sz="1800" dirty="0">
                  <a:latin typeface="Rockwell" panose="02060603020205020403" pitchFamily="18" charset="0"/>
                  <a:ea typeface="Arial Unicode MS" pitchFamily="34" charset="-128"/>
                </a:rPr>
                <a:t>Joe’s computer hardware links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TW" sz="1800" u="sng" dirty="0">
                  <a:latin typeface="Rockwell" panose="02060603020205020403" pitchFamily="18" charset="0"/>
                  <a:ea typeface="Arial Unicode MS" pitchFamily="34" charset="-128"/>
                </a:rPr>
                <a:t>Sun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TW" sz="1800" u="sng" dirty="0">
                  <a:latin typeface="Rockwell" panose="02060603020205020403" pitchFamily="18" charset="0"/>
                  <a:ea typeface="Arial Unicode MS" pitchFamily="34" charset="-128"/>
                </a:rPr>
                <a:t>HP</a:t>
              </a:r>
            </a:p>
            <a:p>
              <a:pPr eaLnBrk="1" hangingPunct="1">
                <a:buClrTx/>
                <a:buFontTx/>
                <a:buNone/>
              </a:pPr>
              <a:r>
                <a:rPr lang="en-US" altLang="zh-TW" sz="1800" u="sng" dirty="0">
                  <a:latin typeface="Rockwell" panose="02060603020205020403" pitchFamily="18" charset="0"/>
                  <a:ea typeface="Arial Unicode MS" pitchFamily="34" charset="-128"/>
                </a:rPr>
                <a:t>IBM</a:t>
              </a:r>
              <a:endParaRPr lang="en-US" altLang="zh-TW" sz="1400" u="sng" dirty="0">
                <a:latin typeface="Rockwell" panose="02060603020205020403" pitchFamily="18" charset="0"/>
                <a:ea typeface="Arial Unicode MS" pitchFamily="34" charset="-128"/>
              </a:endParaRPr>
            </a:p>
          </p:txBody>
        </p:sp>
        <p:sp>
          <p:nvSpPr>
            <p:cNvPr id="14345" name="Line 9">
              <a:extLst>
                <a:ext uri="{FF2B5EF4-FFF2-40B4-BE49-F238E27FC236}">
                  <a16:creationId xmlns:a16="http://schemas.microsoft.com/office/drawing/2014/main" id="{96133BE3-7508-4678-9749-7D5D116324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7962" y="4038600"/>
              <a:ext cx="2382837" cy="10021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6" name="AutoShape 10">
              <a:extLst>
                <a:ext uri="{FF2B5EF4-FFF2-40B4-BE49-F238E27FC236}">
                  <a16:creationId xmlns:a16="http://schemas.microsoft.com/office/drawing/2014/main" id="{C3170B46-BE87-F859-8340-63C7E9646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1364" y="5029200"/>
              <a:ext cx="3221037" cy="706438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US" altLang="zh-TW" sz="1800" u="sng">
                  <a:latin typeface="Rockwell" panose="02060603020205020403" pitchFamily="18" charset="0"/>
                  <a:ea typeface="Arial Unicode MS" pitchFamily="34" charset="-128"/>
                </a:rPr>
                <a:t>Big Blue</a:t>
              </a:r>
              <a:r>
                <a:rPr lang="en-US" altLang="zh-TW" sz="1800">
                  <a:latin typeface="Rockwell" panose="02060603020205020403" pitchFamily="18" charset="0"/>
                  <a:ea typeface="Arial Unicode MS" pitchFamily="34" charset="-128"/>
                </a:rPr>
                <a:t> today announced</a:t>
              </a:r>
            </a:p>
            <a:p>
              <a:pPr algn="ctr" eaLnBrk="1" hangingPunct="1">
                <a:buClrTx/>
                <a:buFontTx/>
                <a:buNone/>
              </a:pPr>
              <a:r>
                <a:rPr lang="en-US" altLang="zh-TW" sz="1800">
                  <a:latin typeface="Rockwell" panose="02060603020205020403" pitchFamily="18" charset="0"/>
                  <a:ea typeface="Arial Unicode MS" pitchFamily="34" charset="-128"/>
                </a:rPr>
                <a:t>record profits for the quarter</a:t>
              </a:r>
              <a:endParaRPr lang="en-US" altLang="zh-TW" sz="1400">
                <a:latin typeface="Rockwell" panose="02060603020205020403" pitchFamily="18" charset="0"/>
                <a:ea typeface="Arial Unicode MS" pitchFamily="34" charset="-128"/>
              </a:endParaRPr>
            </a:p>
          </p:txBody>
        </p:sp>
        <p:sp>
          <p:nvSpPr>
            <p:cNvPr id="14347" name="Line 11">
              <a:extLst>
                <a:ext uri="{FF2B5EF4-FFF2-40B4-BE49-F238E27FC236}">
                  <a16:creationId xmlns:a16="http://schemas.microsoft.com/office/drawing/2014/main" id="{ACFF584F-8B76-A1B8-B1B4-1E94A385B0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86600" y="4191000"/>
              <a:ext cx="1524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348" name="TextBox 4">
            <a:extLst>
              <a:ext uri="{FF2B5EF4-FFF2-40B4-BE49-F238E27FC236}">
                <a16:creationId xmlns:a16="http://schemas.microsoft.com/office/drawing/2014/main" id="{6EE6E98F-5C90-4CAA-9826-E48A616A7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21.1.1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3E02B21-A938-B7A7-E114-A64AF1A83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8019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Query-independent ordering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4C2CB36-177F-3FC4-8F5B-024EB1BC6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8179" y="1752600"/>
            <a:ext cx="9957501" cy="44196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First generation: using link counts as simple measures of popularity.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Two basic suggestions: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u="sng" dirty="0">
                <a:ea typeface="ＭＳ Ｐゴシック" panose="020B0600070205080204" pitchFamily="34" charset="-128"/>
              </a:rPr>
              <a:t>Undirected popularity: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Each page gets a score = the number of in-links plus the number of out-links (3+2=5).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u="sng" dirty="0">
                <a:ea typeface="ＭＳ Ｐゴシック" panose="020B0600070205080204" pitchFamily="34" charset="-128"/>
              </a:rPr>
              <a:t>Directed popularity: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Score of a page = number of its in-links (3).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921B7D-BBD9-9DC8-865C-E13488A5C4CF}"/>
              </a:ext>
            </a:extLst>
          </p:cNvPr>
          <p:cNvGrpSpPr/>
          <p:nvPr/>
        </p:nvGrpSpPr>
        <p:grpSpPr>
          <a:xfrm>
            <a:off x="6176929" y="4663965"/>
            <a:ext cx="3429000" cy="1143000"/>
            <a:chOff x="4343400" y="5410200"/>
            <a:chExt cx="3429000" cy="1143000"/>
          </a:xfrm>
        </p:grpSpPr>
        <p:sp>
          <p:nvSpPr>
            <p:cNvPr id="18436" name="Oval 4">
              <a:extLst>
                <a:ext uri="{FF2B5EF4-FFF2-40B4-BE49-F238E27FC236}">
                  <a16:creationId xmlns:a16="http://schemas.microsoft.com/office/drawing/2014/main" id="{4FEF09D1-26C7-031B-90DD-4D8E6F16A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5626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2400">
                <a:latin typeface="Lucida Sans" panose="020B0602030504020204" pitchFamily="34" charset="0"/>
                <a:ea typeface="Arial Unicode MS" pitchFamily="34" charset="-128"/>
              </a:endParaRPr>
            </a:p>
          </p:txBody>
        </p:sp>
        <p:sp>
          <p:nvSpPr>
            <p:cNvPr id="18437" name="Line 5">
              <a:extLst>
                <a:ext uri="{FF2B5EF4-FFF2-40B4-BE49-F238E27FC236}">
                  <a16:creationId xmlns:a16="http://schemas.microsoft.com/office/drawing/2014/main" id="{FB21D9AE-0E61-55C7-BE6B-244618F13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5410200"/>
              <a:ext cx="1066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8" name="Line 6">
              <a:extLst>
                <a:ext uri="{FF2B5EF4-FFF2-40B4-BE49-F238E27FC236}">
                  <a16:creationId xmlns:a16="http://schemas.microsoft.com/office/drawing/2014/main" id="{40CCF4AE-4EC7-F804-858F-2E7E16A84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6019800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9" name="Line 7">
              <a:extLst>
                <a:ext uri="{FF2B5EF4-FFF2-40B4-BE49-F238E27FC236}">
                  <a16:creationId xmlns:a16="http://schemas.microsoft.com/office/drawing/2014/main" id="{E8107840-BFBD-3EB2-5C31-910BA635E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8200" y="6248400"/>
              <a:ext cx="990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Line 8">
              <a:extLst>
                <a:ext uri="{FF2B5EF4-FFF2-40B4-BE49-F238E27FC236}">
                  <a16:creationId xmlns:a16="http://schemas.microsoft.com/office/drawing/2014/main" id="{79B701F7-26CD-9149-3E03-2D6091C2AA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77000" y="5562600"/>
              <a:ext cx="1219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Line 9">
              <a:extLst>
                <a:ext uri="{FF2B5EF4-FFF2-40B4-BE49-F238E27FC236}">
                  <a16:creationId xmlns:a16="http://schemas.microsoft.com/office/drawing/2014/main" id="{09CC2DB9-FE7A-09E3-1895-62EAFE1FB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6248400"/>
              <a:ext cx="1371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64ACBDA-5E86-E164-94AB-E50353D91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Query processing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FFD2AC9-C635-4F12-8769-27D4431D8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23838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First retrieve all pages meeting the text query (say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venture capital</a:t>
            </a:r>
            <a:r>
              <a:rPr lang="en-US" altLang="zh-TW" dirty="0">
                <a:ea typeface="ＭＳ Ｐゴシック" panose="020B0600070205080204" pitchFamily="34" charset="-128"/>
              </a:rPr>
              <a:t>).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Order these by their link popularity (either variant on the previous slide).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More nuanced</a:t>
            </a:r>
            <a:r>
              <a:rPr lang="en-US" altLang="zh-TW" dirty="0">
                <a:ea typeface="ＭＳ Ｐゴシック" panose="020B0600070205080204" pitchFamily="34" charset="-128"/>
              </a:rPr>
              <a:t> – use link counts as a measure of static goodness, combined with text match score.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CFF08D3-2EE7-B2AA-DFAB-6A887EB0A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Pagerank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scoring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1553D80-C484-7BDC-87F7-C665585FA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25026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Imagine a browser doing a random walk on web pages: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Start at a random page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At each step, go out of the current page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along one of the links on that page</a:t>
            </a:r>
            <a:r>
              <a:rPr lang="en-US" altLang="zh-TW" dirty="0">
                <a:ea typeface="ＭＳ Ｐゴシック" panose="020B0600070205080204" pitchFamily="34" charset="-128"/>
              </a:rPr>
              <a:t>,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equiprobably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“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In the steady state</a:t>
            </a:r>
            <a:r>
              <a:rPr lang="en-US" altLang="zh-TW" dirty="0">
                <a:ea typeface="ＭＳ Ｐゴシック" panose="020B0600070205080204" pitchFamily="34" charset="-128"/>
              </a:rPr>
              <a:t>” each page has a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long-term visit rate </a:t>
            </a:r>
            <a:r>
              <a:rPr lang="en-US" altLang="zh-TW" dirty="0">
                <a:ea typeface="ＭＳ Ｐゴシック" panose="020B0600070205080204" pitchFamily="34" charset="-128"/>
              </a:rPr>
              <a:t>- use this as the page’s score.</a:t>
            </a:r>
          </a:p>
        </p:txBody>
      </p:sp>
      <p:sp>
        <p:nvSpPr>
          <p:cNvPr id="21508" name="Oval 4">
            <a:extLst>
              <a:ext uri="{FF2B5EF4-FFF2-40B4-BE49-F238E27FC236}">
                <a16:creationId xmlns:a16="http://schemas.microsoft.com/office/drawing/2014/main" id="{3E60F05C-01BD-8A97-71B4-094EEFCAE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516188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21509" name="Line 5">
            <a:extLst>
              <a:ext uri="{FF2B5EF4-FFF2-40B4-BE49-F238E27FC236}">
                <a16:creationId xmlns:a16="http://schemas.microsoft.com/office/drawing/2014/main" id="{79EE6524-0366-5DFE-4578-D85055B55C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2554288"/>
            <a:ext cx="609600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6">
            <a:extLst>
              <a:ext uri="{FF2B5EF4-FFF2-40B4-BE49-F238E27FC236}">
                <a16:creationId xmlns:a16="http://schemas.microsoft.com/office/drawing/2014/main" id="{32925988-1611-77D3-6C1B-56FD14BB9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744788"/>
            <a:ext cx="6477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415F743C-F643-3D3A-1043-EA2D38F7D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744789"/>
            <a:ext cx="6477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Text Box 8">
            <a:extLst>
              <a:ext uri="{FF2B5EF4-FFF2-40B4-BE49-F238E27FC236}">
                <a16:creationId xmlns:a16="http://schemas.microsoft.com/office/drawing/2014/main" id="{907D7B93-2E80-BBE6-D76C-40D5EBF9E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284414"/>
            <a:ext cx="501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Arial Unicode MS" pitchFamily="34" charset="-128"/>
              </a:rPr>
              <a:t>1/3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Arial Unicode MS" pitchFamily="34" charset="-128"/>
              </a:rPr>
              <a:t>1/3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Arial Unicode MS" pitchFamily="34" charset="-128"/>
              </a:rPr>
              <a:t>1/3</a:t>
            </a:r>
            <a:endParaRPr lang="en-US" altLang="zh-TW" sz="2400"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21513" name="TextBox 4">
            <a:extLst>
              <a:ext uri="{FF2B5EF4-FFF2-40B4-BE49-F238E27FC236}">
                <a16:creationId xmlns:a16="http://schemas.microsoft.com/office/drawing/2014/main" id="{530EED9D-C8B8-DD71-D9A7-DD315E443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017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1CB9D75-479B-7E81-3F5D-DAC337273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95438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Not quite enough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3313852-58A7-6CC0-2B0F-818B5A72D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 web is full of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dead-ends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Random walk can get stuck in dead-ends.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Makes no sense to talk about long-term visit rates.</a:t>
            </a:r>
          </a:p>
        </p:txBody>
      </p:sp>
      <p:sp>
        <p:nvSpPr>
          <p:cNvPr id="22532" name="Oval 4">
            <a:extLst>
              <a:ext uri="{FF2B5EF4-FFF2-40B4-BE49-F238E27FC236}">
                <a16:creationId xmlns:a16="http://schemas.microsoft.com/office/drawing/2014/main" id="{7E8A4547-1B3B-F2D8-FA6A-5DE08261A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6482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211665B5-7E8D-6141-CE3C-A02805DE52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5334000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E6D7FCF8-BC9A-3E8B-158C-DB702945A8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495800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53910CEA-577F-4688-E6BC-1569A423A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105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B4B2A62F-DEFA-9EE6-0195-BCA917A14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105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Text Box 9">
            <a:extLst>
              <a:ext uri="{FF2B5EF4-FFF2-40B4-BE49-F238E27FC236}">
                <a16:creationId xmlns:a16="http://schemas.microsoft.com/office/drawing/2014/main" id="{16402161-4B5B-0179-5BFA-26B351D8B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4959" y="4874569"/>
            <a:ext cx="5277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??</a:t>
            </a:r>
          </a:p>
        </p:txBody>
      </p:sp>
      <p:sp>
        <p:nvSpPr>
          <p:cNvPr id="22538" name="TextBox 4">
            <a:extLst>
              <a:ext uri="{FF2B5EF4-FFF2-40B4-BE49-F238E27FC236}">
                <a16:creationId xmlns:a16="http://schemas.microsoft.com/office/drawing/2014/main" id="{9D1D571E-5DF7-1472-CEE4-EDB3FE161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017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84A0888-59FE-15F4-0E29-2D431CE79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9055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Teleporting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1EBF14F-9E87-B9FA-F433-058ADF265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ea typeface="ＭＳ Ｐゴシック" panose="020B0600070205080204" pitchFamily="34" charset="-128"/>
              </a:rPr>
              <a:t> At a dead end, </a:t>
            </a:r>
            <a:r>
              <a:rPr lang="en-US" altLang="zh-TW" sz="34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jump to a random</a:t>
            </a:r>
            <a:r>
              <a:rPr lang="en-US" altLang="zh-TW" sz="3400" dirty="0">
                <a:ea typeface="ＭＳ Ｐゴシック" panose="020B0600070205080204" pitchFamily="34" charset="-128"/>
              </a:rPr>
              <a:t> web page.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3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At any non-dead end, </a:t>
            </a:r>
            <a:r>
              <a:rPr lang="en-US" altLang="zh-TW" sz="34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with probability 10%</a:t>
            </a:r>
            <a:r>
              <a:rPr lang="en-US" altLang="zh-TW" sz="34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jump to a random web page.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200" dirty="0">
                <a:ea typeface="ＭＳ Ｐゴシック" panose="020B0600070205080204" pitchFamily="34" charset="-128"/>
              </a:rPr>
              <a:t>With remaining probability </a:t>
            </a:r>
            <a:r>
              <a:rPr lang="en-US" altLang="zh-TW" sz="3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(90%), go out on a random link</a:t>
            </a:r>
            <a:r>
              <a:rPr lang="en-US" altLang="zh-TW" sz="3200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2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10% - a parameter</a:t>
            </a:r>
            <a:r>
              <a:rPr lang="en-US" altLang="zh-TW" sz="3200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23556" name="TextBox 4">
            <a:extLst>
              <a:ext uri="{FF2B5EF4-FFF2-40B4-BE49-F238E27FC236}">
                <a16:creationId xmlns:a16="http://schemas.microsoft.com/office/drawing/2014/main" id="{2A189E87-7BA7-EBE7-CBB2-60EF77FFA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017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2E64B69-526E-D790-C189-2F59FD8CC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750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Markov chains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6259708-AB82-C13A-AD41-E6B66D4DC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Markov chain consists of </a:t>
            </a:r>
            <a:r>
              <a:rPr lang="en-US" altLang="zh-TW" i="1" dirty="0">
                <a:ea typeface="ＭＳ Ｐゴシック" panose="020B0600070205080204" pitchFamily="34" charset="-128"/>
              </a:rPr>
              <a:t>n </a:t>
            </a:r>
            <a:r>
              <a:rPr lang="en-US" altLang="zh-TW" u="sng" dirty="0">
                <a:ea typeface="ＭＳ Ｐゴシック" panose="020B0600070205080204" pitchFamily="34" charset="-128"/>
              </a:rPr>
              <a:t>states</a:t>
            </a:r>
            <a:r>
              <a:rPr lang="en-US" altLang="zh-TW" dirty="0">
                <a:ea typeface="ＭＳ Ｐゴシック" panose="020B0600070205080204" pitchFamily="34" charset="-128"/>
              </a:rPr>
              <a:t>, plus an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n</a:t>
            </a:r>
            <a:r>
              <a:rPr lang="en-US" altLang="zh-TW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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transition probability matrix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b="1" dirty="0">
                <a:ea typeface="ＭＳ Ｐゴシック" panose="020B0600070205080204" pitchFamily="34" charset="-128"/>
              </a:rPr>
              <a:t>P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At each step, we are in exactly one of the states.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</a:t>
            </a:r>
            <a:r>
              <a:rPr lang="en-US" altLang="zh-TW" i="1" dirty="0">
                <a:ea typeface="ＭＳ Ｐゴシック" panose="020B0600070205080204" pitchFamily="34" charset="-128"/>
              </a:rPr>
              <a:t>1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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i,j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 </a:t>
            </a:r>
            <a:r>
              <a:rPr lang="en-US" altLang="zh-TW" i="1" dirty="0">
                <a:ea typeface="ＭＳ Ｐゴシック" panose="020B0600070205080204" pitchFamily="34" charset="-128"/>
              </a:rPr>
              <a:t>n, </a:t>
            </a:r>
            <a:r>
              <a:rPr lang="en-US" altLang="zh-TW" dirty="0">
                <a:ea typeface="ＭＳ Ｐゴシック" panose="020B0600070205080204" pitchFamily="34" charset="-128"/>
              </a:rPr>
              <a:t>the matrix entry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P</a:t>
            </a:r>
            <a:r>
              <a:rPr lang="en-US" altLang="zh-TW" i="1" baseline="-25000" dirty="0" err="1">
                <a:ea typeface="ＭＳ Ｐゴシック" panose="020B0600070205080204" pitchFamily="34" charset="-128"/>
              </a:rPr>
              <a:t>ij</a:t>
            </a:r>
            <a:r>
              <a:rPr lang="en-US" altLang="zh-TW" dirty="0">
                <a:ea typeface="ＭＳ Ｐゴシック" panose="020B0600070205080204" pitchFamily="34" charset="-128"/>
              </a:rPr>
              <a:t> tells us the probability of </a:t>
            </a:r>
            <a:r>
              <a:rPr lang="en-US" altLang="zh-TW" i="1" dirty="0">
                <a:ea typeface="ＭＳ Ｐゴシック" panose="020B0600070205080204" pitchFamily="34" charset="-128"/>
              </a:rPr>
              <a:t>j</a:t>
            </a:r>
            <a:r>
              <a:rPr lang="en-US" altLang="zh-TW" dirty="0">
                <a:ea typeface="ＭＳ Ｐゴシック" panose="020B0600070205080204" pitchFamily="34" charset="-128"/>
              </a:rPr>
              <a:t> being the next state, given we are currently in state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i</a:t>
            </a:r>
            <a:r>
              <a:rPr lang="en-US" altLang="zh-TW" dirty="0">
                <a:ea typeface="ＭＳ Ｐゴシック" panose="020B0600070205080204" pitchFamily="34" charset="-128"/>
              </a:rPr>
              <a:t>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213719-D2B0-A63B-D131-510ADACBB036}"/>
              </a:ext>
            </a:extLst>
          </p:cNvPr>
          <p:cNvGrpSpPr/>
          <p:nvPr/>
        </p:nvGrpSpPr>
        <p:grpSpPr>
          <a:xfrm>
            <a:off x="4831080" y="4984531"/>
            <a:ext cx="2590800" cy="762000"/>
            <a:chOff x="4495800" y="5867400"/>
            <a:chExt cx="2590800" cy="762000"/>
          </a:xfrm>
        </p:grpSpPr>
        <p:sp>
          <p:nvSpPr>
            <p:cNvPr id="25604" name="Oval 4">
              <a:extLst>
                <a:ext uri="{FF2B5EF4-FFF2-40B4-BE49-F238E27FC236}">
                  <a16:creationId xmlns:a16="http://schemas.microsoft.com/office/drawing/2014/main" id="{6EDA0A9E-CF6E-0DF7-B867-83E57F6A2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674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i="1">
                  <a:latin typeface="Arial" panose="020B0604020202020204" pitchFamily="34" charset="0"/>
                  <a:ea typeface="Arial Unicode MS" pitchFamily="34" charset="-128"/>
                </a:rPr>
                <a:t>i</a:t>
              </a:r>
              <a:endParaRPr lang="en-US" altLang="zh-TW" sz="2400">
                <a:latin typeface="Arial" panose="020B0604020202020204" pitchFamily="34" charset="0"/>
                <a:ea typeface="Arial Unicode MS" pitchFamily="34" charset="-128"/>
              </a:endParaRPr>
            </a:p>
          </p:txBody>
        </p:sp>
        <p:sp>
          <p:nvSpPr>
            <p:cNvPr id="25605" name="Oval 5">
              <a:extLst>
                <a:ext uri="{FF2B5EF4-FFF2-40B4-BE49-F238E27FC236}">
                  <a16:creationId xmlns:a16="http://schemas.microsoft.com/office/drawing/2014/main" id="{8174B058-195B-53FC-6CA4-9163A1F91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8674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i="1">
                  <a:latin typeface="Arial" panose="020B0604020202020204" pitchFamily="34" charset="0"/>
                  <a:ea typeface="Arial Unicode MS" pitchFamily="34" charset="-128"/>
                </a:rPr>
                <a:t>j</a:t>
              </a:r>
              <a:endParaRPr lang="en-US" altLang="zh-TW" sz="2400">
                <a:latin typeface="Arial" panose="020B0604020202020204" pitchFamily="34" charset="0"/>
                <a:ea typeface="Arial Unicode MS" pitchFamily="34" charset="-128"/>
              </a:endParaRPr>
            </a:p>
          </p:txBody>
        </p:sp>
        <p:cxnSp>
          <p:nvCxnSpPr>
            <p:cNvPr id="25606" name="AutoShape 6">
              <a:extLst>
                <a:ext uri="{FF2B5EF4-FFF2-40B4-BE49-F238E27FC236}">
                  <a16:creationId xmlns:a16="http://schemas.microsoft.com/office/drawing/2014/main" id="{6E20F540-B65A-74A9-2910-14E70C97B4F3}"/>
                </a:ext>
              </a:extLst>
            </p:cNvPr>
            <p:cNvCxnSpPr>
              <a:cxnSpLocks noChangeShapeType="1"/>
              <a:stCxn id="25604" idx="6"/>
              <a:endCxn id="25605" idx="2"/>
            </p:cNvCxnSpPr>
            <p:nvPr/>
          </p:nvCxnSpPr>
          <p:spPr bwMode="auto">
            <a:xfrm>
              <a:off x="5181600" y="6210300"/>
              <a:ext cx="12192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07" name="Text Box 7">
              <a:extLst>
                <a:ext uri="{FF2B5EF4-FFF2-40B4-BE49-F238E27FC236}">
                  <a16:creationId xmlns:a16="http://schemas.microsoft.com/office/drawing/2014/main" id="{B885F013-2624-1744-357F-D0B2FED19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9414" y="6172200"/>
              <a:ext cx="4841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i="1">
                  <a:latin typeface="Arial" panose="020B0604020202020204" pitchFamily="34" charset="0"/>
                  <a:ea typeface="Arial Unicode MS" pitchFamily="34" charset="-128"/>
                </a:rPr>
                <a:t>P</a:t>
              </a:r>
              <a:r>
                <a:rPr lang="en-US" altLang="zh-TW" sz="2400" i="1" baseline="-25000">
                  <a:latin typeface="Arial" panose="020B0604020202020204" pitchFamily="34" charset="0"/>
                  <a:ea typeface="Arial Unicode MS" pitchFamily="34" charset="-128"/>
                </a:rPr>
                <a:t>ij</a:t>
              </a:r>
            </a:p>
          </p:txBody>
        </p:sp>
      </p:grpSp>
      <p:sp>
        <p:nvSpPr>
          <p:cNvPr id="25609" name="TextBox 4">
            <a:extLst>
              <a:ext uri="{FF2B5EF4-FFF2-40B4-BE49-F238E27FC236}">
                <a16:creationId xmlns:a16="http://schemas.microsoft.com/office/drawing/2014/main" id="{A1175FC4-2DD6-1522-D2BB-918609F65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21.2.1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>
            <a:extLst>
              <a:ext uri="{FF2B5EF4-FFF2-40B4-BE49-F238E27FC236}">
                <a16:creationId xmlns:a16="http://schemas.microsoft.com/office/drawing/2014/main" id="{DA2E89DC-FE56-4212-6A14-3D5C77946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430602"/>
              </p:ext>
            </p:extLst>
          </p:nvPr>
        </p:nvGraphicFramePr>
        <p:xfrm>
          <a:off x="3778470" y="1749973"/>
          <a:ext cx="13430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44307" progId="Equation.3">
                  <p:embed/>
                </p:oleObj>
              </mc:Choice>
              <mc:Fallback>
                <p:oleObj name="Equation" r:id="rId2" imgW="672808" imgH="444307" progId="Equation.3">
                  <p:embed/>
                  <p:pic>
                    <p:nvPicPr>
                      <p:cNvPr id="26626" name="Object 2">
                        <a:extLst>
                          <a:ext uri="{FF2B5EF4-FFF2-40B4-BE49-F238E27FC236}">
                            <a16:creationId xmlns:a16="http://schemas.microsoft.com/office/drawing/2014/main" id="{DA2E89DC-FE56-4212-6A14-3D5C77946C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470" y="1749973"/>
                        <a:ext cx="13430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>
            <a:extLst>
              <a:ext uri="{FF2B5EF4-FFF2-40B4-BE49-F238E27FC236}">
                <a16:creationId xmlns:a16="http://schemas.microsoft.com/office/drawing/2014/main" id="{F7E30CB2-5567-BA2F-0CDB-23FE40323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8582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Markov chains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83BF8090-4137-6276-A5E5-69466A123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Clearly, for all </a:t>
            </a:r>
            <a:r>
              <a:rPr lang="en-US" altLang="zh-TW" dirty="0" err="1">
                <a:ea typeface="ＭＳ Ｐゴシック" panose="020B0600070205080204" pitchFamily="34" charset="-128"/>
              </a:rPr>
              <a:t>i</a:t>
            </a:r>
            <a:r>
              <a:rPr lang="en-US" altLang="zh-TW" dirty="0">
                <a:ea typeface="ＭＳ Ｐゴシック" panose="020B0600070205080204" pitchFamily="34" charset="-128"/>
              </a:rPr>
              <a:t>,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Markov chains are abstractions of random walks.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26636" name="TextBox 4">
            <a:extLst>
              <a:ext uri="{FF2B5EF4-FFF2-40B4-BE49-F238E27FC236}">
                <a16:creationId xmlns:a16="http://schemas.microsoft.com/office/drawing/2014/main" id="{848D8B2C-9517-6F0D-DA0B-F071BFA7A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21.2.1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515D867-5758-A79E-DCF3-7CD938A64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0106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Ergodic Markov chains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E403530-E9A0-28FB-2EBE-0A9EB1A45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000" dirty="0">
                <a:ea typeface="ＭＳ Ｐゴシック" panose="020B0600070205080204" pitchFamily="34" charset="-128"/>
              </a:rPr>
              <a:t>A Markov chain is </a:t>
            </a:r>
            <a:r>
              <a:rPr lang="en-US" altLang="zh-TW" sz="3000" u="sng" dirty="0">
                <a:ea typeface="ＭＳ Ｐゴシック" panose="020B0600070205080204" pitchFamily="34" charset="-128"/>
              </a:rPr>
              <a:t>ergodic</a:t>
            </a:r>
            <a:r>
              <a:rPr lang="en-US" altLang="zh-TW" sz="3000" dirty="0">
                <a:ea typeface="ＭＳ Ｐゴシック" panose="020B0600070205080204" pitchFamily="34" charset="-128"/>
              </a:rPr>
              <a:t> if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ＭＳ Ｐゴシック" panose="020B0600070205080204" pitchFamily="34" charset="-128"/>
              </a:rPr>
              <a:t>We have a path from any state to any other,</a:t>
            </a:r>
          </a:p>
          <a:p>
            <a:pPr lvl="1" algn="just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ＭＳ Ｐゴシック" panose="020B0600070205080204" pitchFamily="34" charset="-128"/>
              </a:rPr>
              <a:t>For any start state, after a finite transient time T</a:t>
            </a:r>
            <a:r>
              <a:rPr lang="en-US" altLang="zh-TW" sz="2800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sz="2800" dirty="0">
                <a:ea typeface="ＭＳ Ｐゴシック" panose="020B0600070205080204" pitchFamily="34" charset="-128"/>
              </a:rPr>
              <a:t>, </a:t>
            </a:r>
            <a:r>
              <a:rPr lang="en-US" altLang="zh-TW" sz="2800" u="sng" dirty="0">
                <a:ea typeface="ＭＳ Ｐゴシック" panose="020B0600070205080204" pitchFamily="34" charset="-128"/>
              </a:rPr>
              <a:t>the probability of being in any state at a fixed time T&gt;T</a:t>
            </a:r>
            <a:r>
              <a:rPr lang="en-US" altLang="zh-TW" sz="2800" u="sng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sz="2800" u="sng" dirty="0">
                <a:ea typeface="ＭＳ Ｐゴシック" panose="020B0600070205080204" pitchFamily="34" charset="-128"/>
              </a:rPr>
              <a:t> is nonzero.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E1FF0F-B15E-5F5E-654B-92EB98762929}"/>
              </a:ext>
            </a:extLst>
          </p:cNvPr>
          <p:cNvGrpSpPr/>
          <p:nvPr/>
        </p:nvGrpSpPr>
        <p:grpSpPr>
          <a:xfrm>
            <a:off x="4373034" y="4635224"/>
            <a:ext cx="3506891" cy="1569660"/>
            <a:chOff x="4267200" y="5139720"/>
            <a:chExt cx="3506891" cy="1569660"/>
          </a:xfrm>
        </p:grpSpPr>
        <p:sp>
          <p:nvSpPr>
            <p:cNvPr id="27652" name="Oval 4">
              <a:extLst>
                <a:ext uri="{FF2B5EF4-FFF2-40B4-BE49-F238E27FC236}">
                  <a16:creationId xmlns:a16="http://schemas.microsoft.com/office/drawing/2014/main" id="{75095AC0-16FF-AE13-930B-4C1D37148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569595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2400">
                <a:latin typeface="Lucida Sans" panose="020B0602030504020204" pitchFamily="34" charset="0"/>
                <a:ea typeface="Arial Unicode MS" pitchFamily="34" charset="-128"/>
              </a:endParaRPr>
            </a:p>
          </p:txBody>
        </p:sp>
        <p:sp>
          <p:nvSpPr>
            <p:cNvPr id="27653" name="Oval 5">
              <a:extLst>
                <a:ext uri="{FF2B5EF4-FFF2-40B4-BE49-F238E27FC236}">
                  <a16:creationId xmlns:a16="http://schemas.microsoft.com/office/drawing/2014/main" id="{2A81A14D-5023-F869-4285-0DA020762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69595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zh-TW" sz="2400">
                <a:latin typeface="Lucida Sans" panose="020B0602030504020204" pitchFamily="34" charset="0"/>
                <a:ea typeface="Arial Unicode MS" pitchFamily="34" charset="-128"/>
              </a:endParaRPr>
            </a:p>
          </p:txBody>
        </p:sp>
        <p:cxnSp>
          <p:nvCxnSpPr>
            <p:cNvPr id="27654" name="AutoShape 6">
              <a:extLst>
                <a:ext uri="{FF2B5EF4-FFF2-40B4-BE49-F238E27FC236}">
                  <a16:creationId xmlns:a16="http://schemas.microsoft.com/office/drawing/2014/main" id="{B659E146-064C-33D3-F8B4-24E6295BB10B}"/>
                </a:ext>
              </a:extLst>
            </p:cNvPr>
            <p:cNvCxnSpPr>
              <a:cxnSpLocks noChangeShapeType="1"/>
              <a:stCxn id="27652" idx="7"/>
              <a:endCxn id="27653" idx="1"/>
            </p:cNvCxnSpPr>
            <p:nvPr/>
          </p:nvCxnSpPr>
          <p:spPr bwMode="auto">
            <a:xfrm>
              <a:off x="4657725" y="5762625"/>
              <a:ext cx="8953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5" name="AutoShape 7">
              <a:extLst>
                <a:ext uri="{FF2B5EF4-FFF2-40B4-BE49-F238E27FC236}">
                  <a16:creationId xmlns:a16="http://schemas.microsoft.com/office/drawing/2014/main" id="{6FA825F2-E55E-C292-273B-39D770809FB3}"/>
                </a:ext>
              </a:extLst>
            </p:cNvPr>
            <p:cNvCxnSpPr>
              <a:cxnSpLocks noChangeShapeType="1"/>
              <a:stCxn id="27653" idx="3"/>
              <a:endCxn id="27652" idx="5"/>
            </p:cNvCxnSpPr>
            <p:nvPr/>
          </p:nvCxnSpPr>
          <p:spPr bwMode="auto">
            <a:xfrm flipH="1">
              <a:off x="4657725" y="6086475"/>
              <a:ext cx="8953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56" name="AutoShape 8">
              <a:extLst>
                <a:ext uri="{FF2B5EF4-FFF2-40B4-BE49-F238E27FC236}">
                  <a16:creationId xmlns:a16="http://schemas.microsoft.com/office/drawing/2014/main" id="{36D32FDE-E776-D0EE-09B3-1A875FDF3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7947" y="5139720"/>
              <a:ext cx="1786144" cy="1569660"/>
            </a:xfrm>
            <a:prstGeom prst="leftArrowCallout">
              <a:avLst>
                <a:gd name="adj1" fmla="val 25000"/>
                <a:gd name="adj2" fmla="val 25000"/>
                <a:gd name="adj3" fmla="val 18106"/>
                <a:gd name="adj4" fmla="val 66667"/>
              </a:avLst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  <a:ea typeface="Arial Unicode MS" pitchFamily="34" charset="-128"/>
                </a:rPr>
                <a:t>Not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  <a:ea typeface="Arial Unicode MS" pitchFamily="34" charset="-128"/>
                </a:rPr>
                <a:t>ergodic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  <a:ea typeface="Arial Unicode MS" pitchFamily="34" charset="-128"/>
                </a:rPr>
                <a:t>(even/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Arial" panose="020B0604020202020204" pitchFamily="34" charset="0"/>
                  <a:ea typeface="Arial Unicode MS" pitchFamily="34" charset="-128"/>
                </a:rPr>
                <a:t>odd).</a:t>
              </a:r>
            </a:p>
          </p:txBody>
        </p:sp>
      </p:grpSp>
      <p:sp>
        <p:nvSpPr>
          <p:cNvPr id="27657" name="TextBox 4">
            <a:extLst>
              <a:ext uri="{FF2B5EF4-FFF2-40B4-BE49-F238E27FC236}">
                <a16:creationId xmlns:a16="http://schemas.microsoft.com/office/drawing/2014/main" id="{5A11CDDD-5564-8EED-F36B-AA56AE3A0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21.2.1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A16027E-FD5B-7EE6-9DFB-17C8FA1EC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922087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Ergodic Markov chains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B5EA2CD-3A4D-60B4-8596-5C393AAD5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8690" y="1752600"/>
            <a:ext cx="9946990" cy="4490545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ea typeface="ＭＳ Ｐゴシック" panose="020B0600070205080204" pitchFamily="34" charset="-128"/>
              </a:rPr>
              <a:t> For any ergodic Markov chain, there is a unique </a:t>
            </a:r>
            <a:r>
              <a:rPr lang="en-US" altLang="zh-TW" sz="3400" u="sng" dirty="0">
                <a:ea typeface="ＭＳ Ｐゴシック" panose="020B0600070205080204" pitchFamily="34" charset="-128"/>
              </a:rPr>
              <a:t>long-term visit rate</a:t>
            </a:r>
            <a:r>
              <a:rPr lang="en-US" altLang="zh-TW" sz="3400" dirty="0">
                <a:ea typeface="ＭＳ Ｐゴシック" panose="020B0600070205080204" pitchFamily="34" charset="-128"/>
              </a:rPr>
              <a:t> for each state.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200" i="1" dirty="0">
                <a:ea typeface="ＭＳ Ｐゴシック" panose="020B0600070205080204" pitchFamily="34" charset="-128"/>
              </a:rPr>
              <a:t>Steady-state probability distribution</a:t>
            </a:r>
            <a:r>
              <a:rPr lang="en-US" altLang="zh-TW" sz="3200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Over a long time-period, we visit each state in proportion to this rate.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ea typeface="ＭＳ Ｐゴシック" panose="020B0600070205080204" pitchFamily="34" charset="-128"/>
              </a:rPr>
              <a:t> It doesn’t matter where we start.</a:t>
            </a:r>
          </a:p>
        </p:txBody>
      </p:sp>
      <p:sp>
        <p:nvSpPr>
          <p:cNvPr id="28676" name="TextBox 4">
            <a:extLst>
              <a:ext uri="{FF2B5EF4-FFF2-40B4-BE49-F238E27FC236}">
                <a16:creationId xmlns:a16="http://schemas.microsoft.com/office/drawing/2014/main" id="{7B445455-D522-3635-0502-D4E646F7D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21.2.1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2BB9D99-A565-E4C8-5F13-702294ABC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750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Probability vectors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362F719-85C7-FACE-4496-E8B6EC78A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3000" dirty="0">
                <a:ea typeface="ＭＳ Ｐゴシック" panose="020B0600070205080204" pitchFamily="34" charset="-128"/>
              </a:rPr>
              <a:t> A probability (row) vector </a:t>
            </a:r>
            <a:r>
              <a:rPr lang="en-US" altLang="zh-TW" sz="3000" b="1" dirty="0">
                <a:ea typeface="ＭＳ Ｐゴシック" panose="020B0600070205080204" pitchFamily="34" charset="-128"/>
              </a:rPr>
              <a:t>x</a:t>
            </a:r>
            <a:r>
              <a:rPr lang="en-US" altLang="zh-TW" sz="3000" dirty="0">
                <a:ea typeface="ＭＳ Ｐゴシック" panose="020B0600070205080204" pitchFamily="34" charset="-128"/>
              </a:rPr>
              <a:t> </a:t>
            </a:r>
            <a:r>
              <a:rPr lang="en-US" altLang="zh-TW" sz="3000" i="1" dirty="0">
                <a:ea typeface="ＭＳ Ｐゴシック" panose="020B0600070205080204" pitchFamily="34" charset="-128"/>
              </a:rPr>
              <a:t>= (x</a:t>
            </a:r>
            <a:r>
              <a:rPr lang="en-US" altLang="zh-TW" sz="3000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sz="3000" i="1" dirty="0">
                <a:ea typeface="ＭＳ Ｐゴシック" panose="020B0600070205080204" pitchFamily="34" charset="-128"/>
              </a:rPr>
              <a:t>, … </a:t>
            </a:r>
            <a:r>
              <a:rPr lang="en-US" altLang="zh-TW" sz="3000" i="1" dirty="0" err="1">
                <a:ea typeface="ＭＳ Ｐゴシック" panose="020B0600070205080204" pitchFamily="34" charset="-128"/>
              </a:rPr>
              <a:t>x</a:t>
            </a:r>
            <a:r>
              <a:rPr lang="en-US" altLang="zh-TW" sz="3000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sz="3000" i="1" dirty="0">
                <a:ea typeface="ＭＳ Ｐゴシック" panose="020B0600070205080204" pitchFamily="34" charset="-128"/>
              </a:rPr>
              <a:t>) </a:t>
            </a:r>
            <a:r>
              <a:rPr lang="en-US" altLang="zh-TW" sz="3000" dirty="0">
                <a:ea typeface="ＭＳ Ｐゴシック" panose="020B0600070205080204" pitchFamily="34" charset="-128"/>
              </a:rPr>
              <a:t>tells us where the walk is at any point.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E.g., (000…1…000) means we’re in state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i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  <a:endParaRPr lang="en-US" altLang="zh-TW" i="1" dirty="0">
              <a:ea typeface="ＭＳ Ｐゴシック" panose="020B0600070205080204" pitchFamily="34" charset="-128"/>
            </a:endParaRP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7F2099AE-D90C-7630-55D7-84E55925F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856" y="3408842"/>
            <a:ext cx="25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i="1">
                <a:latin typeface="Arial" panose="020B0604020202020204" pitchFamily="34" charset="0"/>
                <a:ea typeface="Arial Unicode MS" pitchFamily="34" charset="-128"/>
              </a:rPr>
              <a:t>i</a:t>
            </a:r>
            <a:endParaRPr lang="en-US" altLang="zh-TW" sz="2400"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CDB4CD28-A5D9-7E44-C70C-CDB1F2794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0470" y="340021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i="1" dirty="0">
                <a:latin typeface="Arial" panose="020B0604020202020204" pitchFamily="34" charset="0"/>
                <a:ea typeface="Arial Unicode MS" pitchFamily="34" charset="-128"/>
              </a:rPr>
              <a:t>n</a:t>
            </a:r>
            <a:endParaRPr lang="en-US" altLang="zh-TW" sz="2400" dirty="0"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46FDE5ED-3C7D-7D53-6189-9572A6144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43" y="3400214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i="1" dirty="0">
                <a:latin typeface="Arial" panose="020B0604020202020204" pitchFamily="34" charset="0"/>
                <a:ea typeface="Arial Unicode MS" pitchFamily="34" charset="-128"/>
              </a:rPr>
              <a:t>1</a:t>
            </a:r>
            <a:endParaRPr lang="en-US" altLang="zh-TW" sz="2400" dirty="0"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2BFDD2A1-7209-1945-42A3-0BE395B28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4389438"/>
            <a:ext cx="100584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More generally, the vector </a:t>
            </a:r>
            <a:r>
              <a:rPr lang="en-US" altLang="zh-TW" b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= (x</a:t>
            </a:r>
            <a:r>
              <a:rPr lang="en-US" altLang="zh-TW" i="1" baseline="-250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1</a:t>
            </a:r>
            <a:r>
              <a:rPr lang="en-US" altLang="zh-TW" i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, … </a:t>
            </a:r>
            <a:r>
              <a:rPr lang="en-US" altLang="zh-TW" i="1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x</a:t>
            </a:r>
            <a:r>
              <a:rPr lang="en-US" altLang="zh-TW" i="1" baseline="-25000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n</a:t>
            </a:r>
            <a:r>
              <a:rPr lang="en-US" altLang="zh-TW" i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means the walk is in state </a:t>
            </a:r>
            <a:r>
              <a:rPr lang="en-US" altLang="zh-TW" i="1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with probability </a:t>
            </a:r>
            <a:r>
              <a:rPr lang="en-US" altLang="zh-TW" i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x</a:t>
            </a:r>
            <a:r>
              <a:rPr lang="en-US" altLang="zh-TW" i="1" baseline="-250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.</a:t>
            </a:r>
            <a:r>
              <a:rPr lang="en-US" altLang="zh-TW" sz="20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9704" name="Object 8">
            <a:extLst>
              <a:ext uri="{FF2B5EF4-FFF2-40B4-BE49-F238E27FC236}">
                <a16:creationId xmlns:a16="http://schemas.microsoft.com/office/drawing/2014/main" id="{910D8AD2-B0A6-B05A-D01A-17CCC882E0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037682"/>
              </p:ext>
            </p:extLst>
          </p:nvPr>
        </p:nvGraphicFramePr>
        <p:xfrm>
          <a:off x="5277836" y="5217488"/>
          <a:ext cx="1333172" cy="984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47" imgH="431613" progId="Equation.3">
                  <p:embed/>
                </p:oleObj>
              </mc:Choice>
              <mc:Fallback>
                <p:oleObj name="Equation" r:id="rId2" imgW="583947" imgH="431613" progId="Equation.3">
                  <p:embed/>
                  <p:pic>
                    <p:nvPicPr>
                      <p:cNvPr id="29704" name="Object 8">
                        <a:extLst>
                          <a:ext uri="{FF2B5EF4-FFF2-40B4-BE49-F238E27FC236}">
                            <a16:creationId xmlns:a16="http://schemas.microsoft.com/office/drawing/2014/main" id="{910D8AD2-B0A6-B05A-D01A-17CCC882E0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836" y="5217488"/>
                        <a:ext cx="1333172" cy="984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Box 4">
            <a:extLst>
              <a:ext uri="{FF2B5EF4-FFF2-40B4-BE49-F238E27FC236}">
                <a16:creationId xmlns:a16="http://schemas.microsoft.com/office/drawing/2014/main" id="{5ED517A7-08D4-4FA3-1AF3-0601981FA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21.2.1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BD5FF3B-3C20-5D29-794F-819454B51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1157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Change in probability vector</a:t>
            </a:r>
          </a:p>
        </p:txBody>
      </p:sp>
      <p:sp>
        <p:nvSpPr>
          <p:cNvPr id="1257475" name="Rectangle 3">
            <a:extLst>
              <a:ext uri="{FF2B5EF4-FFF2-40B4-BE49-F238E27FC236}">
                <a16:creationId xmlns:a16="http://schemas.microsoft.com/office/drawing/2014/main" id="{9F617361-5283-A4C6-21E4-2DACBF128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23838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ea typeface="ＭＳ Ｐゴシック" panose="020B0600070205080204" pitchFamily="34" charset="-128"/>
              </a:rPr>
              <a:t> If the probability vector is  </a:t>
            </a:r>
            <a:r>
              <a:rPr lang="en-US" altLang="zh-TW" sz="3400" b="1" dirty="0">
                <a:ea typeface="ＭＳ Ｐゴシック" panose="020B0600070205080204" pitchFamily="34" charset="-128"/>
              </a:rPr>
              <a:t>x</a:t>
            </a:r>
            <a:r>
              <a:rPr lang="en-US" altLang="zh-TW" sz="3400" dirty="0">
                <a:ea typeface="ＭＳ Ｐゴシック" panose="020B0600070205080204" pitchFamily="34" charset="-128"/>
              </a:rPr>
              <a:t> </a:t>
            </a:r>
            <a:r>
              <a:rPr lang="en-US" altLang="zh-TW" sz="3400" i="1" dirty="0">
                <a:ea typeface="ＭＳ Ｐゴシック" panose="020B0600070205080204" pitchFamily="34" charset="-128"/>
              </a:rPr>
              <a:t>= (x</a:t>
            </a:r>
            <a:r>
              <a:rPr lang="en-US" altLang="zh-TW" sz="3400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sz="3400" i="1" dirty="0">
                <a:ea typeface="ＭＳ Ｐゴシック" panose="020B0600070205080204" pitchFamily="34" charset="-128"/>
              </a:rPr>
              <a:t>, … </a:t>
            </a:r>
            <a:r>
              <a:rPr lang="en-US" altLang="zh-TW" sz="3400" i="1" dirty="0" err="1">
                <a:ea typeface="ＭＳ Ｐゴシック" panose="020B0600070205080204" pitchFamily="34" charset="-128"/>
              </a:rPr>
              <a:t>x</a:t>
            </a:r>
            <a:r>
              <a:rPr lang="en-US" altLang="zh-TW" sz="3400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zh-TW" sz="3400" i="1" dirty="0">
                <a:ea typeface="ＭＳ Ｐゴシック" panose="020B0600070205080204" pitchFamily="34" charset="-128"/>
              </a:rPr>
              <a:t>) </a:t>
            </a:r>
            <a:r>
              <a:rPr lang="en-US" altLang="zh-TW" sz="3400" dirty="0">
                <a:ea typeface="ＭＳ Ｐゴシック" panose="020B0600070205080204" pitchFamily="34" charset="-128"/>
              </a:rPr>
              <a:t>at this step, what is it at the next step?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3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Recall that row </a:t>
            </a:r>
            <a:r>
              <a:rPr lang="en-US" altLang="zh-TW" sz="3000" i="1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zh-TW" sz="3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of the transition prob. Matrix </a:t>
            </a:r>
            <a:r>
              <a:rPr lang="en-US" altLang="zh-TW" sz="3000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P</a:t>
            </a:r>
            <a:r>
              <a:rPr lang="en-US" altLang="zh-TW" sz="3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tells us where we go next from state </a:t>
            </a:r>
            <a:r>
              <a:rPr lang="en-US" altLang="zh-TW" sz="3000" i="1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zh-TW" sz="3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ea typeface="ＭＳ Ｐゴシック" panose="020B0600070205080204" pitchFamily="34" charset="-128"/>
              </a:rPr>
              <a:t> So from </a:t>
            </a:r>
            <a:r>
              <a:rPr lang="en-US" altLang="zh-TW" sz="3400" b="1" dirty="0">
                <a:ea typeface="ＭＳ Ｐゴシック" panose="020B0600070205080204" pitchFamily="34" charset="-128"/>
              </a:rPr>
              <a:t>x</a:t>
            </a:r>
            <a:r>
              <a:rPr lang="en-US" altLang="zh-TW" sz="3400" dirty="0">
                <a:ea typeface="ＭＳ Ｐゴシック" panose="020B0600070205080204" pitchFamily="34" charset="-128"/>
              </a:rPr>
              <a:t>, our next state is distributed as </a:t>
            </a:r>
            <a:r>
              <a:rPr lang="en-US" altLang="zh-TW" sz="3400" b="1" dirty="0" err="1">
                <a:ea typeface="ＭＳ Ｐゴシック" panose="020B0600070205080204" pitchFamily="34" charset="-128"/>
              </a:rPr>
              <a:t>xP</a:t>
            </a:r>
            <a:r>
              <a:rPr lang="en-US" altLang="zh-TW" sz="3400" dirty="0">
                <a:ea typeface="ＭＳ Ｐゴシック" panose="020B0600070205080204" pitchFamily="34" charset="-128"/>
              </a:rPr>
              <a:t>.</a:t>
            </a:r>
            <a:endParaRPr lang="en-US" altLang="zh-TW" sz="3400" i="1" dirty="0">
              <a:ea typeface="ＭＳ Ｐゴシック" panose="020B0600070205080204" pitchFamily="34" charset="-128"/>
            </a:endParaRPr>
          </a:p>
        </p:txBody>
      </p:sp>
      <p:sp>
        <p:nvSpPr>
          <p:cNvPr id="30724" name="TextBox 4">
            <a:extLst>
              <a:ext uri="{FF2B5EF4-FFF2-40B4-BE49-F238E27FC236}">
                <a16:creationId xmlns:a16="http://schemas.microsoft.com/office/drawing/2014/main" id="{75669911-BC04-D30D-AA31-9A03CEEA1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1FCAEE3-709C-5C4C-1FA3-5A05236A5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How do we compute this vector?</a:t>
            </a:r>
          </a:p>
        </p:txBody>
      </p:sp>
      <p:sp>
        <p:nvSpPr>
          <p:cNvPr id="1259523" name="Rectangle 3">
            <a:extLst>
              <a:ext uri="{FF2B5EF4-FFF2-40B4-BE49-F238E27FC236}">
                <a16:creationId xmlns:a16="http://schemas.microsoft.com/office/drawing/2014/main" id="{015A2263-463B-99BC-DA01-F6BF412A16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26077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Let 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= (a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i="1" dirty="0">
                <a:ea typeface="ＭＳ Ｐゴシック" panose="020B0600070205080204" pitchFamily="34" charset="-128"/>
              </a:rPr>
              <a:t>, … 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zh-TW" i="1" dirty="0">
                <a:ea typeface="ＭＳ Ｐゴシック" panose="020B0600070205080204" pitchFamily="34" charset="-128"/>
              </a:rPr>
              <a:t>)</a:t>
            </a:r>
            <a:r>
              <a:rPr lang="en-US" altLang="zh-TW" dirty="0">
                <a:ea typeface="ＭＳ Ｐゴシック" panose="020B0600070205080204" pitchFamily="34" charset="-128"/>
              </a:rPr>
              <a:t> denote the row vector of steady-state probabilities.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If our current position is described by </a:t>
            </a:r>
            <a:r>
              <a:rPr lang="en-US" altLang="zh-TW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then the next step is distributed as </a:t>
            </a:r>
            <a:r>
              <a:rPr lang="en-US" altLang="zh-TW" b="1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aP</a:t>
            </a:r>
            <a:r>
              <a:rPr lang="en-US" altLang="zh-TW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  <a:endParaRPr lang="en-US" altLang="zh-TW" dirty="0">
              <a:solidFill>
                <a:schemeClr val="tx1"/>
              </a:solidFill>
              <a:ea typeface="ＭＳ Ｐゴシック" panose="020B0600070205080204" pitchFamily="34" charset="-128"/>
            </a:endParaRP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But 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ea typeface="ＭＳ Ｐゴシック" panose="020B0600070205080204" pitchFamily="34" charset="-128"/>
              </a:rPr>
              <a:t> is the steady state, so 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ea typeface="ＭＳ Ｐゴシック" panose="020B0600070205080204" pitchFamily="34" charset="-128"/>
              </a:rPr>
              <a:t>=</a:t>
            </a:r>
            <a:r>
              <a:rPr lang="en-US" altLang="zh-TW" b="1" dirty="0" err="1">
                <a:ea typeface="ＭＳ Ｐゴシック" panose="020B0600070205080204" pitchFamily="34" charset="-128"/>
              </a:rPr>
              <a:t>aP</a:t>
            </a:r>
            <a:r>
              <a:rPr lang="en-US" altLang="zh-TW" dirty="0" err="1">
                <a:ea typeface="ＭＳ Ｐゴシック" panose="020B0600070205080204" pitchFamily="34" charset="-128"/>
              </a:rPr>
              <a:t>.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Solving this matrix equation gives us </a:t>
            </a:r>
            <a:r>
              <a:rPr lang="en-US" altLang="zh-TW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So 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ea typeface="ＭＳ Ｐゴシック" panose="020B0600070205080204" pitchFamily="34" charset="-128"/>
              </a:rPr>
              <a:t> is the (left) eigenvector for </a:t>
            </a:r>
            <a:r>
              <a:rPr lang="en-US" altLang="zh-TW" b="1" dirty="0">
                <a:ea typeface="ＭＳ Ｐゴシック" panose="020B0600070205080204" pitchFamily="34" charset="-128"/>
              </a:rPr>
              <a:t>P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(Corresponds to the “principal” eigenvector of </a:t>
            </a:r>
            <a:r>
              <a:rPr lang="en-US" altLang="zh-TW" b="1" dirty="0">
                <a:ea typeface="ＭＳ Ｐゴシック" panose="020B0600070205080204" pitchFamily="34" charset="-128"/>
              </a:rPr>
              <a:t>P </a:t>
            </a:r>
            <a:r>
              <a:rPr lang="en-US" altLang="zh-TW" dirty="0">
                <a:ea typeface="ＭＳ Ｐゴシック" panose="020B0600070205080204" pitchFamily="34" charset="-128"/>
              </a:rPr>
              <a:t>with the largest eigenvalue.)</a:t>
            </a:r>
          </a:p>
        </p:txBody>
      </p:sp>
      <p:sp>
        <p:nvSpPr>
          <p:cNvPr id="32772" name="TextBox 4">
            <a:extLst>
              <a:ext uri="{FF2B5EF4-FFF2-40B4-BE49-F238E27FC236}">
                <a16:creationId xmlns:a16="http://schemas.microsoft.com/office/drawing/2014/main" id="{EDF574F2-3E4F-7757-6C45-4FB3BA437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91EA74A-B09E-7FCE-5E51-A86ED1461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pPr algn="just"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One way of computing </a:t>
            </a:r>
            <a:r>
              <a:rPr lang="en-US" altLang="zh-TW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260547" name="Rectangle 3">
            <a:extLst>
              <a:ext uri="{FF2B5EF4-FFF2-40B4-BE49-F238E27FC236}">
                <a16:creationId xmlns:a16="http://schemas.microsoft.com/office/drawing/2014/main" id="{4DDFEAE5-6DA2-B56E-8CFB-5D6ED0DE6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5536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Recall, regardless of where we start, we eventually reach the steady state 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Start with any distribution (say </a:t>
            </a:r>
            <a:r>
              <a:rPr lang="en-US" altLang="zh-TW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=(</a:t>
            </a:r>
            <a:r>
              <a:rPr lang="en-US" altLang="zh-TW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10…0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)).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After one step, we’re at </a:t>
            </a:r>
            <a:r>
              <a:rPr lang="en-US" altLang="zh-TW" b="1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xP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;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After two steps at </a:t>
            </a:r>
            <a:r>
              <a:rPr lang="en-US" altLang="zh-TW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xP</a:t>
            </a:r>
            <a:r>
              <a:rPr lang="en-US" altLang="zh-TW" i="1" baseline="30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, then </a:t>
            </a:r>
            <a:r>
              <a:rPr lang="en-US" altLang="zh-TW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xP</a:t>
            </a:r>
            <a:r>
              <a:rPr lang="en-US" altLang="zh-TW" i="1" baseline="30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3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and so on.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“Eventually” means for “large” </a:t>
            </a:r>
            <a:r>
              <a:rPr lang="en-US" altLang="zh-TW" i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, </a:t>
            </a:r>
            <a:r>
              <a:rPr lang="en-US" altLang="zh-TW" b="1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xP</a:t>
            </a:r>
            <a:r>
              <a:rPr lang="en-US" altLang="zh-TW" i="1" baseline="300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k</a:t>
            </a:r>
            <a:r>
              <a:rPr lang="en-US" altLang="zh-TW" i="1" baseline="30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= </a:t>
            </a:r>
            <a:r>
              <a:rPr lang="en-US" altLang="zh-TW" b="1" dirty="0">
                <a:solidFill>
                  <a:schemeClr val="tx1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solidFill>
                  <a:schemeClr val="tx1"/>
                </a:solidFill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Algorithm: multiply </a:t>
            </a:r>
            <a:r>
              <a:rPr lang="en-US" altLang="zh-TW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x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by increasing powers of </a:t>
            </a:r>
            <a:r>
              <a:rPr lang="en-US" altLang="zh-TW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until the product looks stable.</a:t>
            </a:r>
          </a:p>
        </p:txBody>
      </p:sp>
      <p:sp>
        <p:nvSpPr>
          <p:cNvPr id="33796" name="TextBox 4">
            <a:extLst>
              <a:ext uri="{FF2B5EF4-FFF2-40B4-BE49-F238E27FC236}">
                <a16:creationId xmlns:a16="http://schemas.microsoft.com/office/drawing/2014/main" id="{02A0CA15-3854-0516-FA57-074883EF8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7274A48-961D-20B5-4717-F1B049CF7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Pagerank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summary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5A504F3-0DB7-B3F9-B17E-062333CF5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34349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Preprocessing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Given graph of links,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build matrix </a:t>
            </a:r>
            <a:r>
              <a:rPr lang="en-US" altLang="zh-TW" b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From it compute </a:t>
            </a:r>
            <a:r>
              <a:rPr lang="en-US" altLang="zh-TW" b="1" dirty="0">
                <a:ea typeface="ＭＳ Ｐゴシック" panose="020B0600070205080204" pitchFamily="34" charset="-128"/>
              </a:rPr>
              <a:t>a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 entry </a:t>
            </a:r>
            <a:r>
              <a:rPr lang="en-US" altLang="zh-TW" i="1" dirty="0">
                <a:ea typeface="ＭＳ Ｐゴシック" panose="020B0600070205080204" pitchFamily="34" charset="-128"/>
              </a:rPr>
              <a:t>a</a:t>
            </a:r>
            <a:r>
              <a:rPr lang="en-US" altLang="zh-TW" i="1" baseline="-25000" dirty="0">
                <a:ea typeface="ＭＳ Ｐゴシック" panose="020B0600070205080204" pitchFamily="34" charset="-128"/>
              </a:rPr>
              <a:t>i</a:t>
            </a:r>
            <a:r>
              <a:rPr lang="en-US" altLang="zh-TW" dirty="0">
                <a:ea typeface="ＭＳ Ｐゴシック" panose="020B0600070205080204" pitchFamily="34" charset="-128"/>
              </a:rPr>
              <a:t> is a number between 0 and 1: the </a:t>
            </a:r>
            <a:r>
              <a:rPr lang="en-US" altLang="zh-TW" dirty="0" err="1">
                <a:ea typeface="ＭＳ Ｐゴシック" panose="020B0600070205080204" pitchFamily="34" charset="-128"/>
              </a:rPr>
              <a:t>pagerank</a:t>
            </a:r>
            <a:r>
              <a:rPr lang="en-US" altLang="zh-TW" dirty="0">
                <a:ea typeface="ＭＳ Ｐゴシック" panose="020B0600070205080204" pitchFamily="34" charset="-128"/>
              </a:rPr>
              <a:t> of page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i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Query processing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Retrieve pages meeting query.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Rank them by their </a:t>
            </a:r>
            <a:r>
              <a:rPr lang="en-US" altLang="zh-TW" dirty="0" err="1">
                <a:ea typeface="ＭＳ Ｐゴシック" panose="020B0600070205080204" pitchFamily="34" charset="-128"/>
              </a:rPr>
              <a:t>pagerank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Order is query-</a:t>
            </a:r>
            <a:r>
              <a:rPr lang="en-US" altLang="zh-TW" i="1" dirty="0">
                <a:ea typeface="ＭＳ Ｐゴシック" panose="020B0600070205080204" pitchFamily="34" charset="-128"/>
              </a:rPr>
              <a:t>independent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34820" name="TextBox 4">
            <a:extLst>
              <a:ext uri="{FF2B5EF4-FFF2-40B4-BE49-F238E27FC236}">
                <a16:creationId xmlns:a16="http://schemas.microsoft.com/office/drawing/2014/main" id="{FC32CA9B-AA11-C924-651B-5D8EA6E18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21.2.2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FEBB-13ED-708F-9D82-7C5EA416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Built matrix 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C5C6-0756-36A0-9305-1CD6DBC1D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43101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GB" dirty="0"/>
              <a:t>The adjacency matrix A of the web graph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if there is a hyperlink from page </a:t>
            </a:r>
            <a:r>
              <a:rPr lang="en-GB" dirty="0" err="1"/>
              <a:t>i</a:t>
            </a:r>
            <a:r>
              <a:rPr lang="en-GB" dirty="0"/>
              <a:t> to page j, then </a:t>
            </a:r>
            <a:r>
              <a:rPr lang="en-GB" dirty="0" err="1"/>
              <a:t>A</a:t>
            </a:r>
            <a:r>
              <a:rPr lang="en-GB" baseline="-25000" dirty="0" err="1"/>
              <a:t>ij</a:t>
            </a:r>
            <a:r>
              <a:rPr lang="en-GB" dirty="0"/>
              <a:t> = 1,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otherwise </a:t>
            </a:r>
            <a:r>
              <a:rPr lang="en-GB" dirty="0" err="1"/>
              <a:t>A</a:t>
            </a:r>
            <a:r>
              <a:rPr lang="en-GB" baseline="-25000" dirty="0" err="1"/>
              <a:t>ij</a:t>
            </a:r>
            <a:r>
              <a:rPr lang="en-GB" dirty="0"/>
              <a:t> = 0.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 The transition probability matrix P from the N × N matrix A: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1. If a row of A has no 1’s, then replace each element by 1/N. For all other rows proceed as follows.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2. Divide each 1 in A by the number of 1’s in its row. Thus, if there is a row with three 1’s, then each of them is replaced by 1/3.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3. Multiply the resulting matrix by 1 − α.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4. Add α/N to every entry of the resulting matrix, to obtain P.</a:t>
            </a:r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36AC3-FFA4-FA32-7CCC-AAADA978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3263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FEBB-13ED-708F-9D82-7C5EA416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Built matrix 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C5C6-0756-36A0-9305-1CD6DBC1D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43101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GB" dirty="0"/>
              <a:t>Consider a web graph with three nodes 1, 2 and 3.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 The links are as follows: 1 → 2, 3 → 2, 2 → 1, 2 → 3. 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/>
              <a:t> Write down the transition probability matrices for the surfer’s walk with teleporting, for the following three values of the teleport probability: α = 0.5.</a:t>
            </a:r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36AC3-FFA4-FA32-7CCC-AAADA978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39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18301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2796BD2-1B74-EA40-C501-6928BE011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1655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Pagerank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: Issues and Variants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3F502EC-73D9-680D-2394-2D479D5C5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23838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How realistic is the random surfer model?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What if we modeled the back button?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Search engines, bookmarks &amp; directories make jumps non-random.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…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Biased Surfer Models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Weight edge traversal probabilities based on match with topic/query (non-uniform edge selection)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Bias jumps to pages on topic (e.g., based on personal bookmarks &amp; categories of interest)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E8795EB-DF2E-A535-1782-87E5E833C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48514"/>
          </a:xfrm>
        </p:spPr>
        <p:txBody>
          <a:bodyPr/>
          <a:lstStyle/>
          <a:p>
            <a:pPr eaLnBrk="1" hangingPunct="1"/>
            <a:r>
              <a:rPr lang="en-US" altLang="zh-TW" sz="37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Topic Specific </a:t>
            </a:r>
            <a:r>
              <a:rPr lang="en-US" altLang="zh-TW" sz="3700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Pagerank</a:t>
            </a:r>
            <a:endParaRPr lang="en-US" altLang="zh-TW" sz="33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1D9EF6D-8D2E-7B74-311D-69C1DA275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8179" y="1765738"/>
            <a:ext cx="9957501" cy="4393324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MS PGothic" pitchFamily="34" charset="-128"/>
              </a:rPr>
              <a:t> Goal – </a:t>
            </a:r>
            <a:r>
              <a:rPr lang="en-US" dirty="0" err="1">
                <a:ea typeface="MS PGothic" pitchFamily="34" charset="-128"/>
              </a:rPr>
              <a:t>pagerank</a:t>
            </a:r>
            <a:r>
              <a:rPr lang="en-US" dirty="0">
                <a:ea typeface="MS PGothic" pitchFamily="34" charset="-128"/>
              </a:rPr>
              <a:t> values that </a:t>
            </a:r>
            <a:r>
              <a:rPr lang="en-US" dirty="0">
                <a:solidFill>
                  <a:srgbClr val="FF0000"/>
                </a:solidFill>
                <a:ea typeface="MS PGothic" pitchFamily="34" charset="-128"/>
              </a:rPr>
              <a:t>depend on query </a:t>
            </a:r>
            <a:r>
              <a:rPr lang="en-US" i="1" dirty="0">
                <a:solidFill>
                  <a:srgbClr val="FF0000"/>
                </a:solidFill>
                <a:ea typeface="MS PGothic" pitchFamily="34" charset="-128"/>
              </a:rPr>
              <a:t>topic</a:t>
            </a:r>
            <a:r>
              <a:rPr lang="en-US" i="1" dirty="0">
                <a:ea typeface="MS PGothic" pitchFamily="34" charset="-128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MS PGothic" pitchFamily="34" charset="-128"/>
              </a:rPr>
              <a:t> Conceptually, we use a random surfer who teleports, with say 10% probability, using the following rule: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MS PGothic" pitchFamily="34" charset="-128"/>
              </a:rPr>
              <a:t>Selects a topic (say, one of the 16 top level ODP categories) based on a query &amp; user -specific distribution over the categories.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ea typeface="MS PGothic" pitchFamily="34" charset="-128"/>
              </a:rPr>
              <a:t>Teleport to a page uniformly at random within the chosen topic.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MS PGothic" pitchFamily="34" charset="-128"/>
              </a:rPr>
              <a:t> Sounds hard to implement: </a:t>
            </a:r>
            <a:r>
              <a:rPr lang="en-US" i="1" dirty="0">
                <a:solidFill>
                  <a:srgbClr val="FF0000"/>
                </a:solidFill>
                <a:ea typeface="MS PGothic" pitchFamily="34" charset="-128"/>
              </a:rPr>
              <a:t>can’t compute PageRank at query time!</a:t>
            </a:r>
          </a:p>
        </p:txBody>
      </p:sp>
      <p:sp>
        <p:nvSpPr>
          <p:cNvPr id="37892" name="TextBox 4">
            <a:extLst>
              <a:ext uri="{FF2B5EF4-FFF2-40B4-BE49-F238E27FC236}">
                <a16:creationId xmlns:a16="http://schemas.microsoft.com/office/drawing/2014/main" id="{AAE1BAB0-14C5-3F9B-BBC2-DEB68C14B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21.2.3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50DB3270-5FB0-E504-4938-E7B9959BC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Influencing PageRank (“Personalization”)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C57D5979-A577-389A-9354-A703B6B92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92307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ea typeface="ＭＳ Ｐゴシック" panose="020B0600070205080204" pitchFamily="34" charset="-128"/>
              </a:rPr>
              <a:t> </a:t>
            </a:r>
            <a:r>
              <a:rPr lang="en-US" altLang="zh-TW" sz="3400" u="sng" dirty="0">
                <a:ea typeface="ＭＳ Ｐゴシック" panose="020B0600070205080204" pitchFamily="34" charset="-128"/>
              </a:rPr>
              <a:t>Input:</a:t>
            </a:r>
            <a:r>
              <a:rPr lang="en-US" altLang="zh-TW" sz="3400" dirty="0">
                <a:ea typeface="ＭＳ Ｐゴシック" panose="020B0600070205080204" pitchFamily="34" charset="-128"/>
              </a:rPr>
              <a:t> 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ＭＳ Ｐゴシック" panose="020B0600070205080204" pitchFamily="34" charset="-128"/>
              </a:rPr>
              <a:t>Web graph </a:t>
            </a:r>
            <a:r>
              <a:rPr lang="en-US" altLang="zh-TW" sz="2800" i="1" dirty="0">
                <a:ea typeface="ＭＳ Ｐゴシック" panose="020B0600070205080204" pitchFamily="34" charset="-128"/>
              </a:rPr>
              <a:t>W</a:t>
            </a:r>
            <a:endParaRPr lang="en-US" altLang="zh-TW" sz="2800" dirty="0"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ＭＳ Ｐゴシック" panose="020B0600070205080204" pitchFamily="34" charset="-128"/>
              </a:rPr>
              <a:t>Influence vector </a:t>
            </a:r>
            <a:r>
              <a:rPr lang="en-US" altLang="zh-TW" sz="2800" b="1" dirty="0">
                <a:ea typeface="ＭＳ Ｐゴシック" panose="020B0600070205080204" pitchFamily="34" charset="-128"/>
              </a:rPr>
              <a:t>v </a:t>
            </a:r>
            <a:r>
              <a:rPr lang="en-US" altLang="zh-TW" sz="2800" dirty="0">
                <a:ea typeface="ＭＳ Ｐゴシック" panose="020B0600070205080204" pitchFamily="34" charset="-128"/>
              </a:rPr>
              <a:t>over topics</a:t>
            </a:r>
            <a:endParaRPr lang="en-US" altLang="zh-TW" sz="3600" dirty="0">
              <a:ea typeface="ＭＳ Ｐゴシック" panose="020B0600070205080204" pitchFamily="34" charset="-128"/>
            </a:endParaRP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b="1" dirty="0">
                <a:ea typeface="ＭＳ Ｐゴシック" panose="020B0600070205080204" pitchFamily="34" charset="-128"/>
              </a:rPr>
              <a:t>v</a:t>
            </a:r>
            <a:r>
              <a:rPr lang="en-US" altLang="zh-TW" sz="2800" dirty="0">
                <a:ea typeface="ＭＳ Ｐゴシック" panose="020B0600070205080204" pitchFamily="34" charset="-128"/>
              </a:rPr>
              <a:t> : (page </a:t>
            </a:r>
            <a:r>
              <a:rPr lang="en-US" altLang="zh-TW" sz="2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degree of influence)</a:t>
            </a:r>
            <a:endParaRPr lang="en-US" altLang="zh-TW" sz="32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400" dirty="0">
                <a:ea typeface="ＭＳ Ｐゴシック" panose="020B0600070205080204" pitchFamily="34" charset="-128"/>
              </a:rPr>
              <a:t> </a:t>
            </a:r>
            <a:r>
              <a:rPr lang="en-US" altLang="zh-TW" sz="3400" u="sng" dirty="0">
                <a:ea typeface="ＭＳ Ｐゴシック" panose="020B0600070205080204" pitchFamily="34" charset="-128"/>
              </a:rPr>
              <a:t>Output: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800" dirty="0">
                <a:ea typeface="ＭＳ Ｐゴシック" panose="020B0600070205080204" pitchFamily="34" charset="-128"/>
              </a:rPr>
              <a:t>Rank vector </a:t>
            </a:r>
            <a:r>
              <a:rPr lang="en-US" altLang="zh-TW" sz="2800" b="1" dirty="0">
                <a:ea typeface="ＭＳ Ｐゴシック" panose="020B0600070205080204" pitchFamily="34" charset="-128"/>
              </a:rPr>
              <a:t>r</a:t>
            </a:r>
            <a:r>
              <a:rPr lang="en-US" altLang="zh-TW" sz="2800" dirty="0">
                <a:ea typeface="ＭＳ Ｐゴシック" panose="020B0600070205080204" pitchFamily="34" charset="-128"/>
              </a:rPr>
              <a:t>: (page </a:t>
            </a:r>
            <a:r>
              <a:rPr lang="en-US" altLang="zh-TW" sz="2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page importance </a:t>
            </a:r>
            <a:r>
              <a:rPr lang="en-US" altLang="zh-TW" sz="2800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wrt</a:t>
            </a:r>
            <a:r>
              <a:rPr lang="en-US" altLang="zh-TW" sz="2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TW" sz="28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v</a:t>
            </a:r>
            <a:r>
              <a:rPr lang="en-US" altLang="zh-TW" sz="2800" dirty="0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zh-TW" sz="2800" baseline="-25000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200" b="1" dirty="0">
                <a:ea typeface="ＭＳ Ｐゴシック" panose="020B0600070205080204" pitchFamily="34" charset="-128"/>
              </a:rPr>
              <a:t> r</a:t>
            </a:r>
            <a:r>
              <a:rPr lang="en-US" altLang="zh-TW" sz="3200" baseline="-25000" dirty="0">
                <a:ea typeface="ＭＳ Ｐゴシック" panose="020B0600070205080204" pitchFamily="34" charset="-128"/>
              </a:rPr>
              <a:t> </a:t>
            </a:r>
            <a:r>
              <a:rPr lang="en-US" altLang="zh-TW" sz="3200" dirty="0">
                <a:ea typeface="ＭＳ Ｐゴシック" panose="020B0600070205080204" pitchFamily="34" charset="-128"/>
              </a:rPr>
              <a:t>= PR(</a:t>
            </a:r>
            <a:r>
              <a:rPr lang="en-US" altLang="zh-TW" sz="3200" i="1" dirty="0">
                <a:ea typeface="ＭＳ Ｐゴシック" panose="020B0600070205080204" pitchFamily="34" charset="-128"/>
              </a:rPr>
              <a:t>W</a:t>
            </a:r>
            <a:r>
              <a:rPr lang="en-US" altLang="zh-TW" sz="3200" dirty="0">
                <a:ea typeface="ＭＳ Ｐゴシック" panose="020B0600070205080204" pitchFamily="34" charset="-128"/>
              </a:rPr>
              <a:t> , </a:t>
            </a:r>
            <a:r>
              <a:rPr lang="en-US" altLang="zh-TW" sz="3200" b="1" dirty="0">
                <a:ea typeface="ＭＳ Ｐゴシック" panose="020B0600070205080204" pitchFamily="34" charset="-128"/>
              </a:rPr>
              <a:t>v</a:t>
            </a:r>
            <a:r>
              <a:rPr lang="en-US" altLang="zh-TW" sz="3200" dirty="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39941" name="TextBox 4">
            <a:extLst>
              <a:ext uri="{FF2B5EF4-FFF2-40B4-BE49-F238E27FC236}">
                <a16:creationId xmlns:a16="http://schemas.microsoft.com/office/drawing/2014/main" id="{C8B15887-84A1-9C5F-C21E-C57D324D4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21.2.3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E797A7E-08DD-D974-25EB-89EA83E24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3259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Non-uniform Teleportation</a:t>
            </a:r>
          </a:p>
        </p:txBody>
      </p:sp>
      <p:sp>
        <p:nvSpPr>
          <p:cNvPr id="41987" name="Oval 3">
            <a:extLst>
              <a:ext uri="{FF2B5EF4-FFF2-40B4-BE49-F238E27FC236}">
                <a16:creationId xmlns:a16="http://schemas.microsoft.com/office/drawing/2014/main" id="{FB4FBE79-4D8B-778C-2118-E14F16172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971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1988" name="Oval 4">
            <a:extLst>
              <a:ext uri="{FF2B5EF4-FFF2-40B4-BE49-F238E27FC236}">
                <a16:creationId xmlns:a16="http://schemas.microsoft.com/office/drawing/2014/main" id="{DB8BB893-886B-9248-1BB1-CB7528842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908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1989" name="Oval 5">
            <a:extLst>
              <a:ext uri="{FF2B5EF4-FFF2-40B4-BE49-F238E27FC236}">
                <a16:creationId xmlns:a16="http://schemas.microsoft.com/office/drawing/2014/main" id="{71734C65-C42F-E452-2C75-98C706AE8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814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1990" name="Oval 6">
            <a:extLst>
              <a:ext uri="{FF2B5EF4-FFF2-40B4-BE49-F238E27FC236}">
                <a16:creationId xmlns:a16="http://schemas.microsoft.com/office/drawing/2014/main" id="{F2A365B2-5A3B-7B30-AC60-A34E6B59B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7244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1991" name="Oval 7">
            <a:extLst>
              <a:ext uri="{FF2B5EF4-FFF2-40B4-BE49-F238E27FC236}">
                <a16:creationId xmlns:a16="http://schemas.microsoft.com/office/drawing/2014/main" id="{5BEAFB95-6F29-B140-7B22-864B9EB63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9718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1992" name="Oval 8">
            <a:extLst>
              <a:ext uri="{FF2B5EF4-FFF2-40B4-BE49-F238E27FC236}">
                <a16:creationId xmlns:a16="http://schemas.microsoft.com/office/drawing/2014/main" id="{6CE56526-C170-6CB4-6D25-1C8734A8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8100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1993" name="Line 9">
            <a:extLst>
              <a:ext uri="{FF2B5EF4-FFF2-40B4-BE49-F238E27FC236}">
                <a16:creationId xmlns:a16="http://schemas.microsoft.com/office/drawing/2014/main" id="{ED4BF1AD-46F6-A5EF-11A6-1DEBCB88E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819400"/>
            <a:ext cx="1905000" cy="3810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4" name="Line 10">
            <a:extLst>
              <a:ext uri="{FF2B5EF4-FFF2-40B4-BE49-F238E27FC236}">
                <a16:creationId xmlns:a16="http://schemas.microsoft.com/office/drawing/2014/main" id="{7CBCBF95-9BA0-C530-9269-5DED4DAB28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200400"/>
            <a:ext cx="1600200" cy="4572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5" name="Line 11">
            <a:extLst>
              <a:ext uri="{FF2B5EF4-FFF2-40B4-BE49-F238E27FC236}">
                <a16:creationId xmlns:a16="http://schemas.microsoft.com/office/drawing/2014/main" id="{754C5202-A118-BDF9-0E3E-B77463F6A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114800"/>
            <a:ext cx="1371600" cy="6858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6" name="Line 12">
            <a:extLst>
              <a:ext uri="{FF2B5EF4-FFF2-40B4-BE49-F238E27FC236}">
                <a16:creationId xmlns:a16="http://schemas.microsoft.com/office/drawing/2014/main" id="{A378B726-8E38-B679-4335-97FBA0E0BB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62600" y="3886200"/>
            <a:ext cx="1905000" cy="762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7" name="Line 13">
            <a:extLst>
              <a:ext uri="{FF2B5EF4-FFF2-40B4-BE49-F238E27FC236}">
                <a16:creationId xmlns:a16="http://schemas.microsoft.com/office/drawing/2014/main" id="{0A5FC504-F50E-9919-4B99-03E65DCB42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819400"/>
            <a:ext cx="685800" cy="2286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8" name="Line 14">
            <a:extLst>
              <a:ext uri="{FF2B5EF4-FFF2-40B4-BE49-F238E27FC236}">
                <a16:creationId xmlns:a16="http://schemas.microsoft.com/office/drawing/2014/main" id="{DDB4BDE7-E112-DEEA-D326-96B27CB78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352800"/>
            <a:ext cx="152400" cy="4572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9" name="Line 15">
            <a:extLst>
              <a:ext uri="{FF2B5EF4-FFF2-40B4-BE49-F238E27FC236}">
                <a16:creationId xmlns:a16="http://schemas.microsoft.com/office/drawing/2014/main" id="{B073C54B-4221-CE82-9DA8-D0657F347E2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86400" y="4038600"/>
            <a:ext cx="304800" cy="6858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cxnSp>
        <p:nvCxnSpPr>
          <p:cNvPr id="42000" name="AutoShape 16">
            <a:extLst>
              <a:ext uri="{FF2B5EF4-FFF2-40B4-BE49-F238E27FC236}">
                <a16:creationId xmlns:a16="http://schemas.microsoft.com/office/drawing/2014/main" id="{091F0713-D3C1-4D3A-7FC1-5EF92E4D6AB8}"/>
              </a:ext>
            </a:extLst>
          </p:cNvPr>
          <p:cNvCxnSpPr>
            <a:cxnSpLocks noChangeShapeType="1"/>
            <a:stCxn id="41991" idx="0"/>
            <a:endCxn id="41987" idx="0"/>
          </p:cNvCxnSpPr>
          <p:nvPr/>
        </p:nvCxnSpPr>
        <p:spPr bwMode="auto">
          <a:xfrm rot="16200000" flipH="1" flipV="1">
            <a:off x="5714206" y="1219994"/>
            <a:ext cx="1588" cy="3505200"/>
          </a:xfrm>
          <a:prstGeom prst="curvedConnector3">
            <a:avLst>
              <a:gd name="adj1" fmla="val -6270001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1" name="AutoShape 17">
            <a:extLst>
              <a:ext uri="{FF2B5EF4-FFF2-40B4-BE49-F238E27FC236}">
                <a16:creationId xmlns:a16="http://schemas.microsoft.com/office/drawing/2014/main" id="{DFD0E15C-8CA2-41AF-A041-24850DB73612}"/>
              </a:ext>
            </a:extLst>
          </p:cNvPr>
          <p:cNvCxnSpPr>
            <a:cxnSpLocks noChangeShapeType="1"/>
            <a:stCxn id="41988" idx="1"/>
            <a:endCxn id="41987" idx="7"/>
          </p:cNvCxnSpPr>
          <p:nvPr/>
        </p:nvCxnSpPr>
        <p:spPr bwMode="auto">
          <a:xfrm rot="16200000" flipH="1" flipV="1">
            <a:off x="4953000" y="1828800"/>
            <a:ext cx="381000" cy="2038350"/>
          </a:xfrm>
          <a:prstGeom prst="curvedConnector3">
            <a:avLst>
              <a:gd name="adj1" fmla="val -775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8">
            <a:extLst>
              <a:ext uri="{FF2B5EF4-FFF2-40B4-BE49-F238E27FC236}">
                <a16:creationId xmlns:a16="http://schemas.microsoft.com/office/drawing/2014/main" id="{2D93F20B-CF1E-C5F2-BFEC-A569DFFA1DCC}"/>
              </a:ext>
            </a:extLst>
          </p:cNvPr>
          <p:cNvCxnSpPr>
            <a:cxnSpLocks noChangeShapeType="1"/>
            <a:stCxn id="41990" idx="2"/>
            <a:endCxn id="41987" idx="3"/>
          </p:cNvCxnSpPr>
          <p:nvPr/>
        </p:nvCxnSpPr>
        <p:spPr bwMode="auto">
          <a:xfrm rot="10800000">
            <a:off x="3800476" y="3362326"/>
            <a:ext cx="1838325" cy="1590675"/>
          </a:xfrm>
          <a:prstGeom prst="curved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3" name="AutoShape 19">
            <a:extLst>
              <a:ext uri="{FF2B5EF4-FFF2-40B4-BE49-F238E27FC236}">
                <a16:creationId xmlns:a16="http://schemas.microsoft.com/office/drawing/2014/main" id="{900D5490-A42F-5D1F-A377-1AB791D38158}"/>
              </a:ext>
            </a:extLst>
          </p:cNvPr>
          <p:cNvCxnSpPr>
            <a:cxnSpLocks noChangeShapeType="1"/>
            <a:stCxn id="41989" idx="6"/>
            <a:endCxn id="41987" idx="6"/>
          </p:cNvCxnSpPr>
          <p:nvPr/>
        </p:nvCxnSpPr>
        <p:spPr bwMode="auto">
          <a:xfrm flipH="1" flipV="1">
            <a:off x="4191000" y="3200400"/>
            <a:ext cx="1447800" cy="609600"/>
          </a:xfrm>
          <a:prstGeom prst="curvedConnector3">
            <a:avLst>
              <a:gd name="adj1" fmla="val -15792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4" name="AutoShape 20">
            <a:extLst>
              <a:ext uri="{FF2B5EF4-FFF2-40B4-BE49-F238E27FC236}">
                <a16:creationId xmlns:a16="http://schemas.microsoft.com/office/drawing/2014/main" id="{160D413F-0392-56BA-5943-0F15593711FD}"/>
              </a:ext>
            </a:extLst>
          </p:cNvPr>
          <p:cNvCxnSpPr>
            <a:cxnSpLocks noChangeShapeType="1"/>
            <a:stCxn id="41992" idx="5"/>
            <a:endCxn id="41987" idx="4"/>
          </p:cNvCxnSpPr>
          <p:nvPr/>
        </p:nvCxnSpPr>
        <p:spPr bwMode="auto">
          <a:xfrm rot="16200000" flipV="1">
            <a:off x="5524501" y="1866901"/>
            <a:ext cx="771525" cy="3895725"/>
          </a:xfrm>
          <a:prstGeom prst="curvedConnector3">
            <a:avLst>
              <a:gd name="adj1" fmla="val -188273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5" name="Text Box 21">
            <a:extLst>
              <a:ext uri="{FF2B5EF4-FFF2-40B4-BE49-F238E27FC236}">
                <a16:creationId xmlns:a16="http://schemas.microsoft.com/office/drawing/2014/main" id="{6CDBA879-4AB8-699C-4493-7BF56EE62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5943600"/>
            <a:ext cx="6423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Teleport with 10% probability to a Sports page</a:t>
            </a:r>
          </a:p>
        </p:txBody>
      </p:sp>
      <p:sp>
        <p:nvSpPr>
          <p:cNvPr id="42006" name="Text Box 22">
            <a:extLst>
              <a:ext uri="{FF2B5EF4-FFF2-40B4-BE49-F238E27FC236}">
                <a16:creationId xmlns:a16="http://schemas.microsoft.com/office/drawing/2014/main" id="{9DE8071A-E5D1-F3F5-0076-50EBF6E41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274955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Sports</a:t>
            </a:r>
          </a:p>
        </p:txBody>
      </p:sp>
      <p:sp>
        <p:nvSpPr>
          <p:cNvPr id="42007" name="Oval 23">
            <a:extLst>
              <a:ext uri="{FF2B5EF4-FFF2-40B4-BE49-F238E27FC236}">
                <a16:creationId xmlns:a16="http://schemas.microsoft.com/office/drawing/2014/main" id="{B5848C39-BE40-9761-59CB-3BAE8F3D6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124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2008" name="Oval 24">
            <a:extLst>
              <a:ext uri="{FF2B5EF4-FFF2-40B4-BE49-F238E27FC236}">
                <a16:creationId xmlns:a16="http://schemas.microsoft.com/office/drawing/2014/main" id="{EBCD0BC3-5AAA-BC1A-1875-4B19E44B1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276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2009" name="Oval 25">
            <a:extLst>
              <a:ext uri="{FF2B5EF4-FFF2-40B4-BE49-F238E27FC236}">
                <a16:creationId xmlns:a16="http://schemas.microsoft.com/office/drawing/2014/main" id="{00B8559A-659C-3E3D-BE35-F0E2A267B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7432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2010" name="Line 26">
            <a:extLst>
              <a:ext uri="{FF2B5EF4-FFF2-40B4-BE49-F238E27FC236}">
                <a16:creationId xmlns:a16="http://schemas.microsoft.com/office/drawing/2014/main" id="{EAAA2B0F-24FD-748F-C67F-4EAFCD7F86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3505200"/>
            <a:ext cx="685800" cy="1524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1" name="Line 27">
            <a:extLst>
              <a:ext uri="{FF2B5EF4-FFF2-40B4-BE49-F238E27FC236}">
                <a16:creationId xmlns:a16="http://schemas.microsoft.com/office/drawing/2014/main" id="{B307C01B-9CBE-B7FE-910F-B93B95485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3733800"/>
            <a:ext cx="1371600" cy="11430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2" name="Freeform 28">
            <a:extLst>
              <a:ext uri="{FF2B5EF4-FFF2-40B4-BE49-F238E27FC236}">
                <a16:creationId xmlns:a16="http://schemas.microsoft.com/office/drawing/2014/main" id="{3B07DFCE-21D5-E92D-3913-EA7F7B11304B}"/>
              </a:ext>
            </a:extLst>
          </p:cNvPr>
          <p:cNvSpPr>
            <a:spLocks/>
          </p:cNvSpPr>
          <p:nvPr/>
        </p:nvSpPr>
        <p:spPr bwMode="auto">
          <a:xfrm>
            <a:off x="3429000" y="3048000"/>
            <a:ext cx="457200" cy="369332"/>
          </a:xfrm>
          <a:custGeom>
            <a:avLst/>
            <a:gdLst>
              <a:gd name="T0" fmla="*/ 2147483646 w 200"/>
              <a:gd name="T1" fmla="*/ 2147483646 h 160"/>
              <a:gd name="T2" fmla="*/ 2147483646 w 200"/>
              <a:gd name="T3" fmla="*/ 2147483646 h 160"/>
              <a:gd name="T4" fmla="*/ 2147483646 w 200"/>
              <a:gd name="T5" fmla="*/ 2147483646 h 160"/>
              <a:gd name="T6" fmla="*/ 0 60000 65536"/>
              <a:gd name="T7" fmla="*/ 0 60000 65536"/>
              <a:gd name="T8" fmla="*/ 0 60000 65536"/>
              <a:gd name="T9" fmla="*/ 0 w 200"/>
              <a:gd name="T10" fmla="*/ 0 h 160"/>
              <a:gd name="T11" fmla="*/ 200 w 200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160">
                <a:moveTo>
                  <a:pt x="200" y="64"/>
                </a:moveTo>
                <a:cubicBezTo>
                  <a:pt x="108" y="32"/>
                  <a:pt x="16" y="0"/>
                  <a:pt x="8" y="16"/>
                </a:cubicBezTo>
                <a:cubicBezTo>
                  <a:pt x="0" y="32"/>
                  <a:pt x="76" y="96"/>
                  <a:pt x="152" y="160"/>
                </a:cubicBezTo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2013" name="TextBox 29">
            <a:extLst>
              <a:ext uri="{FF2B5EF4-FFF2-40B4-BE49-F238E27FC236}">
                <a16:creationId xmlns:a16="http://schemas.microsoft.com/office/drawing/2014/main" id="{C2337C60-5DD2-EA00-6F63-AABACFC45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21.2.3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1281C60-C402-0615-954B-25AC5F11F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7702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Interpretation</a:t>
            </a:r>
          </a:p>
        </p:txBody>
      </p:sp>
      <p:sp>
        <p:nvSpPr>
          <p:cNvPr id="46083" name="Oval 3">
            <a:extLst>
              <a:ext uri="{FF2B5EF4-FFF2-40B4-BE49-F238E27FC236}">
                <a16:creationId xmlns:a16="http://schemas.microsoft.com/office/drawing/2014/main" id="{E7914DA9-4535-BCE9-066A-B841B0CEE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9718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084" name="Oval 4">
            <a:extLst>
              <a:ext uri="{FF2B5EF4-FFF2-40B4-BE49-F238E27FC236}">
                <a16:creationId xmlns:a16="http://schemas.microsoft.com/office/drawing/2014/main" id="{A9784B54-167B-2CCC-D953-8B9F4F45C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90800"/>
            <a:ext cx="457200" cy="457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085" name="Oval 5">
            <a:extLst>
              <a:ext uri="{FF2B5EF4-FFF2-40B4-BE49-F238E27FC236}">
                <a16:creationId xmlns:a16="http://schemas.microsoft.com/office/drawing/2014/main" id="{B0DA58F0-5477-D8C9-EEA6-3B4B5ECC4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814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086" name="Oval 6">
            <a:extLst>
              <a:ext uri="{FF2B5EF4-FFF2-40B4-BE49-F238E27FC236}">
                <a16:creationId xmlns:a16="http://schemas.microsoft.com/office/drawing/2014/main" id="{0E32F831-2797-BB04-0071-A66B9319D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7244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087" name="Oval 7">
            <a:extLst>
              <a:ext uri="{FF2B5EF4-FFF2-40B4-BE49-F238E27FC236}">
                <a16:creationId xmlns:a16="http://schemas.microsoft.com/office/drawing/2014/main" id="{F49C04B0-31C0-02AB-81CB-7799010E9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9718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088" name="Oval 8">
            <a:extLst>
              <a:ext uri="{FF2B5EF4-FFF2-40B4-BE49-F238E27FC236}">
                <a16:creationId xmlns:a16="http://schemas.microsoft.com/office/drawing/2014/main" id="{30846D00-ACF3-B6A5-A176-15F269469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81000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089" name="Line 9">
            <a:extLst>
              <a:ext uri="{FF2B5EF4-FFF2-40B4-BE49-F238E27FC236}">
                <a16:creationId xmlns:a16="http://schemas.microsoft.com/office/drawing/2014/main" id="{6CB9D55B-E216-3D79-814A-32631B6666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2819400"/>
            <a:ext cx="1905000" cy="3810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0" name="Line 10">
            <a:extLst>
              <a:ext uri="{FF2B5EF4-FFF2-40B4-BE49-F238E27FC236}">
                <a16:creationId xmlns:a16="http://schemas.microsoft.com/office/drawing/2014/main" id="{25940827-8994-A39C-9A58-2ADBF10C4F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200400"/>
            <a:ext cx="1600200" cy="4572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1" name="Line 11">
            <a:extLst>
              <a:ext uri="{FF2B5EF4-FFF2-40B4-BE49-F238E27FC236}">
                <a16:creationId xmlns:a16="http://schemas.microsoft.com/office/drawing/2014/main" id="{2FBE3713-FA00-4E52-061D-1331D65B4E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114800"/>
            <a:ext cx="1371600" cy="6858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2" name="Line 12">
            <a:extLst>
              <a:ext uri="{FF2B5EF4-FFF2-40B4-BE49-F238E27FC236}">
                <a16:creationId xmlns:a16="http://schemas.microsoft.com/office/drawing/2014/main" id="{34371C59-A4E5-6707-01ED-6B60611876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62600" y="3886200"/>
            <a:ext cx="1905000" cy="762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3" name="Line 13">
            <a:extLst>
              <a:ext uri="{FF2B5EF4-FFF2-40B4-BE49-F238E27FC236}">
                <a16:creationId xmlns:a16="http://schemas.microsoft.com/office/drawing/2014/main" id="{4BF63362-031A-BC94-99EE-37EA35A4D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819400"/>
            <a:ext cx="685800" cy="2286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4" name="Line 14">
            <a:extLst>
              <a:ext uri="{FF2B5EF4-FFF2-40B4-BE49-F238E27FC236}">
                <a16:creationId xmlns:a16="http://schemas.microsoft.com/office/drawing/2014/main" id="{E87DE6F8-1DD6-83EE-7B26-7A9237CEE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352800"/>
            <a:ext cx="152400" cy="4572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5" name="Line 15">
            <a:extLst>
              <a:ext uri="{FF2B5EF4-FFF2-40B4-BE49-F238E27FC236}">
                <a16:creationId xmlns:a16="http://schemas.microsoft.com/office/drawing/2014/main" id="{26C2F23E-E817-996D-8B58-5C638EA4DC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86400" y="4038600"/>
            <a:ext cx="304800" cy="6858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cxnSp>
        <p:nvCxnSpPr>
          <p:cNvPr id="46096" name="AutoShape 16">
            <a:extLst>
              <a:ext uri="{FF2B5EF4-FFF2-40B4-BE49-F238E27FC236}">
                <a16:creationId xmlns:a16="http://schemas.microsoft.com/office/drawing/2014/main" id="{873CD203-F572-2DB5-72DD-6DEBA44FAD9F}"/>
              </a:ext>
            </a:extLst>
          </p:cNvPr>
          <p:cNvCxnSpPr>
            <a:cxnSpLocks noChangeShapeType="1"/>
            <a:stCxn id="46087" idx="0"/>
            <a:endCxn id="46083" idx="0"/>
          </p:cNvCxnSpPr>
          <p:nvPr/>
        </p:nvCxnSpPr>
        <p:spPr bwMode="auto">
          <a:xfrm rot="16200000" flipH="1" flipV="1">
            <a:off x="5714206" y="1219994"/>
            <a:ext cx="1588" cy="3505200"/>
          </a:xfrm>
          <a:prstGeom prst="curvedConnector3">
            <a:avLst>
              <a:gd name="adj1" fmla="val -6270001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7" name="AutoShape 17">
            <a:extLst>
              <a:ext uri="{FF2B5EF4-FFF2-40B4-BE49-F238E27FC236}">
                <a16:creationId xmlns:a16="http://schemas.microsoft.com/office/drawing/2014/main" id="{3080DA32-03A3-CEEC-E07A-3EC7462BBAF7}"/>
              </a:ext>
            </a:extLst>
          </p:cNvPr>
          <p:cNvCxnSpPr>
            <a:cxnSpLocks noChangeShapeType="1"/>
            <a:stCxn id="46084" idx="1"/>
            <a:endCxn id="46083" idx="7"/>
          </p:cNvCxnSpPr>
          <p:nvPr/>
        </p:nvCxnSpPr>
        <p:spPr bwMode="auto">
          <a:xfrm rot="16200000" flipH="1" flipV="1">
            <a:off x="4953000" y="1828800"/>
            <a:ext cx="381000" cy="2038350"/>
          </a:xfrm>
          <a:prstGeom prst="curvedConnector3">
            <a:avLst>
              <a:gd name="adj1" fmla="val -775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AutoShape 18">
            <a:extLst>
              <a:ext uri="{FF2B5EF4-FFF2-40B4-BE49-F238E27FC236}">
                <a16:creationId xmlns:a16="http://schemas.microsoft.com/office/drawing/2014/main" id="{1E904E6B-4DB3-991B-A2E2-6B01AAACAD15}"/>
              </a:ext>
            </a:extLst>
          </p:cNvPr>
          <p:cNvCxnSpPr>
            <a:cxnSpLocks noChangeShapeType="1"/>
            <a:stCxn id="46086" idx="2"/>
            <a:endCxn id="46083" idx="3"/>
          </p:cNvCxnSpPr>
          <p:nvPr/>
        </p:nvCxnSpPr>
        <p:spPr bwMode="auto">
          <a:xfrm rot="10800000">
            <a:off x="3800476" y="3362326"/>
            <a:ext cx="1838325" cy="1590675"/>
          </a:xfrm>
          <a:prstGeom prst="curved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9" name="AutoShape 19">
            <a:extLst>
              <a:ext uri="{FF2B5EF4-FFF2-40B4-BE49-F238E27FC236}">
                <a16:creationId xmlns:a16="http://schemas.microsoft.com/office/drawing/2014/main" id="{34B96718-6320-F66A-AC2D-BB3A58B2F5A0}"/>
              </a:ext>
            </a:extLst>
          </p:cNvPr>
          <p:cNvCxnSpPr>
            <a:cxnSpLocks noChangeShapeType="1"/>
            <a:stCxn id="46085" idx="6"/>
            <a:endCxn id="46083" idx="6"/>
          </p:cNvCxnSpPr>
          <p:nvPr/>
        </p:nvCxnSpPr>
        <p:spPr bwMode="auto">
          <a:xfrm flipH="1" flipV="1">
            <a:off x="4191000" y="3200400"/>
            <a:ext cx="1447800" cy="609600"/>
          </a:xfrm>
          <a:prstGeom prst="curvedConnector3">
            <a:avLst>
              <a:gd name="adj1" fmla="val -15792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0" name="AutoShape 20">
            <a:extLst>
              <a:ext uri="{FF2B5EF4-FFF2-40B4-BE49-F238E27FC236}">
                <a16:creationId xmlns:a16="http://schemas.microsoft.com/office/drawing/2014/main" id="{127A9215-21ED-7C1B-32A8-1CD192F0F2C5}"/>
              </a:ext>
            </a:extLst>
          </p:cNvPr>
          <p:cNvCxnSpPr>
            <a:cxnSpLocks noChangeShapeType="1"/>
            <a:stCxn id="46088" idx="5"/>
            <a:endCxn id="46083" idx="4"/>
          </p:cNvCxnSpPr>
          <p:nvPr/>
        </p:nvCxnSpPr>
        <p:spPr bwMode="auto">
          <a:xfrm rot="16200000" flipV="1">
            <a:off x="5524501" y="1866901"/>
            <a:ext cx="771525" cy="3895725"/>
          </a:xfrm>
          <a:prstGeom prst="curvedConnector3">
            <a:avLst>
              <a:gd name="adj1" fmla="val -188273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01" name="Text Box 21">
            <a:extLst>
              <a:ext uri="{FF2B5EF4-FFF2-40B4-BE49-F238E27FC236}">
                <a16:creationId xmlns:a16="http://schemas.microsoft.com/office/drawing/2014/main" id="{4F37B085-2089-23E6-4F78-7C2A407D3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2749550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Sports</a:t>
            </a:r>
          </a:p>
        </p:txBody>
      </p:sp>
      <p:sp>
        <p:nvSpPr>
          <p:cNvPr id="46102" name="Oval 22">
            <a:extLst>
              <a:ext uri="{FF2B5EF4-FFF2-40B4-BE49-F238E27FC236}">
                <a16:creationId xmlns:a16="http://schemas.microsoft.com/office/drawing/2014/main" id="{2D410798-C89E-A4C0-F279-65F4D5F3B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90800"/>
            <a:ext cx="457200" cy="457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cxnSp>
        <p:nvCxnSpPr>
          <p:cNvPr id="46103" name="AutoShape 23">
            <a:extLst>
              <a:ext uri="{FF2B5EF4-FFF2-40B4-BE49-F238E27FC236}">
                <a16:creationId xmlns:a16="http://schemas.microsoft.com/office/drawing/2014/main" id="{DF2A28D1-9C4F-5EDC-D3A7-3E856E68D1C3}"/>
              </a:ext>
            </a:extLst>
          </p:cNvPr>
          <p:cNvCxnSpPr>
            <a:cxnSpLocks noChangeShapeType="1"/>
            <a:endCxn id="46102" idx="7"/>
          </p:cNvCxnSpPr>
          <p:nvPr/>
        </p:nvCxnSpPr>
        <p:spPr bwMode="auto">
          <a:xfrm rot="5400000" flipH="1">
            <a:off x="6819901" y="2324101"/>
            <a:ext cx="314325" cy="981075"/>
          </a:xfrm>
          <a:prstGeom prst="curvedConnector3">
            <a:avLst>
              <a:gd name="adj1" fmla="val 193940"/>
            </a:avLst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4" name="AutoShape 24">
            <a:extLst>
              <a:ext uri="{FF2B5EF4-FFF2-40B4-BE49-F238E27FC236}">
                <a16:creationId xmlns:a16="http://schemas.microsoft.com/office/drawing/2014/main" id="{360EAE14-063E-F46D-81B8-890804241BCC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>
            <a:off x="5029201" y="3648076"/>
            <a:ext cx="1819275" cy="466725"/>
          </a:xfrm>
          <a:prstGeom prst="curvedConnector3">
            <a:avLst>
              <a:gd name="adj1" fmla="val 51833"/>
            </a:avLst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5" name="AutoShape 25">
            <a:extLst>
              <a:ext uri="{FF2B5EF4-FFF2-40B4-BE49-F238E27FC236}">
                <a16:creationId xmlns:a16="http://schemas.microsoft.com/office/drawing/2014/main" id="{5B1F4ADE-89F2-C5EC-46AD-0DBEDE64F70A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>
            <a:off x="5210969" y="2790032"/>
            <a:ext cx="931863" cy="838200"/>
          </a:xfrm>
          <a:prstGeom prst="curvedConnector2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6" name="AutoShape 26">
            <a:extLst>
              <a:ext uri="{FF2B5EF4-FFF2-40B4-BE49-F238E27FC236}">
                <a16:creationId xmlns:a16="http://schemas.microsoft.com/office/drawing/2014/main" id="{C97E6B35-78DD-C4BC-8C50-B39B4B5A6420}"/>
              </a:ext>
            </a:extLst>
          </p:cNvPr>
          <p:cNvCxnSpPr>
            <a:cxnSpLocks noChangeShapeType="1"/>
            <a:endCxn id="46102" idx="0"/>
          </p:cNvCxnSpPr>
          <p:nvPr/>
        </p:nvCxnSpPr>
        <p:spPr bwMode="auto">
          <a:xfrm rot="16200000">
            <a:off x="4953000" y="1600200"/>
            <a:ext cx="381000" cy="2362200"/>
          </a:xfrm>
          <a:prstGeom prst="curvedConnector3">
            <a:avLst>
              <a:gd name="adj1" fmla="val 160000"/>
            </a:avLst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7" name="AutoShape 27">
            <a:extLst>
              <a:ext uri="{FF2B5EF4-FFF2-40B4-BE49-F238E27FC236}">
                <a16:creationId xmlns:a16="http://schemas.microsoft.com/office/drawing/2014/main" id="{55ABF392-ED99-35CD-EC9F-019C2A18915D}"/>
              </a:ext>
            </a:extLst>
          </p:cNvPr>
          <p:cNvCxnSpPr>
            <a:cxnSpLocks noChangeShapeType="1"/>
            <a:endCxn id="46102" idx="4"/>
          </p:cNvCxnSpPr>
          <p:nvPr/>
        </p:nvCxnSpPr>
        <p:spPr bwMode="auto">
          <a:xfrm rot="10800000">
            <a:off x="6324601" y="3048001"/>
            <a:ext cx="1381125" cy="1228725"/>
          </a:xfrm>
          <a:prstGeom prst="curvedConnector2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08" name="Text Box 28">
            <a:extLst>
              <a:ext uri="{FF2B5EF4-FFF2-40B4-BE49-F238E27FC236}">
                <a16:creationId xmlns:a16="http://schemas.microsoft.com/office/drawing/2014/main" id="{C7C3C41E-ABCA-266A-1315-15D4F3492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98755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Health</a:t>
            </a:r>
          </a:p>
        </p:txBody>
      </p:sp>
      <p:sp>
        <p:nvSpPr>
          <p:cNvPr id="46109" name="Oval 29">
            <a:extLst>
              <a:ext uri="{FF2B5EF4-FFF2-40B4-BE49-F238E27FC236}">
                <a16:creationId xmlns:a16="http://schemas.microsoft.com/office/drawing/2014/main" id="{6DDCE619-C091-54E7-4D5A-839236AD8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1242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110" name="Oval 30">
            <a:extLst>
              <a:ext uri="{FF2B5EF4-FFF2-40B4-BE49-F238E27FC236}">
                <a16:creationId xmlns:a16="http://schemas.microsoft.com/office/drawing/2014/main" id="{2EEE4DBE-F502-E077-5248-D448FC2A3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27660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111" name="Oval 31">
            <a:extLst>
              <a:ext uri="{FF2B5EF4-FFF2-40B4-BE49-F238E27FC236}">
                <a16:creationId xmlns:a16="http://schemas.microsoft.com/office/drawing/2014/main" id="{2D1F660E-9576-4B17-D7F1-4DC2151C5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743200"/>
            <a:ext cx="457200" cy="457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endParaRPr lang="zh-TW" altLang="zh-TW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46112" name="Line 32">
            <a:extLst>
              <a:ext uri="{FF2B5EF4-FFF2-40B4-BE49-F238E27FC236}">
                <a16:creationId xmlns:a16="http://schemas.microsoft.com/office/drawing/2014/main" id="{9400F32C-D5A1-654A-77BF-BBAAD4836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3733800"/>
            <a:ext cx="1371600" cy="11430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13" name="Line 33">
            <a:extLst>
              <a:ext uri="{FF2B5EF4-FFF2-40B4-BE49-F238E27FC236}">
                <a16:creationId xmlns:a16="http://schemas.microsoft.com/office/drawing/2014/main" id="{4303B48E-850F-E360-CD5E-74C0A5B0FC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72000" y="3505200"/>
            <a:ext cx="685800" cy="152400"/>
          </a:xfrm>
          <a:prstGeom prst="line">
            <a:avLst/>
          </a:prstGeom>
          <a:noFill/>
          <a:ln w="15875">
            <a:solidFill>
              <a:schemeClr val="tx1"/>
            </a:solidFill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14" name="Freeform 34">
            <a:extLst>
              <a:ext uri="{FF2B5EF4-FFF2-40B4-BE49-F238E27FC236}">
                <a16:creationId xmlns:a16="http://schemas.microsoft.com/office/drawing/2014/main" id="{7AE6DFC6-0E05-37B2-9D59-E721BFE38BCF}"/>
              </a:ext>
            </a:extLst>
          </p:cNvPr>
          <p:cNvSpPr>
            <a:spLocks/>
          </p:cNvSpPr>
          <p:nvPr/>
        </p:nvSpPr>
        <p:spPr bwMode="auto">
          <a:xfrm>
            <a:off x="3429000" y="3048000"/>
            <a:ext cx="457200" cy="369332"/>
          </a:xfrm>
          <a:custGeom>
            <a:avLst/>
            <a:gdLst>
              <a:gd name="T0" fmla="*/ 2147483646 w 200"/>
              <a:gd name="T1" fmla="*/ 2147483646 h 160"/>
              <a:gd name="T2" fmla="*/ 2147483646 w 200"/>
              <a:gd name="T3" fmla="*/ 2147483646 h 160"/>
              <a:gd name="T4" fmla="*/ 2147483646 w 200"/>
              <a:gd name="T5" fmla="*/ 2147483646 h 160"/>
              <a:gd name="T6" fmla="*/ 0 60000 65536"/>
              <a:gd name="T7" fmla="*/ 0 60000 65536"/>
              <a:gd name="T8" fmla="*/ 0 60000 65536"/>
              <a:gd name="T9" fmla="*/ 0 w 200"/>
              <a:gd name="T10" fmla="*/ 0 h 160"/>
              <a:gd name="T11" fmla="*/ 200 w 200"/>
              <a:gd name="T12" fmla="*/ 160 h 1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160">
                <a:moveTo>
                  <a:pt x="200" y="64"/>
                </a:moveTo>
                <a:cubicBezTo>
                  <a:pt x="108" y="32"/>
                  <a:pt x="16" y="0"/>
                  <a:pt x="8" y="16"/>
                </a:cubicBezTo>
                <a:cubicBezTo>
                  <a:pt x="0" y="32"/>
                  <a:pt x="76" y="96"/>
                  <a:pt x="152" y="160"/>
                </a:cubicBezTo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6115" name="Freeform 35">
            <a:extLst>
              <a:ext uri="{FF2B5EF4-FFF2-40B4-BE49-F238E27FC236}">
                <a16:creationId xmlns:a16="http://schemas.microsoft.com/office/drawing/2014/main" id="{2DF66F48-D824-C5D2-9C1C-455805F23D2E}"/>
              </a:ext>
            </a:extLst>
          </p:cNvPr>
          <p:cNvSpPr>
            <a:spLocks/>
          </p:cNvSpPr>
          <p:nvPr/>
        </p:nvSpPr>
        <p:spPr bwMode="auto">
          <a:xfrm>
            <a:off x="6553201" y="2578100"/>
            <a:ext cx="184731" cy="369332"/>
          </a:xfrm>
          <a:custGeom>
            <a:avLst/>
            <a:gdLst>
              <a:gd name="T0" fmla="*/ 0 w 208"/>
              <a:gd name="T1" fmla="*/ 2147483646 h 152"/>
              <a:gd name="T2" fmla="*/ 2147483646 w 208"/>
              <a:gd name="T3" fmla="*/ 2147483646 h 152"/>
              <a:gd name="T4" fmla="*/ 2147483646 w 208"/>
              <a:gd name="T5" fmla="*/ 2147483646 h 152"/>
              <a:gd name="T6" fmla="*/ 0 60000 65536"/>
              <a:gd name="T7" fmla="*/ 0 60000 65536"/>
              <a:gd name="T8" fmla="*/ 0 60000 65536"/>
              <a:gd name="T9" fmla="*/ 0 w 208"/>
              <a:gd name="T10" fmla="*/ 0 h 152"/>
              <a:gd name="T11" fmla="*/ 208 w 208"/>
              <a:gd name="T12" fmla="*/ 152 h 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152">
                <a:moveTo>
                  <a:pt x="0" y="104"/>
                </a:moveTo>
                <a:cubicBezTo>
                  <a:pt x="88" y="52"/>
                  <a:pt x="176" y="0"/>
                  <a:pt x="192" y="8"/>
                </a:cubicBezTo>
                <a:cubicBezTo>
                  <a:pt x="208" y="16"/>
                  <a:pt x="152" y="84"/>
                  <a:pt x="96" y="152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6116" name="Text Box 36">
            <a:extLst>
              <a:ext uri="{FF2B5EF4-FFF2-40B4-BE49-F238E27FC236}">
                <a16:creationId xmlns:a16="http://schemas.microsoft.com/office/drawing/2014/main" id="{2EFBE3D1-5A73-FD08-0F50-7E309DC17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405" y="5590441"/>
            <a:ext cx="605646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pr = (0.9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PR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sports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+ 0.1 </a:t>
            </a:r>
            <a:r>
              <a:rPr lang="en-US" altLang="zh-TW" sz="2400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PR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health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) gives you: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9% sports teleportation, 1% health teleportation</a:t>
            </a:r>
          </a:p>
        </p:txBody>
      </p:sp>
      <p:sp>
        <p:nvSpPr>
          <p:cNvPr id="46117" name="TextBox 37">
            <a:extLst>
              <a:ext uri="{FF2B5EF4-FFF2-40B4-BE49-F238E27FC236}">
                <a16:creationId xmlns:a16="http://schemas.microsoft.com/office/drawing/2014/main" id="{525BD5C8-ED63-E8E7-FAD2-E100A5C55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296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21.2.3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1472</TotalTime>
  <Words>2483</Words>
  <Application>Microsoft Office PowerPoint</Application>
  <PresentationFormat>Widescreen</PresentationFormat>
  <Paragraphs>343</Paragraphs>
  <Slides>44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ＭＳ Ｐゴシック</vt:lpstr>
      <vt:lpstr>ＭＳ Ｐゴシック</vt:lpstr>
      <vt:lpstr>宋体</vt:lpstr>
      <vt:lpstr>Arial</vt:lpstr>
      <vt:lpstr>Arial Black</vt:lpstr>
      <vt:lpstr>Calibri</vt:lpstr>
      <vt:lpstr>Calibri Light</vt:lpstr>
      <vt:lpstr>Courier New</vt:lpstr>
      <vt:lpstr>Lucida Sans</vt:lpstr>
      <vt:lpstr>Rockwell</vt:lpstr>
      <vt:lpstr>Times New Roman</vt:lpstr>
      <vt:lpstr>Retrospect</vt:lpstr>
      <vt:lpstr>Equation</vt:lpstr>
      <vt:lpstr>Information Retrieval</vt:lpstr>
      <vt:lpstr>Relevance Feedback</vt:lpstr>
      <vt:lpstr>Key concept: Centroid</vt:lpstr>
      <vt:lpstr>Rocchio Algorithm</vt:lpstr>
      <vt:lpstr>The Theoretically Best Query </vt:lpstr>
      <vt:lpstr>Rocchio 1971 Algorithm (SMART)</vt:lpstr>
      <vt:lpstr>Subtleties to note</vt:lpstr>
      <vt:lpstr>Relevance Feedback in vector spaces</vt:lpstr>
      <vt:lpstr>Positive vs Negative Feedback</vt:lpstr>
      <vt:lpstr>Relevance Feedback: Problems</vt:lpstr>
      <vt:lpstr>Excite Relevance Feedback</vt:lpstr>
      <vt:lpstr>Pseudo relevance feedback</vt:lpstr>
      <vt:lpstr>Query Expansion</vt:lpstr>
      <vt:lpstr>Query assist</vt:lpstr>
      <vt:lpstr>How do we augment the user query?</vt:lpstr>
      <vt:lpstr>Thesaurus-based query expansion</vt:lpstr>
      <vt:lpstr>Automatic Thesaurus Generation</vt:lpstr>
      <vt:lpstr>Co-occurrence Thesaurus</vt:lpstr>
      <vt:lpstr>Automatic Thesaurus Generation</vt:lpstr>
      <vt:lpstr>Thesaurus-based query expansion</vt:lpstr>
      <vt:lpstr>LINK ANALYSIS</vt:lpstr>
      <vt:lpstr>The Web as a Directed Graph</vt:lpstr>
      <vt:lpstr>Indexing anchor text</vt:lpstr>
      <vt:lpstr>Query-independent ordering</vt:lpstr>
      <vt:lpstr>Query processing</vt:lpstr>
      <vt:lpstr>Pagerank scoring</vt:lpstr>
      <vt:lpstr>Not quite enough</vt:lpstr>
      <vt:lpstr>Teleporting</vt:lpstr>
      <vt:lpstr>Markov chains</vt:lpstr>
      <vt:lpstr>Markov chains</vt:lpstr>
      <vt:lpstr>Ergodic Markov chains</vt:lpstr>
      <vt:lpstr>Ergodic Markov chains</vt:lpstr>
      <vt:lpstr>Probability vectors</vt:lpstr>
      <vt:lpstr>Change in probability vector</vt:lpstr>
      <vt:lpstr>How do we compute this vector?</vt:lpstr>
      <vt:lpstr>One way of computing a</vt:lpstr>
      <vt:lpstr>Pagerank summary</vt:lpstr>
      <vt:lpstr>Built matrix P</vt:lpstr>
      <vt:lpstr>Built matrix P</vt:lpstr>
      <vt:lpstr>Pagerank: Issues and Variants</vt:lpstr>
      <vt:lpstr>Topic Specific Pagerank</vt:lpstr>
      <vt:lpstr>Influencing PageRank (“Personalization”)</vt:lpstr>
      <vt:lpstr>Non-uniform Teleportation</vt:lpstr>
      <vt:lpstr>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Web  and Data Mining</dc:title>
  <dc:creator>Quoc Dinh Truong</dc:creator>
  <cp:lastModifiedBy>Quoc Dinh Truong</cp:lastModifiedBy>
  <cp:revision>391</cp:revision>
  <dcterms:created xsi:type="dcterms:W3CDTF">2019-10-28T15:55:27Z</dcterms:created>
  <dcterms:modified xsi:type="dcterms:W3CDTF">2024-01-17T13:21:05Z</dcterms:modified>
</cp:coreProperties>
</file>