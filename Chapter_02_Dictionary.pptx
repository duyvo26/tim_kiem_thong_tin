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3"/>
  </p:notesMasterIdLst>
  <p:sldIdLst>
    <p:sldId id="256" r:id="rId2"/>
    <p:sldId id="351" r:id="rId3"/>
    <p:sldId id="355" r:id="rId4"/>
    <p:sldId id="357" r:id="rId5"/>
    <p:sldId id="358" r:id="rId6"/>
    <p:sldId id="359" r:id="rId7"/>
    <p:sldId id="360" r:id="rId8"/>
    <p:sldId id="363" r:id="rId9"/>
    <p:sldId id="364" r:id="rId10"/>
    <p:sldId id="367" r:id="rId11"/>
    <p:sldId id="368" r:id="rId12"/>
    <p:sldId id="370" r:id="rId13"/>
    <p:sldId id="371" r:id="rId14"/>
    <p:sldId id="377" r:id="rId15"/>
    <p:sldId id="378" r:id="rId16"/>
    <p:sldId id="379" r:id="rId17"/>
    <p:sldId id="380" r:id="rId18"/>
    <p:sldId id="399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9" r:id="rId27"/>
    <p:sldId id="390" r:id="rId28"/>
    <p:sldId id="391" r:id="rId29"/>
    <p:sldId id="392" r:id="rId30"/>
    <p:sldId id="400" r:id="rId31"/>
    <p:sldId id="39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335" autoAdjust="0"/>
  </p:normalViewPr>
  <p:slideViewPr>
    <p:cSldViewPr snapToGrid="0">
      <p:cViewPr varScale="1">
        <p:scale>
          <a:sx n="69" d="100"/>
          <a:sy n="69" d="100"/>
        </p:scale>
        <p:origin x="11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01B30-8F1D-4816-8F65-1D00D4637009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D19D8-4FDB-4F0E-9F28-C085F3E59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390A9E08-3E56-18F2-8AE8-FD2BF6A9A5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86DA91B3-31A2-1D90-4CD2-EECB800A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A194A61C-29EF-3C73-4E56-5D41C2172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99C4B4-CEE3-4AD3-8047-CF75AD96998A}" type="slidenum">
              <a:rPr kumimoji="0" lang="zh-TW" altLang="en-US">
                <a:latin typeface="Lucida Sans" panose="020B0602030504020204" pitchFamily="34" charset="0"/>
                <a:ea typeface="Arial Unicode MS" pitchFamily="34" charset="-128"/>
              </a:rPr>
              <a:pPr>
                <a:spcBef>
                  <a:spcPct val="0"/>
                </a:spcBef>
              </a:pPr>
              <a:t>3</a:t>
            </a:fld>
            <a:endParaRPr kumimoji="0" lang="en-US" altLang="zh-TW">
              <a:latin typeface="Lucida Sans" panose="020B0602030504020204" pitchFamily="34" charset="0"/>
              <a:ea typeface="Arial Unicode MS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AC6FA22-90D4-BC84-A190-E320EDB62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A62AD5B-C802-4BE8-6389-C136408DE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C456140-1C7A-F296-A033-6600947327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4527722-317C-BFA0-F84B-F526B7842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53A80FF-86CF-3445-B38A-830034F721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93D3258-DCE2-F0E4-035D-9574C20DF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FBE9C70-7A3F-7EF4-E88C-DBC2276ACF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CDA04BB-F49E-5FFF-20F1-6AC3C51E5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E8FF986A-9BE3-1C2A-4B55-8C71F78B7D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3515EAF5-E3E5-C711-BAD4-19BE54FED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AD17C4B8-303C-B5B4-433F-1F6117870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C550308-F395-4F88-819C-84D62DF2BA08}" type="slidenum">
              <a:rPr kumimoji="0" lang="zh-TW" altLang="en-US">
                <a:latin typeface="Lucida Sans" panose="020B0602030504020204" pitchFamily="34" charset="0"/>
                <a:ea typeface="Arial Unicode MS" pitchFamily="34" charset="-128"/>
              </a:rPr>
              <a:pPr>
                <a:spcBef>
                  <a:spcPct val="0"/>
                </a:spcBef>
              </a:pPr>
              <a:t>8</a:t>
            </a:fld>
            <a:endParaRPr kumimoji="0" lang="en-US" altLang="zh-TW">
              <a:latin typeface="Lucida Sans" panose="020B0602030504020204" pitchFamily="34" charset="0"/>
              <a:ea typeface="Arial Unicode MS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868C34C-7B25-E5E8-867C-A93A5A0A4C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6BD5765-D611-982C-66AB-ECBD5956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C369DCC-41A9-6F08-966F-33A5C1BA0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3C7FFEFF-1732-E4C1-3096-5EA56C2A1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0E56982-CF57-3792-FF51-E104D4C114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C58C7A2-4181-7D38-1117-26778CAEF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207760D-E9D5-3D98-F6E6-5E975A9635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5E9E218-A4B9-28A6-FFB4-D10EE31EE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F9DB7E2-C664-5846-FC41-E97FF3F690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4402313-2D02-7918-415F-F38388DD5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FCC70AA-B2B7-E73C-2524-02645C1DE3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20F0E90-0AAE-8963-C262-7D34AC4C1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E3ABC359-1642-0948-49A4-1158ED4012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38D964C7-A65D-299F-E85E-B32A19BDDD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FA546E2-63E1-C4F6-230D-47412CE04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736721B-3746-0DCF-DE88-E266714BD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013BC14-D8FC-73A5-5F0B-AD44E85E03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82BEC6C-E9D4-3E50-40AC-F38AA88CA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6DDFA20-3320-E1B3-DD20-B4F4221A8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46B9E27-9AB5-F04B-4043-099875F5B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EAF2F82-A409-94C3-73AB-B9C3641AE8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D31544D-7005-C25A-5AF0-CFB71D076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83D5DE9-ED2E-B8CB-6CF8-373DC217B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3E49CD6D-15AC-F041-9BF7-72069FC67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997D438B-2548-5063-4462-88DE94BB83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6EE9F0F-77F5-80B3-D370-D064A426B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2D4A53D-5946-9922-5393-DCF82D239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A88048DD-94D4-FAC1-DC72-402C68BE2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6DD83DDC-49C8-B974-7E2C-B9796874F9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F1ACF1E-FC08-E5C7-8502-2D8211BDA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AA70496-2FC4-CDD1-CF4F-6395F7694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28C2B96-5A85-5BAE-E66A-6A7F86C64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EF060D4A-83CF-A726-54BB-2111BA4AF7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480059E0-C33D-C899-B8D5-BD86B0FB7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D83ED57C-279C-5A0B-9828-97060ACFA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9D2F9713-BAC3-83E6-03B1-D6547E0FC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46F86585-539F-44CE-F613-1AC397E460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A88F8B4F-80BB-3D31-C5A0-24AC2C995A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2BB5AFB-BF4E-6CEA-41FB-E73476C700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0555DB19-1186-EDD1-5EEE-7CEC7AF23A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5D4A4E7-35A5-98A6-E9C8-AB3815DD85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3EAD551C-5226-4D79-D5E7-3AAA9762F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5E5348CB-7308-7607-F6D5-E33617778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4F4751E4-8B6D-09BC-9CD6-CF53535C3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70B62566-4A45-4B2A-8B2E-F449C26A2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AE9F3B31-E7E7-8911-95C2-316F7B7E5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089F-B724-4DB7-966F-A815F7F37156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3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C6BC-BE1B-4014-AA05-62AAA88B1A3B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7731" y="6388834"/>
            <a:ext cx="1312025" cy="365125"/>
          </a:xfrm>
        </p:spPr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951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303B-D7D5-42D3-AE3C-337199AC13CB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0E1C-6609-4571-AAC0-EC9DFB3279EB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1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F7A8-C61A-4659-866C-CD537F901D4F}" type="datetime1">
              <a:rPr lang="vi-VN" smtClean="0"/>
              <a:t>25/02/2026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95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5C43-8F38-47DC-80DF-4D0497C08181}" type="datetime1">
              <a:rPr lang="vi-VN" smtClean="0"/>
              <a:t>25/02/2026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85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57925-9F9D-419A-8B85-1EDF14B77FEB}" type="datetime1">
              <a:rPr lang="vi-VN" smtClean="0"/>
              <a:t>25/02/2026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22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0017B5-F98D-4593-B373-F15243277C20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19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3DB1-2915-4AD4-B284-3EA60BFABA3F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131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BC02-124E-465B-BD80-457C161798B7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3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D81-25AC-4658-9D07-B6C24CDC7F74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38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89C31EB-6A7E-4963-9845-D0A42A645CDC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779" y="628650"/>
            <a:ext cx="11698941" cy="2447365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Courier New" panose="02070309020205020404" pitchFamily="49" charset="0"/>
                <a:cs typeface="Courier New" panose="02070309020205020404" pitchFamily="49" charset="0"/>
              </a:rPr>
              <a:t>Information Retrieval</a:t>
            </a:r>
            <a:endParaRPr lang="vi-VN" sz="8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49" y="4487718"/>
            <a:ext cx="10377248" cy="627368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Chapter 2 - </a:t>
            </a:r>
            <a:r>
              <a:rPr lang="en-GB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term vocabulary and postings lists</a:t>
            </a:r>
            <a:endParaRPr lang="vi-VN" sz="3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98662" y="5688795"/>
            <a:ext cx="10058400" cy="627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Quoc Dinh TRUONG</a:t>
            </a:r>
            <a:r>
              <a:rPr lang="en-US" sz="3600" cap="none" dirty="0"/>
              <a:t>, PhD</a:t>
            </a:r>
          </a:p>
          <a:p>
            <a:pPr algn="ctr"/>
            <a:r>
              <a:rPr lang="en-US" sz="3600" dirty="0"/>
              <a:t>Modified from Christopher D. Manning, Prabhakar Raghavan and Hinrich </a:t>
            </a:r>
            <a:r>
              <a:rPr lang="en-US" sz="3600" dirty="0" err="1"/>
              <a:t>Schütze</a:t>
            </a:r>
            <a:r>
              <a:rPr lang="en-US" sz="3600" dirty="0"/>
              <a:t> slides</a:t>
            </a:r>
          </a:p>
        </p:txBody>
      </p:sp>
    </p:spTree>
    <p:extLst>
      <p:ext uri="{BB962C8B-B14F-4D97-AF65-F5344CB8AC3E}">
        <p14:creationId xmlns:p14="http://schemas.microsoft.com/office/powerpoint/2010/main" val="112253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708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Parsing a document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 What format is it in?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pdf/word/excel/html?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 What language is it in?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 What character set is in use?</a:t>
            </a:r>
            <a:endParaRPr lang="vi-VN" dirty="0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FDC741BA-4118-5EC9-D9AA-0B51C048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2</a:t>
            </a:fld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693F6-9B36-356D-EDD0-1AC4942FB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505" y="1765790"/>
            <a:ext cx="3937175" cy="20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C9A5C1-FA9C-E311-26B4-CCD234D3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505" y="4057292"/>
            <a:ext cx="4012545" cy="213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5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>
            <a:extLst>
              <a:ext uri="{FF2B5EF4-FFF2-40B4-BE49-F238E27FC236}">
                <a16:creationId xmlns:a16="http://schemas.microsoft.com/office/drawing/2014/main" id="{35E9F680-1309-EAC8-AF42-7DF94C100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Complications: Format/language</a:t>
            </a:r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id="{BD7734C0-D678-A808-E050-9AB27CB2A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460474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Documents being indexed can be written in many different languages.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A single index may have to contain terms of several languages.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Sometimes a document or its components can contain multiple languages/formats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French email with a German pdf attachment.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What is a unit document</a:t>
            </a:r>
            <a:r>
              <a:rPr lang="en-US" altLang="zh-TW" dirty="0">
                <a:ea typeface="ＭＳ Ｐゴシック" panose="020B0600070205080204" pitchFamily="34" charset="-128"/>
              </a:rPr>
              <a:t>?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 file?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An email?  (Perhaps one of many in an inbox.)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An email with 5 attachments?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 group of files (PPT or LaTeX as HTML pages)</a:t>
            </a:r>
          </a:p>
        </p:txBody>
      </p:sp>
      <p:sp>
        <p:nvSpPr>
          <p:cNvPr id="21508" name="TextBox 4">
            <a:extLst>
              <a:ext uri="{FF2B5EF4-FFF2-40B4-BE49-F238E27FC236}">
                <a16:creationId xmlns:a16="http://schemas.microsoft.com/office/drawing/2014/main" id="{8913678F-F851-4140-4CE0-D8541B5F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251837-A8D0-8748-D065-F4B4C2FB3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674" y="4232713"/>
            <a:ext cx="5292318" cy="17054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98AD341-C473-4906-B0D1-35E1B0BD5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Tokenization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DFBE3AF-139B-0EE8-6C06-96ACEE0C55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755228"/>
            <a:ext cx="10842472" cy="457200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A40508"/>
                </a:solidFill>
                <a:ea typeface="ＭＳ Ｐゴシック" panose="020B0600070205080204" pitchFamily="34" charset="-128"/>
              </a:rPr>
              <a:t> Input</a:t>
            </a:r>
            <a:r>
              <a:rPr lang="en-US" altLang="zh-TW" dirty="0">
                <a:ea typeface="ＭＳ Ｐゴシック" panose="020B0600070205080204" pitchFamily="34" charset="-128"/>
              </a:rPr>
              <a:t>: “</a:t>
            </a:r>
            <a:r>
              <a:rPr lang="en-US" altLang="zh-TW" i="1" dirty="0">
                <a:ea typeface="ＭＳ Ｐゴシック" panose="020B0600070205080204" pitchFamily="34" charset="-128"/>
              </a:rPr>
              <a:t>Friends, Romans and Countrymen</a:t>
            </a:r>
            <a:r>
              <a:rPr lang="en-US" altLang="zh-TW" dirty="0">
                <a:ea typeface="ＭＳ Ｐゴシック" panose="020B0600070205080204" pitchFamily="34" charset="-128"/>
              </a:rPr>
              <a:t>”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A40508"/>
                </a:solidFill>
                <a:ea typeface="ＭＳ Ｐゴシック" panose="020B0600070205080204" pitchFamily="34" charset="-128"/>
              </a:rPr>
              <a:t> Output</a:t>
            </a:r>
            <a:r>
              <a:rPr lang="en-US" altLang="zh-TW" dirty="0">
                <a:ea typeface="ＭＳ Ｐゴシック" panose="020B0600070205080204" pitchFamily="34" charset="-128"/>
              </a:rPr>
              <a:t>: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Friends    Romans    Countrymen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Input</a:t>
            </a:r>
            <a:r>
              <a:rPr lang="en-US" altLang="zh-TW" dirty="0">
                <a:ea typeface="ＭＳ Ｐゴシック" panose="020B0600070205080204" pitchFamily="34" charset="-128"/>
              </a:rPr>
              <a:t>: “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Quản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lý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chuỗi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khách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sạn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của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một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doanh</a:t>
            </a:r>
            <a:r>
              <a:rPr lang="en-US" altLang="zh-TW" i="1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nghiệp</a:t>
            </a:r>
            <a:r>
              <a:rPr lang="en-US" altLang="zh-TW" dirty="0">
                <a:ea typeface="ＭＳ Ｐゴシック" panose="020B0600070205080204" pitchFamily="34" charset="-128"/>
              </a:rPr>
              <a:t>”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Output</a:t>
            </a:r>
            <a:r>
              <a:rPr lang="en-US" altLang="zh-TW" dirty="0">
                <a:ea typeface="ＭＳ Ｐゴシック" panose="020B0600070205080204" pitchFamily="34" charset="-128"/>
              </a:rPr>
              <a:t>: </a:t>
            </a:r>
            <a:r>
              <a:rPr lang="vi-VN" altLang="en-US" b="1" i="1" dirty="0" err="1">
                <a:ea typeface="ＭＳ Ｐゴシック" panose="020B0600070205080204" pitchFamily="34" charset="-128"/>
              </a:rPr>
              <a:t>Quản_lý</a:t>
            </a:r>
            <a:r>
              <a:rPr lang="en-US" altLang="en-US" b="1" i="1" dirty="0">
                <a:ea typeface="ＭＳ Ｐゴシック" panose="020B0600070205080204" pitchFamily="34" charset="-128"/>
              </a:rPr>
              <a:t>    </a:t>
            </a:r>
            <a:r>
              <a:rPr lang="vi-VN" altLang="en-US" b="1" i="1" dirty="0">
                <a:ea typeface="ＭＳ Ｐゴシック" panose="020B0600070205080204" pitchFamily="34" charset="-128"/>
              </a:rPr>
              <a:t>chuỗi</a:t>
            </a:r>
            <a:r>
              <a:rPr lang="en-US" altLang="en-US" b="1" i="1" dirty="0">
                <a:ea typeface="ＭＳ Ｐゴシック" panose="020B0600070205080204" pitchFamily="34" charset="-128"/>
              </a:rPr>
              <a:t>    </a:t>
            </a:r>
            <a:r>
              <a:rPr lang="vi-VN" altLang="en-US" b="1" i="1" dirty="0" err="1">
                <a:ea typeface="ＭＳ Ｐゴシック" panose="020B0600070205080204" pitchFamily="34" charset="-128"/>
              </a:rPr>
              <a:t>khách_sạn</a:t>
            </a:r>
            <a:r>
              <a:rPr lang="en-US" altLang="en-US" b="1" i="1" dirty="0">
                <a:ea typeface="ＭＳ Ｐゴシック" panose="020B0600070205080204" pitchFamily="34" charset="-128"/>
              </a:rPr>
              <a:t>    </a:t>
            </a:r>
            <a:r>
              <a:rPr lang="vi-VN" altLang="en-US" b="1" i="1" dirty="0">
                <a:ea typeface="ＭＳ Ｐゴシック" panose="020B0600070205080204" pitchFamily="34" charset="-128"/>
              </a:rPr>
              <a:t>của</a:t>
            </a:r>
            <a:r>
              <a:rPr lang="en-US" altLang="en-US" b="1" i="1" dirty="0">
                <a:ea typeface="ＭＳ Ｐゴシック" panose="020B0600070205080204" pitchFamily="34" charset="-128"/>
              </a:rPr>
              <a:t>    </a:t>
            </a:r>
            <a:r>
              <a:rPr lang="vi-VN" altLang="en-US" b="1" i="1" dirty="0">
                <a:ea typeface="ＭＳ Ｐゴシック" panose="020B0600070205080204" pitchFamily="34" charset="-128"/>
              </a:rPr>
              <a:t>một</a:t>
            </a:r>
            <a:r>
              <a:rPr lang="en-US" altLang="en-US" b="1" i="1" dirty="0">
                <a:ea typeface="ＭＳ Ｐゴシック" panose="020B0600070205080204" pitchFamily="34" charset="-128"/>
              </a:rPr>
              <a:t>    </a:t>
            </a:r>
            <a:r>
              <a:rPr lang="vi-VN" altLang="en-US" b="1" i="1" dirty="0" err="1">
                <a:ea typeface="ＭＳ Ｐゴシック" panose="020B0600070205080204" pitchFamily="34" charset="-128"/>
              </a:rPr>
              <a:t>doanh_nghiệp</a:t>
            </a:r>
            <a:endParaRPr lang="en-US" altLang="zh-TW" b="1" i="1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</a:t>
            </a:r>
            <a:r>
              <a:rPr lang="en-US" altLang="zh-TW" dirty="0">
                <a:solidFill>
                  <a:srgbClr val="139CB7"/>
                </a:solidFill>
                <a:ea typeface="ＭＳ Ｐゴシック" panose="020B0600070205080204" pitchFamily="34" charset="-128"/>
              </a:rPr>
              <a:t>token</a:t>
            </a:r>
            <a:r>
              <a:rPr lang="en-US" altLang="zh-TW" dirty="0">
                <a:ea typeface="ＭＳ Ｐゴシック" panose="020B0600070205080204" pitchFamily="34" charset="-128"/>
              </a:rPr>
              <a:t> is an instance of a sequence of characters.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Each such token is now a candidate for an index entry.</a:t>
            </a:r>
            <a:endParaRPr lang="en-US" altLang="zh-TW" u="sng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But what are valid tokens to emit?</a:t>
            </a:r>
          </a:p>
        </p:txBody>
      </p:sp>
      <p:sp>
        <p:nvSpPr>
          <p:cNvPr id="25604" name="TextBox 4">
            <a:extLst>
              <a:ext uri="{FF2B5EF4-FFF2-40B4-BE49-F238E27FC236}">
                <a16:creationId xmlns:a16="http://schemas.microsoft.com/office/drawing/2014/main" id="{E7151AA2-72C7-7FAD-F71E-12E3B3934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050">
            <a:extLst>
              <a:ext uri="{FF2B5EF4-FFF2-40B4-BE49-F238E27FC236}">
                <a16:creationId xmlns:a16="http://schemas.microsoft.com/office/drawing/2014/main" id="{D36B2763-4FDC-C195-FD62-37661F4C4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Tokenization</a:t>
            </a:r>
          </a:p>
        </p:txBody>
      </p:sp>
      <p:sp>
        <p:nvSpPr>
          <p:cNvPr id="27651" name="Rectangle 2051">
            <a:extLst>
              <a:ext uri="{FF2B5EF4-FFF2-40B4-BE49-F238E27FC236}">
                <a16:creationId xmlns:a16="http://schemas.microsoft.com/office/drawing/2014/main" id="{AA4D3FCD-44F2-90CE-992E-C5DAFD7B9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46047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3000" dirty="0">
                <a:ea typeface="ＭＳ Ｐゴシック" panose="020B0600070205080204" pitchFamily="34" charset="-128"/>
              </a:rPr>
              <a:t> Issues in tokenization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Finland’s capital </a:t>
            </a:r>
            <a:r>
              <a:rPr lang="en-US" altLang="zh-TW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Finland? </a:t>
            </a:r>
            <a:r>
              <a:rPr lang="en-US" altLang="zh-TW" b="1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Finlands</a:t>
            </a:r>
            <a:r>
              <a:rPr lang="en-US" altLang="zh-TW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? Finland’s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Hewlett-Packard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 </a:t>
            </a:r>
            <a:r>
              <a:rPr lang="en-US" altLang="zh-TW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Hewlett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and </a:t>
            </a:r>
            <a:r>
              <a:rPr lang="en-US" altLang="zh-TW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Packard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as two tokens?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San Francisco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: one token or two?</a:t>
            </a:r>
            <a:endParaRPr lang="en-US" altLang="zh-TW" sz="2200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lvl="2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zh-TW" sz="2200" dirty="0">
                <a:ea typeface="ＭＳ Ｐゴシック" panose="020B0600070205080204" pitchFamily="34" charset="-128"/>
                <a:sym typeface="Symbol" panose="05050102010706020507" pitchFamily="18" charset="2"/>
              </a:rPr>
              <a:t>How do you decide it is one token?</a:t>
            </a:r>
            <a:r>
              <a:rPr lang="en-US" altLang="zh-TW" sz="2200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7652" name="TextBox 4">
            <a:extLst>
              <a:ext uri="{FF2B5EF4-FFF2-40B4-BE49-F238E27FC236}">
                <a16:creationId xmlns:a16="http://schemas.microsoft.com/office/drawing/2014/main" id="{EA0917E3-B84D-B466-24C7-23E74471C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DCA5229-438E-0326-E473-94E7F5640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Numbers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25234F2-EC30-FDDC-A8CF-CA16672F5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407921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i="1" dirty="0">
                <a:ea typeface="ＭＳ Ｐゴシック" panose="020B0600070205080204" pitchFamily="34" charset="-128"/>
              </a:rPr>
              <a:t> 3/20/91			 Mar. 20, 1991				20/3/91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i="1" dirty="0">
                <a:ea typeface="ＭＳ Ｐゴシック" panose="020B0600070205080204" pitchFamily="34" charset="-128"/>
              </a:rPr>
              <a:t> My PGP key is 324a3df234cb23e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b="1" i="1" dirty="0">
                <a:ea typeface="ＭＳ Ｐゴシック" panose="020B0600070205080204" pitchFamily="34" charset="-128"/>
              </a:rPr>
              <a:t> (800) 234-2333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Often have embedded spaces.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Older IR systems may not index numbers.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But often very useful: think about things like looking up error codes/</a:t>
            </a:r>
            <a:r>
              <a:rPr lang="en-US" altLang="zh-TW" dirty="0" err="1">
                <a:ea typeface="ＭＳ Ｐゴシック" panose="020B0600070205080204" pitchFamily="34" charset="-128"/>
              </a:rPr>
              <a:t>stacktraces</a:t>
            </a:r>
            <a:r>
              <a:rPr lang="en-US" altLang="zh-TW" dirty="0">
                <a:ea typeface="ＭＳ Ｐゴシック" panose="020B0600070205080204" pitchFamily="34" charset="-128"/>
              </a:rPr>
              <a:t> on the web.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Will often index “meta-data” separately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Creation date, format, etc.</a:t>
            </a:r>
          </a:p>
        </p:txBody>
      </p:sp>
      <p:sp>
        <p:nvSpPr>
          <p:cNvPr id="29700" name="TextBox 4">
            <a:extLst>
              <a:ext uri="{FF2B5EF4-FFF2-40B4-BE49-F238E27FC236}">
                <a16:creationId xmlns:a16="http://schemas.microsoft.com/office/drawing/2014/main" id="{C0F08D68-95F3-EB0D-D07D-759A237E2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>
            <a:extLst>
              <a:ext uri="{FF2B5EF4-FFF2-40B4-BE49-F238E27FC236}">
                <a16:creationId xmlns:a16="http://schemas.microsoft.com/office/drawing/2014/main" id="{398CCDA4-5BE0-7D41-5348-286EA12A78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Tokenization: language issues</a:t>
            </a:r>
          </a:p>
        </p:txBody>
      </p:sp>
      <p:sp>
        <p:nvSpPr>
          <p:cNvPr id="31747" name="Rectangle 1027">
            <a:extLst>
              <a:ext uri="{FF2B5EF4-FFF2-40B4-BE49-F238E27FC236}">
                <a16:creationId xmlns:a16="http://schemas.microsoft.com/office/drawing/2014/main" id="{A0CEAF15-9118-FE7E-A469-401E7957B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439452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French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 err="1">
                <a:ea typeface="ＭＳ Ｐゴシック" panose="020B0600070205080204" pitchFamily="34" charset="-128"/>
              </a:rPr>
              <a:t>L'ensemble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one token or two?</a:t>
            </a:r>
          </a:p>
          <a:p>
            <a:pPr lvl="2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Want </a:t>
            </a:r>
            <a:r>
              <a:rPr lang="en-US" altLang="zh-TW" b="1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l’ensemble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to match with </a:t>
            </a:r>
            <a:r>
              <a:rPr lang="en-US" altLang="zh-TW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un ensemble</a:t>
            </a:r>
          </a:p>
          <a:p>
            <a:pPr lvl="3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Until at least 2003, it didn’t on Google</a:t>
            </a:r>
            <a:endParaRPr lang="en-US" altLang="zh-TW" sz="1400" b="1" i="1" dirty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German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b="1" i="1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Lebensversicherungsgesellschaftsangestellter</a:t>
            </a:r>
            <a:r>
              <a:rPr lang="en-US" altLang="zh-TW" sz="2000" b="1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TW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(‘life insurance company employee’)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German retrieval systems benefit greatly from a </a:t>
            </a:r>
            <a:r>
              <a:rPr lang="en-US" altLang="zh-TW" sz="2000" b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compound splitter </a:t>
            </a:r>
            <a:r>
              <a:rPr lang="en-US" altLang="zh-TW" sz="2000" dirty="0">
                <a:ea typeface="ＭＳ Ｐゴシック" panose="020B0600070205080204" pitchFamily="34" charset="-128"/>
                <a:sym typeface="Symbol" panose="05050102010706020507" pitchFamily="18" charset="2"/>
              </a:rPr>
              <a:t>module </a:t>
            </a:r>
            <a:r>
              <a:rPr lang="en-US" altLang="zh-TW" sz="2100" dirty="0">
                <a:ea typeface="ＭＳ Ｐゴシック" panose="020B0600070205080204" pitchFamily="34" charset="-128"/>
                <a:sym typeface="Symbol" panose="05050102010706020507" pitchFamily="18" charset="2"/>
              </a:rPr>
              <a:t>(15% performance boost) </a:t>
            </a:r>
          </a:p>
        </p:txBody>
      </p:sp>
      <p:sp>
        <p:nvSpPr>
          <p:cNvPr id="31748" name="TextBox 4">
            <a:extLst>
              <a:ext uri="{FF2B5EF4-FFF2-40B4-BE49-F238E27FC236}">
                <a16:creationId xmlns:a16="http://schemas.microsoft.com/office/drawing/2014/main" id="{45DACBDB-8C8B-968E-3FAF-A1676098B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26E074A-D3AC-7F29-BED7-4508B23F5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Stop words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A23F1A3-66D8-745F-BAC5-6207E2115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79" y="1752600"/>
            <a:ext cx="10058399" cy="4501055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With a stop list, we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exclude</a:t>
            </a:r>
            <a:r>
              <a:rPr lang="en-US" altLang="zh-TW" dirty="0">
                <a:ea typeface="ＭＳ Ｐゴシック" panose="020B0600070205080204" pitchFamily="34" charset="-128"/>
              </a:rPr>
              <a:t> from the dictionary entirely the commonest words.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They have little semantic content: </a:t>
            </a:r>
            <a:r>
              <a:rPr lang="en-US" altLang="zh-TW" i="1" dirty="0">
                <a:ea typeface="ＭＳ Ｐゴシック" panose="020B0600070205080204" pitchFamily="34" charset="-128"/>
              </a:rPr>
              <a:t>the, a, and, to, be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There are a lot of them: ~30% of postings for top 30 words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But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we need them for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Phrase queries: “King of Denmark”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Various song titles, etc.: “Let it be”, “To be or not to be”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“Relational” queries: “flights to London”</a:t>
            </a:r>
            <a:endParaRPr lang="en-US" altLang="zh-TW" sz="2300" dirty="0">
              <a:ea typeface="ＭＳ Ｐゴシック" panose="020B0600070205080204" pitchFamily="34" charset="-128"/>
            </a:endParaRPr>
          </a:p>
        </p:txBody>
      </p:sp>
      <p:sp>
        <p:nvSpPr>
          <p:cNvPr id="37892" name="TextBox 4">
            <a:extLst>
              <a:ext uri="{FF2B5EF4-FFF2-40B4-BE49-F238E27FC236}">
                <a16:creationId xmlns:a16="http://schemas.microsoft.com/office/drawing/2014/main" id="{565BDEAC-E057-1F6E-E4BA-B3B7E1F6E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50">
            <a:extLst>
              <a:ext uri="{FF2B5EF4-FFF2-40B4-BE49-F238E27FC236}">
                <a16:creationId xmlns:a16="http://schemas.microsoft.com/office/drawing/2014/main" id="{886C8894-2C94-7070-C6D5-FAF6A41F8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Normalization to terms</a:t>
            </a:r>
          </a:p>
        </p:txBody>
      </p:sp>
      <p:sp>
        <p:nvSpPr>
          <p:cNvPr id="39939" name="Rectangle 2051">
            <a:extLst>
              <a:ext uri="{FF2B5EF4-FFF2-40B4-BE49-F238E27FC236}">
                <a16:creationId xmlns:a16="http://schemas.microsoft.com/office/drawing/2014/main" id="{3E7CA517-6689-31B5-A31E-7145F8251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65880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We need to “normalize” words in indexed text as well as query words into the same form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We want to match </a:t>
            </a: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U.S.A.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and </a:t>
            </a: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USA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 We most commonly implicitly define equivalence classes of terms by, e.g., 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deleting periods to form a term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U.S.A.</a:t>
            </a:r>
            <a:r>
              <a:rPr lang="en-US" altLang="zh-TW" b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,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USA  </a:t>
            </a:r>
            <a:r>
              <a:rPr lang="en-US" altLang="zh-TW" b="1" i="1" dirty="0">
                <a:solidFill>
                  <a:srgbClr val="C00000"/>
                </a:solidFill>
                <a:latin typeface="Symbol" panose="05050102010706020507" pitchFamily="18" charset="2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USA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deleting hyphens to form a term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anti-discriminatory, </a:t>
            </a:r>
            <a:r>
              <a:rPr lang="en-US" altLang="zh-TW" b="1" i="1" dirty="0" err="1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antidiscriminatory</a:t>
            </a: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zh-TW" b="1" i="1" dirty="0">
                <a:solidFill>
                  <a:srgbClr val="C00000"/>
                </a:solidFill>
                <a:latin typeface="Symbol" panose="05050102010706020507" pitchFamily="18" charset="2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altLang="zh-TW" b="1" i="1" dirty="0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zh-TW" b="1" i="1" dirty="0" err="1">
                <a:solidFill>
                  <a:srgbClr val="C0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antidiscriminatory</a:t>
            </a:r>
            <a:endParaRPr lang="en-US" altLang="zh-TW" b="1" i="1" dirty="0">
              <a:solidFill>
                <a:srgbClr val="C00000"/>
              </a:solidFill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  <p:sp>
        <p:nvSpPr>
          <p:cNvPr id="39940" name="TextBox 4">
            <a:extLst>
              <a:ext uri="{FF2B5EF4-FFF2-40B4-BE49-F238E27FC236}">
                <a16:creationId xmlns:a16="http://schemas.microsoft.com/office/drawing/2014/main" id="{1745D0DD-28EE-AF96-A951-0DB29EF1D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>
            <a:extLst>
              <a:ext uri="{FF2B5EF4-FFF2-40B4-BE49-F238E27FC236}">
                <a16:creationId xmlns:a16="http://schemas.microsoft.com/office/drawing/2014/main" id="{9E9B221A-B95E-4058-EC8B-E35AA34F6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53921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Case folding</a:t>
            </a:r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363FAF05-3E74-8021-11FA-2E011A9E5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91862"/>
            <a:ext cx="7941618" cy="4393324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Reduce all letters to lower case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exception: upper case in mid-sentence?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e.g.,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General Motors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Fed</a:t>
            </a:r>
            <a:r>
              <a:rPr lang="en-US" altLang="zh-TW" dirty="0">
                <a:ea typeface="ＭＳ Ｐゴシック" panose="020B0600070205080204" pitchFamily="34" charset="-128"/>
              </a:rPr>
              <a:t> vs.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fed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Often best to lower case everything, since users will use lowercase regardless of ‘correct’ capitalization…</a:t>
            </a:r>
            <a:endParaRPr lang="en-US" altLang="zh-TW" sz="800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Google example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Query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C.A.T.  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#1</a:t>
            </a:r>
            <a:r>
              <a:rPr lang="en-US" altLang="zh-TW" b="1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result is for “cat”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not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  <a:sym typeface="Wingdings" panose="05000000000000000000" pitchFamily="2" charset="2"/>
              </a:rPr>
              <a:t>Caterpillar Inc</a:t>
            </a:r>
            <a:r>
              <a:rPr lang="en-US" altLang="zh-TW" dirty="0">
                <a:ea typeface="ＭＳ Ｐゴシック" panose="020B0600070205080204" pitchFamily="34" charset="-128"/>
                <a:sym typeface="Wingdings" panose="05000000000000000000" pitchFamily="2" charset="2"/>
              </a:rPr>
              <a:t>.</a:t>
            </a:r>
            <a:endParaRPr lang="en-US" altLang="zh-TW" b="1" i="1" dirty="0">
              <a:ea typeface="ＭＳ Ｐゴシック" panose="020B0600070205080204" pitchFamily="34" charset="-128"/>
            </a:endParaRPr>
          </a:p>
        </p:txBody>
      </p:sp>
      <p:sp>
        <p:nvSpPr>
          <p:cNvPr id="46084" name="TextBox 4">
            <a:extLst>
              <a:ext uri="{FF2B5EF4-FFF2-40B4-BE49-F238E27FC236}">
                <a16:creationId xmlns:a16="http://schemas.microsoft.com/office/drawing/2014/main" id="{0F15E663-8725-F716-8868-16EA30FD3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2.2.3</a:t>
            </a:r>
          </a:p>
        </p:txBody>
      </p:sp>
      <p:pic>
        <p:nvPicPr>
          <p:cNvPr id="46085" name="Picture 4">
            <a:extLst>
              <a:ext uri="{FF2B5EF4-FFF2-40B4-BE49-F238E27FC236}">
                <a16:creationId xmlns:a16="http://schemas.microsoft.com/office/drawing/2014/main" id="{AF47A16D-A552-A1FC-C4FA-4755823F2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6854" y="3242245"/>
            <a:ext cx="2081568" cy="304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0C6278A-8289-E0B2-9C01-C221D471F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Thesauri and </a:t>
            </a:r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soundex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758BFE5-3D87-459F-0F9A-5C680E448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6588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Do we handle synonyms and homonyms?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car</a:t>
            </a:r>
            <a:r>
              <a:rPr lang="en-US" altLang="zh-TW" dirty="0">
                <a:ea typeface="ＭＳ Ｐゴシック" panose="020B0600070205080204" pitchFamily="34" charset="-128"/>
              </a:rPr>
              <a:t> =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automobile; color</a:t>
            </a:r>
            <a:r>
              <a:rPr lang="en-US" altLang="zh-TW" dirty="0">
                <a:ea typeface="ＭＳ Ｐゴシック" panose="020B0600070205080204" pitchFamily="34" charset="-128"/>
              </a:rPr>
              <a:t> = </a:t>
            </a:r>
            <a:r>
              <a:rPr lang="en-US" altLang="zh-TW" b="1" i="1" dirty="0" err="1">
                <a:ea typeface="ＭＳ Ｐゴシック" panose="020B0600070205080204" pitchFamily="34" charset="-128"/>
              </a:rPr>
              <a:t>colour</a:t>
            </a:r>
            <a:endParaRPr lang="en-US" altLang="zh-TW" b="1" i="1" dirty="0"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We can rewrite to form equivalence-class terms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When the document contains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automobile</a:t>
            </a:r>
            <a:r>
              <a:rPr lang="en-US" altLang="zh-TW" dirty="0">
                <a:ea typeface="ＭＳ Ｐゴシック" panose="020B0600070205080204" pitchFamily="34" charset="-128"/>
              </a:rPr>
              <a:t>, index it under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car-automobile</a:t>
            </a:r>
            <a:r>
              <a:rPr lang="en-US" altLang="zh-TW" dirty="0">
                <a:ea typeface="ＭＳ Ｐゴシック" panose="020B0600070205080204" pitchFamily="34" charset="-128"/>
              </a:rPr>
              <a:t> (and vice-versa)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Or we can expand a query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When the query contains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automobile</a:t>
            </a:r>
            <a:r>
              <a:rPr lang="en-US" altLang="zh-TW" dirty="0">
                <a:ea typeface="ＭＳ Ｐゴシック" panose="020B0600070205080204" pitchFamily="34" charset="-128"/>
              </a:rPr>
              <a:t>, look under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car</a:t>
            </a:r>
            <a:r>
              <a:rPr lang="en-US" altLang="zh-TW" dirty="0">
                <a:ea typeface="ＭＳ Ｐゴシック" panose="020B0600070205080204" pitchFamily="34" charset="-128"/>
              </a:rPr>
              <a:t> as well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What about spelling mistakes?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One approach is </a:t>
            </a:r>
            <a:r>
              <a:rPr lang="en-US" altLang="zh-TW" dirty="0" err="1">
                <a:ea typeface="ＭＳ Ｐゴシック" panose="020B0600070205080204" pitchFamily="34" charset="-128"/>
              </a:rPr>
              <a:t>soundex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05ABC5E-BA98-D9B2-3551-E5EABF18E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Lemmatization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B6B217F0-394B-B5A1-2AFA-5F04C5523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Reduce inflectional/variant forms to base form</a:t>
            </a:r>
          </a:p>
          <a:p>
            <a:pPr lvl="1" algn="just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am, are,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is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be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car, cars, car's</a:t>
            </a:r>
            <a:r>
              <a:rPr lang="en-US" altLang="zh-TW" dirty="0">
                <a:ea typeface="ＭＳ Ｐゴシック" panose="020B0600070205080204" pitchFamily="34" charset="-128"/>
              </a:rPr>
              <a:t>, </a:t>
            </a:r>
            <a:r>
              <a:rPr lang="en-US" altLang="zh-TW" i="1" dirty="0">
                <a:ea typeface="ＭＳ Ｐゴシック" panose="020B0600070205080204" pitchFamily="34" charset="-128"/>
              </a:rPr>
              <a:t>cars'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car</a:t>
            </a:r>
          </a:p>
          <a:p>
            <a:pPr lvl="1" algn="just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the boy's cars are different colors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i="1" dirty="0">
                <a:ea typeface="ＭＳ Ｐゴシック" panose="020B0600070205080204" pitchFamily="34" charset="-128"/>
              </a:rPr>
              <a:t>the boy car be different color</a:t>
            </a:r>
          </a:p>
          <a:p>
            <a:pPr algn="just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Lemmatization implies doing “proper” reduction to dictionary headword form.</a:t>
            </a:r>
          </a:p>
        </p:txBody>
      </p:sp>
      <p:sp>
        <p:nvSpPr>
          <p:cNvPr id="52228" name="TextBox 4">
            <a:extLst>
              <a:ext uri="{FF2B5EF4-FFF2-40B4-BE49-F238E27FC236}">
                <a16:creationId xmlns:a16="http://schemas.microsoft.com/office/drawing/2014/main" id="{E5FFA9BF-171B-6E32-9FFD-290ADD5F0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4D5E177-DACE-457E-5F4E-C779893630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Stemming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7A7654C-7CAE-832D-2212-1AEB8E97A4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Reduce terms to their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“roots”</a:t>
            </a:r>
            <a:r>
              <a:rPr lang="en-US" altLang="zh-TW" dirty="0">
                <a:ea typeface="ＭＳ Ｐゴシック" panose="020B0600070205080204" pitchFamily="34" charset="-128"/>
              </a:rPr>
              <a:t> before indexing.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“Stemming” suggest crude affix chopping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language dependent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e.g.,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automate(s), automatic, automation</a:t>
            </a:r>
            <a:r>
              <a:rPr lang="en-US" altLang="zh-TW" dirty="0">
                <a:ea typeface="ＭＳ Ｐゴシック" panose="020B0600070205080204" pitchFamily="34" charset="-128"/>
              </a:rPr>
              <a:t> all reduced to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automat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61624E1A-AC87-D909-0734-2A0657606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16716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Arial" panose="020B0604020202020204" pitchFamily="34" charset="0"/>
              <a:ea typeface="Arial Unicode MS" pitchFamily="34" charset="-128"/>
            </a:endParaRPr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A6BE60F9-6F03-5E82-D7AE-98538EE53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4648200"/>
            <a:ext cx="4086225" cy="15621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i="1" dirty="0">
                <a:latin typeface="Arial" panose="020B0604020202020204" pitchFamily="34" charset="0"/>
                <a:ea typeface="Arial Unicode MS" pitchFamily="34" charset="-128"/>
              </a:rPr>
              <a:t>for example compressed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i="1" dirty="0">
                <a:latin typeface="Arial" panose="020B0604020202020204" pitchFamily="34" charset="0"/>
                <a:ea typeface="Arial Unicode MS" pitchFamily="34" charset="-128"/>
              </a:rPr>
              <a:t>and compression are both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i="1" dirty="0">
                <a:latin typeface="Arial" panose="020B0604020202020204" pitchFamily="34" charset="0"/>
                <a:ea typeface="Arial Unicode MS" pitchFamily="34" charset="-128"/>
              </a:rPr>
              <a:t>accepted as equivalent to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i="1" dirty="0">
                <a:latin typeface="Arial" panose="020B0604020202020204" pitchFamily="34" charset="0"/>
                <a:ea typeface="Arial Unicode MS" pitchFamily="34" charset="-128"/>
              </a:rPr>
              <a:t>compress</a:t>
            </a:r>
            <a:r>
              <a:rPr lang="en-US" altLang="zh-TW" sz="2400" dirty="0">
                <a:latin typeface="Arial" panose="020B0604020202020204" pitchFamily="34" charset="0"/>
                <a:ea typeface="Arial Unicode MS" pitchFamily="34" charset="-128"/>
              </a:rPr>
              <a:t>.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0050F960-23B9-480B-36F8-15DF756B6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6" y="4572000"/>
            <a:ext cx="3609975" cy="1676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for exampl compress and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compress ar both accept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Arial" panose="020B0604020202020204" pitchFamily="34" charset="0"/>
                <a:ea typeface="Arial Unicode MS" pitchFamily="34" charset="-128"/>
              </a:rPr>
              <a:t>as equival to compress</a:t>
            </a:r>
          </a:p>
        </p:txBody>
      </p:sp>
      <p:sp>
        <p:nvSpPr>
          <p:cNvPr id="54279" name="AutoShape 7">
            <a:extLst>
              <a:ext uri="{FF2B5EF4-FFF2-40B4-BE49-F238E27FC236}">
                <a16:creationId xmlns:a16="http://schemas.microsoft.com/office/drawing/2014/main" id="{EB96B755-E6D6-0C2D-8268-B3CD775C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181601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54280" name="TextBox 4">
            <a:extLst>
              <a:ext uri="{FF2B5EF4-FFF2-40B4-BE49-F238E27FC236}">
                <a16:creationId xmlns:a16="http://schemas.microsoft.com/office/drawing/2014/main" id="{3BF3F8F9-1DCB-53BD-EEAF-904517333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2.2.4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98F072D-F668-94B4-15BD-2E70E1092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ea typeface="ＭＳ Ｐゴシック" charset="-128"/>
                <a:cs typeface="ＭＳ Ｐゴシック" charset="-128"/>
              </a:rPr>
              <a:t>Faster postings merges:</a:t>
            </a:r>
            <a:br>
              <a:rPr lang="en-US" dirty="0">
                <a:ea typeface="ＭＳ Ｐゴシック" charset="-128"/>
                <a:cs typeface="ＭＳ Ｐゴシック" charset="-128"/>
              </a:rPr>
            </a:br>
            <a:r>
              <a:rPr lang="en-US" dirty="0">
                <a:solidFill>
                  <a:srgbClr val="00B050"/>
                </a:solidFill>
                <a:ea typeface="ＭＳ Ｐゴシック" charset="-128"/>
                <a:cs typeface="ＭＳ Ｐゴシック" charset="-128"/>
              </a:rPr>
              <a:t>Skip pointers/Skip lists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D83BA-079C-8EE9-B45C-53F968470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44">
            <a:extLst>
              <a:ext uri="{FF2B5EF4-FFF2-40B4-BE49-F238E27FC236}">
                <a16:creationId xmlns:a16="http://schemas.microsoft.com/office/drawing/2014/main" id="{D557FDB9-3DA8-D529-7C00-AFB5E040A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761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Recall basic merge</a:t>
            </a:r>
          </a:p>
        </p:txBody>
      </p:sp>
      <p:sp>
        <p:nvSpPr>
          <p:cNvPr id="64515" name="Rectangle 45">
            <a:extLst>
              <a:ext uri="{FF2B5EF4-FFF2-40B4-BE49-F238E27FC236}">
                <a16:creationId xmlns:a16="http://schemas.microsoft.com/office/drawing/2014/main" id="{98831A57-30DB-0396-6E94-802B0C874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Walk through the two postings simultaneously, in time linear in the total number of postings entries (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O(</a:t>
            </a:r>
            <a:r>
              <a:rPr lang="en-US" altLang="zh-TW" dirty="0" err="1">
                <a:solidFill>
                  <a:srgbClr val="C00000"/>
                </a:solidFill>
                <a:ea typeface="ＭＳ Ｐゴシック" panose="020B0600070205080204" pitchFamily="34" charset="-128"/>
              </a:rPr>
              <a:t>m+n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)</a:t>
            </a:r>
            <a:r>
              <a:rPr lang="en-US" altLang="zh-TW" dirty="0">
                <a:ea typeface="ＭＳ Ｐゴシック" panose="020B0600070205080204" pitchFamily="34" charset="-128"/>
              </a:rPr>
              <a:t>).</a:t>
            </a:r>
          </a:p>
        </p:txBody>
      </p:sp>
      <p:sp>
        <p:nvSpPr>
          <p:cNvPr id="64516" name="Text Box 46">
            <a:extLst>
              <a:ext uri="{FF2B5EF4-FFF2-40B4-BE49-F238E27FC236}">
                <a16:creationId xmlns:a16="http://schemas.microsoft.com/office/drawing/2014/main" id="{87D4A2AB-68EE-88EE-8645-A3DABCF15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2639" y="3429001"/>
            <a:ext cx="766557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128</a:t>
            </a:r>
          </a:p>
        </p:txBody>
      </p:sp>
      <p:sp>
        <p:nvSpPr>
          <p:cNvPr id="64517" name="Text Box 47">
            <a:extLst>
              <a:ext uri="{FF2B5EF4-FFF2-40B4-BE49-F238E27FC236}">
                <a16:creationId xmlns:a16="http://schemas.microsoft.com/office/drawing/2014/main" id="{783B1B13-9B0A-3F07-615E-43D7C8B8A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5713" y="3962401"/>
            <a:ext cx="5778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31</a:t>
            </a:r>
          </a:p>
        </p:txBody>
      </p:sp>
      <p:sp>
        <p:nvSpPr>
          <p:cNvPr id="64518" name="Text Box 49">
            <a:extLst>
              <a:ext uri="{FF2B5EF4-FFF2-40B4-BE49-F238E27FC236}">
                <a16:creationId xmlns:a16="http://schemas.microsoft.com/office/drawing/2014/main" id="{AC5FAB38-7C14-17F2-E563-37D532AF4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429001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2</a:t>
            </a:r>
          </a:p>
        </p:txBody>
      </p:sp>
      <p:cxnSp>
        <p:nvCxnSpPr>
          <p:cNvPr id="64519" name="AutoShape 50">
            <a:extLst>
              <a:ext uri="{FF2B5EF4-FFF2-40B4-BE49-F238E27FC236}">
                <a16:creationId xmlns:a16="http://schemas.microsoft.com/office/drawing/2014/main" id="{6E76DC9D-F886-DA67-D6A2-894956ABE799}"/>
              </a:ext>
            </a:extLst>
          </p:cNvPr>
          <p:cNvCxnSpPr>
            <a:cxnSpLocks noChangeShapeType="1"/>
            <a:stCxn id="64518" idx="3"/>
            <a:endCxn id="64520" idx="1"/>
          </p:cNvCxnSpPr>
          <p:nvPr/>
        </p:nvCxnSpPr>
        <p:spPr bwMode="auto">
          <a:xfrm>
            <a:off x="4417230" y="3659833"/>
            <a:ext cx="26907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0" name="Text Box 52">
            <a:extLst>
              <a:ext uri="{FF2B5EF4-FFF2-40B4-BE49-F238E27FC236}">
                <a16:creationId xmlns:a16="http://schemas.microsoft.com/office/drawing/2014/main" id="{3F963E9C-354A-F57E-10FB-5C625846F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3429001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4</a:t>
            </a:r>
          </a:p>
        </p:txBody>
      </p:sp>
      <p:cxnSp>
        <p:nvCxnSpPr>
          <p:cNvPr id="64521" name="AutoShape 53">
            <a:extLst>
              <a:ext uri="{FF2B5EF4-FFF2-40B4-BE49-F238E27FC236}">
                <a16:creationId xmlns:a16="http://schemas.microsoft.com/office/drawing/2014/main" id="{0775A139-979C-6E92-5F39-0992CE38D06B}"/>
              </a:ext>
            </a:extLst>
          </p:cNvPr>
          <p:cNvCxnSpPr>
            <a:cxnSpLocks noChangeShapeType="1"/>
            <a:stCxn id="64520" idx="3"/>
            <a:endCxn id="64522" idx="1"/>
          </p:cNvCxnSpPr>
          <p:nvPr/>
        </p:nvCxnSpPr>
        <p:spPr bwMode="auto">
          <a:xfrm>
            <a:off x="5064930" y="3659833"/>
            <a:ext cx="28970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2" name="Text Box 55">
            <a:extLst>
              <a:ext uri="{FF2B5EF4-FFF2-40B4-BE49-F238E27FC236}">
                <a16:creationId xmlns:a16="http://schemas.microsoft.com/office/drawing/2014/main" id="{44BB8ED8-7A52-A325-88A1-AAE210475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638" y="3429001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8</a:t>
            </a:r>
          </a:p>
        </p:txBody>
      </p:sp>
      <p:cxnSp>
        <p:nvCxnSpPr>
          <p:cNvPr id="64523" name="AutoShape 56">
            <a:extLst>
              <a:ext uri="{FF2B5EF4-FFF2-40B4-BE49-F238E27FC236}">
                <a16:creationId xmlns:a16="http://schemas.microsoft.com/office/drawing/2014/main" id="{51ACBAB1-8107-861A-8E9C-8324385C24AC}"/>
              </a:ext>
            </a:extLst>
          </p:cNvPr>
          <p:cNvCxnSpPr>
            <a:cxnSpLocks noChangeShapeType="1"/>
            <a:stCxn id="64522" idx="3"/>
            <a:endCxn id="64524" idx="1"/>
          </p:cNvCxnSpPr>
          <p:nvPr/>
        </p:nvCxnSpPr>
        <p:spPr bwMode="auto">
          <a:xfrm>
            <a:off x="5733268" y="3659834"/>
            <a:ext cx="230970" cy="149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4" name="Text Box 58">
            <a:extLst>
              <a:ext uri="{FF2B5EF4-FFF2-40B4-BE49-F238E27FC236}">
                <a16:creationId xmlns:a16="http://schemas.microsoft.com/office/drawing/2014/main" id="{156F6820-F028-0E92-AEF8-66E534931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9" y="3429001"/>
            <a:ext cx="574675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41</a:t>
            </a:r>
          </a:p>
        </p:txBody>
      </p:sp>
      <p:cxnSp>
        <p:nvCxnSpPr>
          <p:cNvPr id="64525" name="AutoShape 59">
            <a:extLst>
              <a:ext uri="{FF2B5EF4-FFF2-40B4-BE49-F238E27FC236}">
                <a16:creationId xmlns:a16="http://schemas.microsoft.com/office/drawing/2014/main" id="{DFF8500B-826B-DE07-21AA-40C1FBEA5AF6}"/>
              </a:ext>
            </a:extLst>
          </p:cNvPr>
          <p:cNvCxnSpPr>
            <a:cxnSpLocks noChangeShapeType="1"/>
            <a:stCxn id="64524" idx="3"/>
            <a:endCxn id="64526" idx="1"/>
          </p:cNvCxnSpPr>
          <p:nvPr/>
        </p:nvCxnSpPr>
        <p:spPr bwMode="auto">
          <a:xfrm>
            <a:off x="6538914" y="3659189"/>
            <a:ext cx="187325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6" name="Text Box 61">
            <a:extLst>
              <a:ext uri="{FF2B5EF4-FFF2-40B4-BE49-F238E27FC236}">
                <a16:creationId xmlns:a16="http://schemas.microsoft.com/office/drawing/2014/main" id="{8D002643-83D1-82EC-9D5E-203AA829B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6239" y="3429001"/>
            <a:ext cx="574675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48</a:t>
            </a:r>
          </a:p>
        </p:txBody>
      </p:sp>
      <p:cxnSp>
        <p:nvCxnSpPr>
          <p:cNvPr id="64527" name="AutoShape 62">
            <a:extLst>
              <a:ext uri="{FF2B5EF4-FFF2-40B4-BE49-F238E27FC236}">
                <a16:creationId xmlns:a16="http://schemas.microsoft.com/office/drawing/2014/main" id="{6E818924-AD64-41C6-066F-207C7E8462FC}"/>
              </a:ext>
            </a:extLst>
          </p:cNvPr>
          <p:cNvCxnSpPr>
            <a:cxnSpLocks noChangeShapeType="1"/>
            <a:stCxn id="64526" idx="3"/>
            <a:endCxn id="64528" idx="1"/>
          </p:cNvCxnSpPr>
          <p:nvPr/>
        </p:nvCxnSpPr>
        <p:spPr bwMode="auto">
          <a:xfrm flipV="1">
            <a:off x="7300914" y="3659834"/>
            <a:ext cx="263525" cy="149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8" name="Text Box 64">
            <a:extLst>
              <a:ext uri="{FF2B5EF4-FFF2-40B4-BE49-F238E27FC236}">
                <a16:creationId xmlns:a16="http://schemas.microsoft.com/office/drawing/2014/main" id="{746821F9-CC15-9787-BBB0-D6AC748D3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439" y="3429001"/>
            <a:ext cx="57259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64</a:t>
            </a:r>
          </a:p>
        </p:txBody>
      </p:sp>
      <p:cxnSp>
        <p:nvCxnSpPr>
          <p:cNvPr id="64529" name="AutoShape 65">
            <a:extLst>
              <a:ext uri="{FF2B5EF4-FFF2-40B4-BE49-F238E27FC236}">
                <a16:creationId xmlns:a16="http://schemas.microsoft.com/office/drawing/2014/main" id="{4FF59A05-E2AF-4EFC-293D-127CAD41DD1E}"/>
              </a:ext>
            </a:extLst>
          </p:cNvPr>
          <p:cNvCxnSpPr>
            <a:cxnSpLocks noChangeShapeType="1"/>
            <a:stCxn id="64528" idx="3"/>
            <a:endCxn id="64516" idx="1"/>
          </p:cNvCxnSpPr>
          <p:nvPr/>
        </p:nvCxnSpPr>
        <p:spPr bwMode="auto">
          <a:xfrm>
            <a:off x="8137032" y="3659833"/>
            <a:ext cx="26560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30" name="Text Box 67">
            <a:extLst>
              <a:ext uri="{FF2B5EF4-FFF2-40B4-BE49-F238E27FC236}">
                <a16:creationId xmlns:a16="http://schemas.microsoft.com/office/drawing/2014/main" id="{A7321F9A-0603-D83A-DD9E-80242F21E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9238" y="3962401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1</a:t>
            </a:r>
          </a:p>
        </p:txBody>
      </p:sp>
      <p:cxnSp>
        <p:nvCxnSpPr>
          <p:cNvPr id="64531" name="AutoShape 68">
            <a:extLst>
              <a:ext uri="{FF2B5EF4-FFF2-40B4-BE49-F238E27FC236}">
                <a16:creationId xmlns:a16="http://schemas.microsoft.com/office/drawing/2014/main" id="{3EDBE218-1F2C-AF64-26A2-6D65143C8131}"/>
              </a:ext>
            </a:extLst>
          </p:cNvPr>
          <p:cNvCxnSpPr>
            <a:cxnSpLocks noChangeShapeType="1"/>
            <a:stCxn id="64530" idx="3"/>
            <a:endCxn id="64532" idx="1"/>
          </p:cNvCxnSpPr>
          <p:nvPr/>
        </p:nvCxnSpPr>
        <p:spPr bwMode="auto">
          <a:xfrm>
            <a:off x="4437868" y="4193233"/>
            <a:ext cx="26907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32" name="Text Box 70">
            <a:extLst>
              <a:ext uri="{FF2B5EF4-FFF2-40B4-BE49-F238E27FC236}">
                <a16:creationId xmlns:a16="http://schemas.microsoft.com/office/drawing/2014/main" id="{841627E1-6C78-296B-D5F7-82129AFEF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3962401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2</a:t>
            </a:r>
          </a:p>
        </p:txBody>
      </p:sp>
      <p:cxnSp>
        <p:nvCxnSpPr>
          <p:cNvPr id="64533" name="AutoShape 71">
            <a:extLst>
              <a:ext uri="{FF2B5EF4-FFF2-40B4-BE49-F238E27FC236}">
                <a16:creationId xmlns:a16="http://schemas.microsoft.com/office/drawing/2014/main" id="{7C0FD9FB-A933-84EF-802E-77FBD443BCC0}"/>
              </a:ext>
            </a:extLst>
          </p:cNvPr>
          <p:cNvCxnSpPr>
            <a:cxnSpLocks noChangeShapeType="1"/>
            <a:stCxn id="64532" idx="3"/>
            <a:endCxn id="64534" idx="1"/>
          </p:cNvCxnSpPr>
          <p:nvPr/>
        </p:nvCxnSpPr>
        <p:spPr bwMode="auto">
          <a:xfrm>
            <a:off x="5085568" y="4193233"/>
            <a:ext cx="26907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34" name="Text Box 73">
            <a:extLst>
              <a:ext uri="{FF2B5EF4-FFF2-40B4-BE49-F238E27FC236}">
                <a16:creationId xmlns:a16="http://schemas.microsoft.com/office/drawing/2014/main" id="{CACBB022-46C5-0A12-C8A6-7162D4322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638" y="3962401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3</a:t>
            </a:r>
          </a:p>
        </p:txBody>
      </p:sp>
      <p:cxnSp>
        <p:nvCxnSpPr>
          <p:cNvPr id="64535" name="AutoShape 74">
            <a:extLst>
              <a:ext uri="{FF2B5EF4-FFF2-40B4-BE49-F238E27FC236}">
                <a16:creationId xmlns:a16="http://schemas.microsoft.com/office/drawing/2014/main" id="{F30EFFA4-D651-7CCF-7EDD-D18A3D154E81}"/>
              </a:ext>
            </a:extLst>
          </p:cNvPr>
          <p:cNvCxnSpPr>
            <a:cxnSpLocks noChangeShapeType="1"/>
            <a:stCxn id="64534" idx="3"/>
            <a:endCxn id="64536" idx="1"/>
          </p:cNvCxnSpPr>
          <p:nvPr/>
        </p:nvCxnSpPr>
        <p:spPr bwMode="auto">
          <a:xfrm>
            <a:off x="5733269" y="4193234"/>
            <a:ext cx="251607" cy="149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36" name="Text Box 76">
            <a:extLst>
              <a:ext uri="{FF2B5EF4-FFF2-40B4-BE49-F238E27FC236}">
                <a16:creationId xmlns:a16="http://schemas.microsoft.com/office/drawing/2014/main" id="{1448C8A6-5732-BADD-853D-99D263BF2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6" y="3962401"/>
            <a:ext cx="379413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8</a:t>
            </a:r>
          </a:p>
        </p:txBody>
      </p:sp>
      <p:cxnSp>
        <p:nvCxnSpPr>
          <p:cNvPr id="64537" name="AutoShape 77">
            <a:extLst>
              <a:ext uri="{FF2B5EF4-FFF2-40B4-BE49-F238E27FC236}">
                <a16:creationId xmlns:a16="http://schemas.microsoft.com/office/drawing/2014/main" id="{6C8A9B59-D786-8F02-BE61-245B402C4BBF}"/>
              </a:ext>
            </a:extLst>
          </p:cNvPr>
          <p:cNvCxnSpPr>
            <a:cxnSpLocks noChangeShapeType="1"/>
            <a:stCxn id="64536" idx="3"/>
            <a:endCxn id="64538" idx="1"/>
          </p:cNvCxnSpPr>
          <p:nvPr/>
        </p:nvCxnSpPr>
        <p:spPr bwMode="auto">
          <a:xfrm>
            <a:off x="6364288" y="4192589"/>
            <a:ext cx="227012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38" name="Text Box 79">
            <a:extLst>
              <a:ext uri="{FF2B5EF4-FFF2-40B4-BE49-F238E27FC236}">
                <a16:creationId xmlns:a16="http://schemas.microsoft.com/office/drawing/2014/main" id="{FAD79F97-EB08-4F15-7671-BEFF9ADC0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1" y="3962401"/>
            <a:ext cx="574675" cy="461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11</a:t>
            </a:r>
          </a:p>
        </p:txBody>
      </p:sp>
      <p:cxnSp>
        <p:nvCxnSpPr>
          <p:cNvPr id="64539" name="AutoShape 80">
            <a:extLst>
              <a:ext uri="{FF2B5EF4-FFF2-40B4-BE49-F238E27FC236}">
                <a16:creationId xmlns:a16="http://schemas.microsoft.com/office/drawing/2014/main" id="{C72F8A7B-4E24-11EF-8C1D-86E8B9D1E059}"/>
              </a:ext>
            </a:extLst>
          </p:cNvPr>
          <p:cNvCxnSpPr>
            <a:cxnSpLocks noChangeShapeType="1"/>
            <a:stCxn id="64538" idx="3"/>
            <a:endCxn id="64540" idx="1"/>
          </p:cNvCxnSpPr>
          <p:nvPr/>
        </p:nvCxnSpPr>
        <p:spPr bwMode="auto">
          <a:xfrm>
            <a:off x="7165975" y="4192589"/>
            <a:ext cx="185738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40" name="Text Box 82">
            <a:extLst>
              <a:ext uri="{FF2B5EF4-FFF2-40B4-BE49-F238E27FC236}">
                <a16:creationId xmlns:a16="http://schemas.microsoft.com/office/drawing/2014/main" id="{29C32E32-D73B-8CB2-688E-AA8B06107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1713" y="3962401"/>
            <a:ext cx="5889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17</a:t>
            </a:r>
          </a:p>
        </p:txBody>
      </p:sp>
      <p:cxnSp>
        <p:nvCxnSpPr>
          <p:cNvPr id="64541" name="AutoShape 83">
            <a:extLst>
              <a:ext uri="{FF2B5EF4-FFF2-40B4-BE49-F238E27FC236}">
                <a16:creationId xmlns:a16="http://schemas.microsoft.com/office/drawing/2014/main" id="{4B90B7E1-C3DC-7161-592A-35A5B60756DF}"/>
              </a:ext>
            </a:extLst>
          </p:cNvPr>
          <p:cNvCxnSpPr>
            <a:cxnSpLocks noChangeShapeType="1"/>
            <a:stCxn id="64540" idx="3"/>
            <a:endCxn id="64542" idx="1"/>
          </p:cNvCxnSpPr>
          <p:nvPr/>
        </p:nvCxnSpPr>
        <p:spPr bwMode="auto">
          <a:xfrm flipV="1">
            <a:off x="7940675" y="4193233"/>
            <a:ext cx="173038" cy="25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42" name="Text Box 85">
            <a:extLst>
              <a:ext uri="{FF2B5EF4-FFF2-40B4-BE49-F238E27FC236}">
                <a16:creationId xmlns:a16="http://schemas.microsoft.com/office/drawing/2014/main" id="{407D8D28-D2CB-C75F-D2F4-32AF8402B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3714" y="3962401"/>
            <a:ext cx="572593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21</a:t>
            </a:r>
          </a:p>
        </p:txBody>
      </p:sp>
      <p:cxnSp>
        <p:nvCxnSpPr>
          <p:cNvPr id="64543" name="AutoShape 86">
            <a:extLst>
              <a:ext uri="{FF2B5EF4-FFF2-40B4-BE49-F238E27FC236}">
                <a16:creationId xmlns:a16="http://schemas.microsoft.com/office/drawing/2014/main" id="{00434D6E-CCF7-A2ED-BD8C-C05DFDD90D33}"/>
              </a:ext>
            </a:extLst>
          </p:cNvPr>
          <p:cNvCxnSpPr>
            <a:cxnSpLocks noChangeShapeType="1"/>
            <a:stCxn id="64542" idx="3"/>
            <a:endCxn id="64517" idx="1"/>
          </p:cNvCxnSpPr>
          <p:nvPr/>
        </p:nvCxnSpPr>
        <p:spPr bwMode="auto">
          <a:xfrm>
            <a:off x="8686307" y="4193233"/>
            <a:ext cx="189407" cy="25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44" name="Text Box 88">
            <a:extLst>
              <a:ext uri="{FF2B5EF4-FFF2-40B4-BE49-F238E27FC236}">
                <a16:creationId xmlns:a16="http://schemas.microsoft.com/office/drawing/2014/main" id="{689A19C1-F323-BA64-E38F-A6D8E2B6C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1" y="3429001"/>
            <a:ext cx="12153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i="1">
                <a:latin typeface="Lucida Sans" panose="020B0602030504020204" pitchFamily="34" charset="0"/>
                <a:ea typeface="Arial Unicode MS" pitchFamily="34" charset="-128"/>
              </a:rPr>
              <a:t>Brutus</a:t>
            </a:r>
          </a:p>
        </p:txBody>
      </p:sp>
      <p:sp>
        <p:nvSpPr>
          <p:cNvPr id="64545" name="Text Box 89">
            <a:extLst>
              <a:ext uri="{FF2B5EF4-FFF2-40B4-BE49-F238E27FC236}">
                <a16:creationId xmlns:a16="http://schemas.microsoft.com/office/drawing/2014/main" id="{28D2BF3E-375C-07BD-1F08-DF0E91FB5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1" y="3962401"/>
            <a:ext cx="12859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i="1">
                <a:latin typeface="Lucida Sans" panose="020B0602030504020204" pitchFamily="34" charset="0"/>
                <a:ea typeface="Arial Unicode MS" pitchFamily="34" charset="-128"/>
              </a:rPr>
              <a:t>Caesar</a:t>
            </a:r>
          </a:p>
        </p:txBody>
      </p:sp>
      <p:sp>
        <p:nvSpPr>
          <p:cNvPr id="64546" name="AutoShape 90">
            <a:extLst>
              <a:ext uri="{FF2B5EF4-FFF2-40B4-BE49-F238E27FC236}">
                <a16:creationId xmlns:a16="http://schemas.microsoft.com/office/drawing/2014/main" id="{37D023B1-06D4-C71D-27E6-84E0D0285B2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289872" y="3499099"/>
            <a:ext cx="368747" cy="917079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64547" name="Text Box 91">
            <a:extLst>
              <a:ext uri="{FF2B5EF4-FFF2-40B4-BE49-F238E27FC236}">
                <a16:creationId xmlns:a16="http://schemas.microsoft.com/office/drawing/2014/main" id="{3AB7C2AC-C3BB-DB8E-4E86-8A6A8E00F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733801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2</a:t>
            </a:r>
          </a:p>
        </p:txBody>
      </p:sp>
      <p:cxnSp>
        <p:nvCxnSpPr>
          <p:cNvPr id="64548" name="AutoShape 93">
            <a:extLst>
              <a:ext uri="{FF2B5EF4-FFF2-40B4-BE49-F238E27FC236}">
                <a16:creationId xmlns:a16="http://schemas.microsoft.com/office/drawing/2014/main" id="{FE111459-8859-601F-4997-27F322BABEB3}"/>
              </a:ext>
            </a:extLst>
          </p:cNvPr>
          <p:cNvCxnSpPr>
            <a:cxnSpLocks noChangeShapeType="1"/>
            <a:stCxn id="64547" idx="3"/>
          </p:cNvCxnSpPr>
          <p:nvPr/>
        </p:nvCxnSpPr>
        <p:spPr bwMode="auto">
          <a:xfrm>
            <a:off x="2131230" y="3964633"/>
            <a:ext cx="269070" cy="25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49" name="Text Box 94">
            <a:extLst>
              <a:ext uri="{FF2B5EF4-FFF2-40B4-BE49-F238E27FC236}">
                <a16:creationId xmlns:a16="http://schemas.microsoft.com/office/drawing/2014/main" id="{CE2D3F27-8E38-3FB8-A4E8-55662E260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663" y="3743326"/>
            <a:ext cx="37863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8</a:t>
            </a:r>
          </a:p>
        </p:txBody>
      </p:sp>
      <p:sp>
        <p:nvSpPr>
          <p:cNvPr id="1264736" name="Text Box 96">
            <a:extLst>
              <a:ext uri="{FF2B5EF4-FFF2-40B4-BE49-F238E27FC236}">
                <a16:creationId xmlns:a16="http://schemas.microsoft.com/office/drawing/2014/main" id="{76BE03C7-EB57-A117-0DBC-4B6707B3B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979209"/>
            <a:ext cx="9482959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" panose="020B0602030504020204" pitchFamily="34" charset="0"/>
                <a:ea typeface="Arial Unicode MS" pitchFamily="34" charset="-128"/>
              </a:rPr>
              <a:t>Can we do better?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Sans" panose="020B0602030504020204" pitchFamily="34" charset="0"/>
                <a:ea typeface="Arial Unicode MS" pitchFamily="34" charset="-128"/>
              </a:rPr>
              <a:t>Yes (if index isn’t changing too fast).</a:t>
            </a:r>
          </a:p>
        </p:txBody>
      </p:sp>
      <p:sp>
        <p:nvSpPr>
          <p:cNvPr id="64552" name="TextBox 4">
            <a:extLst>
              <a:ext uri="{FF2B5EF4-FFF2-40B4-BE49-F238E27FC236}">
                <a16:creationId xmlns:a16="http://schemas.microsoft.com/office/drawing/2014/main" id="{D49F4AD5-3A82-0E98-098B-A20808171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473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9292558A-C07F-96E5-8BF9-2A8782256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Augment postings with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skip pointers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ea typeface="ＭＳ Ｐゴシック" panose="020B0600070205080204" pitchFamily="34" charset="-128"/>
              </a:rPr>
              <a:t>(at indexing time)</a:t>
            </a:r>
          </a:p>
        </p:txBody>
      </p:sp>
      <p:sp>
        <p:nvSpPr>
          <p:cNvPr id="66563" name="Rectangle 75">
            <a:extLst>
              <a:ext uri="{FF2B5EF4-FFF2-40B4-BE49-F238E27FC236}">
                <a16:creationId xmlns:a16="http://schemas.microsoft.com/office/drawing/2014/main" id="{90BA9EAE-E9C6-E275-518F-64F2DCD2EF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98179" y="4572158"/>
            <a:ext cx="10058400" cy="1744559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Why? </a:t>
            </a:r>
            <a:r>
              <a:rPr lang="en-US" altLang="zh-TW" u="sng" dirty="0">
                <a:ea typeface="ＭＳ Ｐゴシック" panose="020B0600070205080204" pitchFamily="34" charset="-128"/>
              </a:rPr>
              <a:t>To skip postings that will not figure in the search results.</a:t>
            </a:r>
          </a:p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How?</a:t>
            </a:r>
          </a:p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Where do we place skip pointers?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3942D0-E90A-6599-3404-3DA46EC6524E}"/>
              </a:ext>
            </a:extLst>
          </p:cNvPr>
          <p:cNvGrpSpPr/>
          <p:nvPr/>
        </p:nvGrpSpPr>
        <p:grpSpPr>
          <a:xfrm>
            <a:off x="3352800" y="1879600"/>
            <a:ext cx="5486399" cy="2159000"/>
            <a:chOff x="2971801" y="1660526"/>
            <a:chExt cx="5486399" cy="2159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DDD6FFC-B92C-C5BB-072B-09631060AF0B}"/>
                </a:ext>
              </a:extLst>
            </p:cNvPr>
            <p:cNvGrpSpPr/>
            <p:nvPr/>
          </p:nvGrpSpPr>
          <p:grpSpPr>
            <a:xfrm>
              <a:off x="2971801" y="1676400"/>
              <a:ext cx="5486399" cy="2143126"/>
              <a:chOff x="2971801" y="1676400"/>
              <a:chExt cx="5486399" cy="2143126"/>
            </a:xfrm>
          </p:grpSpPr>
          <p:grpSp>
            <p:nvGrpSpPr>
              <p:cNvPr id="66564" name="Group 68">
                <a:extLst>
                  <a:ext uri="{FF2B5EF4-FFF2-40B4-BE49-F238E27FC236}">
                    <a16:creationId xmlns:a16="http://schemas.microsoft.com/office/drawing/2014/main" id="{E1B68545-9C4C-6834-5A3E-BB9F0D0368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1801" y="2055813"/>
                <a:ext cx="5133975" cy="468312"/>
                <a:chOff x="912" y="1295"/>
                <a:chExt cx="3234" cy="295"/>
              </a:xfrm>
            </p:grpSpPr>
            <p:sp>
              <p:nvSpPr>
                <p:cNvPr id="66595" name="Text Box 18">
                  <a:extLst>
                    <a:ext uri="{FF2B5EF4-FFF2-40B4-BE49-F238E27FC236}">
                      <a16:creationId xmlns:a16="http://schemas.microsoft.com/office/drawing/2014/main" id="{A33C1FA4-F8E8-22E2-63CB-73F4E98C35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61" y="1296"/>
                  <a:ext cx="485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128</a:t>
                  </a:r>
                </a:p>
              </p:txBody>
            </p:sp>
            <p:grpSp>
              <p:nvGrpSpPr>
                <p:cNvPr id="66596" name="Group 19">
                  <a:extLst>
                    <a:ext uri="{FF2B5EF4-FFF2-40B4-BE49-F238E27FC236}">
                      <a16:creationId xmlns:a16="http://schemas.microsoft.com/office/drawing/2014/main" id="{9EED97D2-3663-B05B-5887-D2D6F8BD3C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2" y="1296"/>
                  <a:ext cx="408" cy="294"/>
                  <a:chOff x="1584" y="3162"/>
                  <a:chExt cx="408" cy="294"/>
                </a:xfrm>
              </p:grpSpPr>
              <p:sp>
                <p:nvSpPr>
                  <p:cNvPr id="66615" name="Text Box 20">
                    <a:extLst>
                      <a:ext uri="{FF2B5EF4-FFF2-40B4-BE49-F238E27FC236}">
                        <a16:creationId xmlns:a16="http://schemas.microsoft.com/office/drawing/2014/main" id="{557B26BE-3B3E-AFB6-C922-08D8B1C3F35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84" y="3162"/>
                    <a:ext cx="243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437085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spcBef>
                        <a:spcPct val="20000"/>
                      </a:spcBef>
                      <a:buClr>
                        <a:srgbClr val="357E6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918BA3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2F6E7E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TW" sz="2400">
                        <a:latin typeface="Lucida Sans" panose="020B0602030504020204" pitchFamily="34" charset="0"/>
                        <a:ea typeface="Arial Unicode MS" pitchFamily="34" charset="-128"/>
                      </a:rPr>
                      <a:t>2</a:t>
                    </a:r>
                  </a:p>
                </p:txBody>
              </p:sp>
              <p:cxnSp>
                <p:nvCxnSpPr>
                  <p:cNvPr id="66616" name="AutoShape 21">
                    <a:extLst>
                      <a:ext uri="{FF2B5EF4-FFF2-40B4-BE49-F238E27FC236}">
                        <a16:creationId xmlns:a16="http://schemas.microsoft.com/office/drawing/2014/main" id="{B2560DFC-77C1-2094-CA12-58A3A6A0B7B0}"/>
                      </a:ext>
                    </a:extLst>
                  </p:cNvPr>
                  <p:cNvCxnSpPr>
                    <a:cxnSpLocks noChangeShapeType="1"/>
                    <a:stCxn id="66615" idx="3"/>
                    <a:endCxn id="66613" idx="1"/>
                  </p:cNvCxnSpPr>
                  <p:nvPr/>
                </p:nvCxnSpPr>
                <p:spPr bwMode="auto">
                  <a:xfrm>
                    <a:off x="1813" y="3309"/>
                    <a:ext cx="179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66597" name="Group 22">
                  <a:extLst>
                    <a:ext uri="{FF2B5EF4-FFF2-40B4-BE49-F238E27FC236}">
                      <a16:creationId xmlns:a16="http://schemas.microsoft.com/office/drawing/2014/main" id="{F00E5D8A-8681-91FD-D34E-21427D1B61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20" y="1296"/>
                  <a:ext cx="421" cy="294"/>
                  <a:chOff x="1992" y="3162"/>
                  <a:chExt cx="421" cy="294"/>
                </a:xfrm>
              </p:grpSpPr>
              <p:sp>
                <p:nvSpPr>
                  <p:cNvPr id="66613" name="Text Box 23">
                    <a:extLst>
                      <a:ext uri="{FF2B5EF4-FFF2-40B4-BE49-F238E27FC236}">
                        <a16:creationId xmlns:a16="http://schemas.microsoft.com/office/drawing/2014/main" id="{A2163D7C-4C1A-6126-10D3-D7630CEC7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92" y="3162"/>
                    <a:ext cx="243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437085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spcBef>
                        <a:spcPct val="20000"/>
                      </a:spcBef>
                      <a:buClr>
                        <a:srgbClr val="357E6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918BA3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2F6E7E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TW" sz="2400">
                        <a:latin typeface="Lucida Sans" panose="020B0602030504020204" pitchFamily="34" charset="0"/>
                        <a:ea typeface="Arial Unicode MS" pitchFamily="34" charset="-128"/>
                      </a:rPr>
                      <a:t>4</a:t>
                    </a:r>
                  </a:p>
                </p:txBody>
              </p:sp>
              <p:cxnSp>
                <p:nvCxnSpPr>
                  <p:cNvPr id="66614" name="AutoShape 24">
                    <a:extLst>
                      <a:ext uri="{FF2B5EF4-FFF2-40B4-BE49-F238E27FC236}">
                        <a16:creationId xmlns:a16="http://schemas.microsoft.com/office/drawing/2014/main" id="{5723000F-86BE-5E2C-48A6-C4E39B42D734}"/>
                      </a:ext>
                    </a:extLst>
                  </p:cNvPr>
                  <p:cNvCxnSpPr>
                    <a:cxnSpLocks noChangeShapeType="1"/>
                    <a:stCxn id="66613" idx="3"/>
                    <a:endCxn id="66611" idx="1"/>
                  </p:cNvCxnSpPr>
                  <p:nvPr/>
                </p:nvCxnSpPr>
                <p:spPr bwMode="auto">
                  <a:xfrm>
                    <a:off x="2221" y="3309"/>
                    <a:ext cx="19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66598" name="Group 25">
                  <a:extLst>
                    <a:ext uri="{FF2B5EF4-FFF2-40B4-BE49-F238E27FC236}">
                      <a16:creationId xmlns:a16="http://schemas.microsoft.com/office/drawing/2014/main" id="{8C434311-1C0E-61FB-7042-6258C76DBA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41" y="1296"/>
                  <a:ext cx="384" cy="294"/>
                  <a:chOff x="2413" y="3162"/>
                  <a:chExt cx="384" cy="294"/>
                </a:xfrm>
              </p:grpSpPr>
              <p:sp>
                <p:nvSpPr>
                  <p:cNvPr id="66611" name="Text Box 26">
                    <a:extLst>
                      <a:ext uri="{FF2B5EF4-FFF2-40B4-BE49-F238E27FC236}">
                        <a16:creationId xmlns:a16="http://schemas.microsoft.com/office/drawing/2014/main" id="{9818AD1A-7509-EE9E-456A-0A3746C0D7A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13" y="3162"/>
                    <a:ext cx="243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437085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spcBef>
                        <a:spcPct val="20000"/>
                      </a:spcBef>
                      <a:buClr>
                        <a:srgbClr val="357E6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918BA3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2F6E7E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TW" sz="2400">
                        <a:latin typeface="Lucida Sans" panose="020B0602030504020204" pitchFamily="34" charset="0"/>
                        <a:ea typeface="Arial Unicode MS" pitchFamily="34" charset="-128"/>
                      </a:rPr>
                      <a:t>8</a:t>
                    </a:r>
                  </a:p>
                </p:txBody>
              </p:sp>
              <p:cxnSp>
                <p:nvCxnSpPr>
                  <p:cNvPr id="66612" name="AutoShape 27">
                    <a:extLst>
                      <a:ext uri="{FF2B5EF4-FFF2-40B4-BE49-F238E27FC236}">
                        <a16:creationId xmlns:a16="http://schemas.microsoft.com/office/drawing/2014/main" id="{A30A74E5-3267-2AF4-5E47-AD4E69DA3E73}"/>
                      </a:ext>
                    </a:extLst>
                  </p:cNvPr>
                  <p:cNvCxnSpPr>
                    <a:cxnSpLocks noChangeShapeType="1"/>
                    <a:stCxn id="66611" idx="3"/>
                    <a:endCxn id="66609" idx="1"/>
                  </p:cNvCxnSpPr>
                  <p:nvPr/>
                </p:nvCxnSpPr>
                <p:spPr bwMode="auto">
                  <a:xfrm flipV="1">
                    <a:off x="2656" y="3307"/>
                    <a:ext cx="141" cy="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66599" name="Group 28">
                  <a:extLst>
                    <a:ext uri="{FF2B5EF4-FFF2-40B4-BE49-F238E27FC236}">
                      <a16:creationId xmlns:a16="http://schemas.microsoft.com/office/drawing/2014/main" id="{1A211BE2-0EB1-2E01-B7BD-5D515B2ADF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25" y="1296"/>
                  <a:ext cx="480" cy="291"/>
                  <a:chOff x="2797" y="3162"/>
                  <a:chExt cx="480" cy="291"/>
                </a:xfrm>
              </p:grpSpPr>
              <p:sp>
                <p:nvSpPr>
                  <p:cNvPr id="66609" name="Text Box 29">
                    <a:extLst>
                      <a:ext uri="{FF2B5EF4-FFF2-40B4-BE49-F238E27FC236}">
                        <a16:creationId xmlns:a16="http://schemas.microsoft.com/office/drawing/2014/main" id="{85909B03-A168-2F71-9476-5FF9D16887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97" y="3162"/>
                    <a:ext cx="362" cy="291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437085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spcBef>
                        <a:spcPct val="20000"/>
                      </a:spcBef>
                      <a:buClr>
                        <a:srgbClr val="357E6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918BA3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2F6E7E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TW" sz="2400" dirty="0">
                        <a:latin typeface="Lucida Sans" panose="020B0602030504020204" pitchFamily="34" charset="0"/>
                        <a:ea typeface="Arial Unicode MS" pitchFamily="34" charset="-128"/>
                      </a:rPr>
                      <a:t>41</a:t>
                    </a:r>
                  </a:p>
                </p:txBody>
              </p:sp>
              <p:cxnSp>
                <p:nvCxnSpPr>
                  <p:cNvPr id="66610" name="AutoShape 30">
                    <a:extLst>
                      <a:ext uri="{FF2B5EF4-FFF2-40B4-BE49-F238E27FC236}">
                        <a16:creationId xmlns:a16="http://schemas.microsoft.com/office/drawing/2014/main" id="{28ED35AE-C566-077E-F38D-B08182AAE2D9}"/>
                      </a:ext>
                    </a:extLst>
                  </p:cNvPr>
                  <p:cNvCxnSpPr>
                    <a:cxnSpLocks noChangeShapeType="1"/>
                    <a:stCxn id="66609" idx="3"/>
                    <a:endCxn id="66607" idx="1"/>
                  </p:cNvCxnSpPr>
                  <p:nvPr/>
                </p:nvCxnSpPr>
                <p:spPr bwMode="auto">
                  <a:xfrm>
                    <a:off x="3159" y="3307"/>
                    <a:ext cx="118" cy="1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66600" name="Group 31">
                  <a:extLst>
                    <a:ext uri="{FF2B5EF4-FFF2-40B4-BE49-F238E27FC236}">
                      <a16:creationId xmlns:a16="http://schemas.microsoft.com/office/drawing/2014/main" id="{9DF6150B-4D18-C567-981B-A5DF394EB4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05" y="1296"/>
                  <a:ext cx="528" cy="291"/>
                  <a:chOff x="3277" y="3162"/>
                  <a:chExt cx="528" cy="291"/>
                </a:xfrm>
              </p:grpSpPr>
              <p:sp>
                <p:nvSpPr>
                  <p:cNvPr id="66607" name="Text Box 32">
                    <a:extLst>
                      <a:ext uri="{FF2B5EF4-FFF2-40B4-BE49-F238E27FC236}">
                        <a16:creationId xmlns:a16="http://schemas.microsoft.com/office/drawing/2014/main" id="{4DE51EF1-370A-872A-2A59-304FD69113D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7" y="3162"/>
                    <a:ext cx="362" cy="291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437085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spcBef>
                        <a:spcPct val="20000"/>
                      </a:spcBef>
                      <a:buClr>
                        <a:srgbClr val="357E6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918BA3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2F6E7E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TW" sz="2400">
                        <a:latin typeface="Lucida Sans" panose="020B0602030504020204" pitchFamily="34" charset="0"/>
                        <a:ea typeface="Arial Unicode MS" pitchFamily="34" charset="-128"/>
                      </a:rPr>
                      <a:t>48</a:t>
                    </a:r>
                  </a:p>
                </p:txBody>
              </p:sp>
              <p:cxnSp>
                <p:nvCxnSpPr>
                  <p:cNvPr id="66608" name="AutoShape 33">
                    <a:extLst>
                      <a:ext uri="{FF2B5EF4-FFF2-40B4-BE49-F238E27FC236}">
                        <a16:creationId xmlns:a16="http://schemas.microsoft.com/office/drawing/2014/main" id="{62D227DD-633C-5309-BD61-27B2D61B9FD8}"/>
                      </a:ext>
                    </a:extLst>
                  </p:cNvPr>
                  <p:cNvCxnSpPr>
                    <a:cxnSpLocks noChangeShapeType="1"/>
                    <a:stCxn id="66607" idx="3"/>
                    <a:endCxn id="66605" idx="1"/>
                  </p:cNvCxnSpPr>
                  <p:nvPr/>
                </p:nvCxnSpPr>
                <p:spPr bwMode="auto">
                  <a:xfrm>
                    <a:off x="3639" y="3307"/>
                    <a:ext cx="166" cy="2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66601" name="Group 34">
                  <a:extLst>
                    <a:ext uri="{FF2B5EF4-FFF2-40B4-BE49-F238E27FC236}">
                      <a16:creationId xmlns:a16="http://schemas.microsoft.com/office/drawing/2014/main" id="{5C2B2B9E-AFDF-0E06-C2BE-57AFF4E0F8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3" y="1296"/>
                  <a:ext cx="528" cy="294"/>
                  <a:chOff x="3805" y="3162"/>
                  <a:chExt cx="528" cy="294"/>
                </a:xfrm>
              </p:grpSpPr>
              <p:sp>
                <p:nvSpPr>
                  <p:cNvPr id="66605" name="Text Box 35">
                    <a:extLst>
                      <a:ext uri="{FF2B5EF4-FFF2-40B4-BE49-F238E27FC236}">
                        <a16:creationId xmlns:a16="http://schemas.microsoft.com/office/drawing/2014/main" id="{9D0F0181-2D12-A05E-6380-FFC34EA9B5E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05" y="3162"/>
                    <a:ext cx="364" cy="294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437085"/>
                      </a:buClr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1pPr>
                    <a:lvl2pPr marL="37931725" indent="-37474525">
                      <a:spcBef>
                        <a:spcPct val="20000"/>
                      </a:spcBef>
                      <a:buClr>
                        <a:srgbClr val="357E69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918BA3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2F6E7E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233337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TW" sz="2400">
                        <a:latin typeface="Lucida Sans" panose="020B0602030504020204" pitchFamily="34" charset="0"/>
                        <a:ea typeface="Arial Unicode MS" pitchFamily="34" charset="-128"/>
                      </a:rPr>
                      <a:t>64</a:t>
                    </a:r>
                  </a:p>
                </p:txBody>
              </p:sp>
              <p:cxnSp>
                <p:nvCxnSpPr>
                  <p:cNvPr id="66606" name="AutoShape 36">
                    <a:extLst>
                      <a:ext uri="{FF2B5EF4-FFF2-40B4-BE49-F238E27FC236}">
                        <a16:creationId xmlns:a16="http://schemas.microsoft.com/office/drawing/2014/main" id="{0466CEFF-9405-2FB3-31BF-C83E251F48DA}"/>
                      </a:ext>
                    </a:extLst>
                  </p:cNvPr>
                  <p:cNvCxnSpPr>
                    <a:cxnSpLocks noChangeShapeType="1"/>
                    <a:stCxn id="66605" idx="3"/>
                    <a:endCxn id="66595" idx="1"/>
                  </p:cNvCxnSpPr>
                  <p:nvPr/>
                </p:nvCxnSpPr>
                <p:spPr bwMode="auto">
                  <a:xfrm>
                    <a:off x="4141" y="3309"/>
                    <a:ext cx="192" cy="0"/>
                  </a:xfrm>
                  <a:prstGeom prst="straightConnector1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66602" name="Group 39">
                  <a:extLst>
                    <a:ext uri="{FF2B5EF4-FFF2-40B4-BE49-F238E27FC236}">
                      <a16:creationId xmlns:a16="http://schemas.microsoft.com/office/drawing/2014/main" id="{56549BE4-BF11-98F6-5C48-6CB19F20AC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35" y="1295"/>
                  <a:ext cx="2870" cy="1"/>
                  <a:chOff x="1227" y="1817"/>
                  <a:chExt cx="2870" cy="1"/>
                </a:xfrm>
              </p:grpSpPr>
              <p:cxnSp>
                <p:nvCxnSpPr>
                  <p:cNvPr id="66603" name="AutoShape 37">
                    <a:extLst>
                      <a:ext uri="{FF2B5EF4-FFF2-40B4-BE49-F238E27FC236}">
                        <a16:creationId xmlns:a16="http://schemas.microsoft.com/office/drawing/2014/main" id="{F54CDC18-6F79-B8F2-4637-5A45FB82A592}"/>
                      </a:ext>
                    </a:extLst>
                  </p:cNvPr>
                  <p:cNvCxnSpPr>
                    <a:cxnSpLocks noChangeShapeType="1"/>
                    <a:stCxn id="66615" idx="0"/>
                    <a:endCxn id="66609" idx="0"/>
                  </p:cNvCxnSpPr>
                  <p:nvPr/>
                </p:nvCxnSpPr>
                <p:spPr bwMode="auto">
                  <a:xfrm rot="5400000" flipH="1" flipV="1">
                    <a:off x="1862" y="1182"/>
                    <a:ext cx="1" cy="1272"/>
                  </a:xfrm>
                  <a:prstGeom prst="curvedConnector3">
                    <a:avLst>
                      <a:gd name="adj1" fmla="val 14395468"/>
                    </a:avLst>
                  </a:prstGeom>
                  <a:noFill/>
                  <a:ln w="9525">
                    <a:solidFill>
                      <a:schemeClr val="folHlink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6604" name="AutoShape 38">
                    <a:extLst>
                      <a:ext uri="{FF2B5EF4-FFF2-40B4-BE49-F238E27FC236}">
                        <a16:creationId xmlns:a16="http://schemas.microsoft.com/office/drawing/2014/main" id="{7EF65746-29FD-F41D-FC1C-2FA4930228AB}"/>
                      </a:ext>
                    </a:extLst>
                  </p:cNvPr>
                  <p:cNvCxnSpPr>
                    <a:cxnSpLocks noChangeShapeType="1"/>
                    <a:stCxn id="66609" idx="0"/>
                    <a:endCxn id="66595" idx="0"/>
                  </p:cNvCxnSpPr>
                  <p:nvPr/>
                </p:nvCxnSpPr>
                <p:spPr bwMode="auto">
                  <a:xfrm rot="5400000" flipH="1" flipV="1">
                    <a:off x="3297" y="1019"/>
                    <a:ext cx="1" cy="1598"/>
                  </a:xfrm>
                  <a:prstGeom prst="curvedConnector3">
                    <a:avLst>
                      <a:gd name="adj1" fmla="val 14395468"/>
                    </a:avLst>
                  </a:prstGeom>
                  <a:noFill/>
                  <a:ln w="9525">
                    <a:solidFill>
                      <a:schemeClr val="folHlink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sp>
            <p:nvSpPr>
              <p:cNvPr id="66565" name="Text Box 40">
                <a:extLst>
                  <a:ext uri="{FF2B5EF4-FFF2-40B4-BE49-F238E27FC236}">
                    <a16:creationId xmlns:a16="http://schemas.microsoft.com/office/drawing/2014/main" id="{EBA8BEB7-7896-376D-F08A-BA84F7A62D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80350" y="3352801"/>
                <a:ext cx="577850" cy="4667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400">
                    <a:latin typeface="Lucida Sans" panose="020B0602030504020204" pitchFamily="34" charset="0"/>
                    <a:ea typeface="Arial Unicode MS" pitchFamily="34" charset="-128"/>
                  </a:rPr>
                  <a:t>31</a:t>
                </a:r>
              </a:p>
            </p:txBody>
          </p:sp>
          <p:grpSp>
            <p:nvGrpSpPr>
              <p:cNvPr id="66566" name="Group 41">
                <a:extLst>
                  <a:ext uri="{FF2B5EF4-FFF2-40B4-BE49-F238E27FC236}">
                    <a16:creationId xmlns:a16="http://schemas.microsoft.com/office/drawing/2014/main" id="{211C73FD-D76C-FD0F-2278-80462279CC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3550" y="3352801"/>
                <a:ext cx="647700" cy="466725"/>
                <a:chOff x="1597" y="3498"/>
                <a:chExt cx="408" cy="294"/>
              </a:xfrm>
            </p:grpSpPr>
            <p:sp>
              <p:nvSpPr>
                <p:cNvPr id="66593" name="Text Box 42">
                  <a:extLst>
                    <a:ext uri="{FF2B5EF4-FFF2-40B4-BE49-F238E27FC236}">
                      <a16:creationId xmlns:a16="http://schemas.microsoft.com/office/drawing/2014/main" id="{167BE2B7-5EBB-2406-70DF-5E06E8ED48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97" y="3498"/>
                  <a:ext cx="243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1</a:t>
                  </a:r>
                </a:p>
              </p:txBody>
            </p:sp>
            <p:cxnSp>
              <p:nvCxnSpPr>
                <p:cNvPr id="66594" name="AutoShape 43">
                  <a:extLst>
                    <a:ext uri="{FF2B5EF4-FFF2-40B4-BE49-F238E27FC236}">
                      <a16:creationId xmlns:a16="http://schemas.microsoft.com/office/drawing/2014/main" id="{DD8DAA49-F27B-8EC4-D6AD-9009A2F1663E}"/>
                    </a:ext>
                  </a:extLst>
                </p:cNvPr>
                <p:cNvCxnSpPr>
                  <a:cxnSpLocks noChangeShapeType="1"/>
                  <a:stCxn id="66593" idx="3"/>
                  <a:endCxn id="66591" idx="1"/>
                </p:cNvCxnSpPr>
                <p:nvPr/>
              </p:nvCxnSpPr>
              <p:spPr bwMode="auto">
                <a:xfrm>
                  <a:off x="1826" y="3645"/>
                  <a:ext cx="179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6567" name="Group 44">
                <a:extLst>
                  <a:ext uri="{FF2B5EF4-FFF2-40B4-BE49-F238E27FC236}">
                    <a16:creationId xmlns:a16="http://schemas.microsoft.com/office/drawing/2014/main" id="{648C39DB-1A39-587D-5D17-1EB9A232AA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250" y="3352801"/>
                <a:ext cx="647700" cy="466725"/>
                <a:chOff x="2005" y="3498"/>
                <a:chExt cx="408" cy="294"/>
              </a:xfrm>
            </p:grpSpPr>
            <p:sp>
              <p:nvSpPr>
                <p:cNvPr id="66591" name="Text Box 45">
                  <a:extLst>
                    <a:ext uri="{FF2B5EF4-FFF2-40B4-BE49-F238E27FC236}">
                      <a16:creationId xmlns:a16="http://schemas.microsoft.com/office/drawing/2014/main" id="{F6CB5D14-5A93-6264-3C3C-2080FE39E6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05" y="3498"/>
                  <a:ext cx="243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2</a:t>
                  </a:r>
                </a:p>
              </p:txBody>
            </p:sp>
            <p:cxnSp>
              <p:nvCxnSpPr>
                <p:cNvPr id="66592" name="AutoShape 46">
                  <a:extLst>
                    <a:ext uri="{FF2B5EF4-FFF2-40B4-BE49-F238E27FC236}">
                      <a16:creationId xmlns:a16="http://schemas.microsoft.com/office/drawing/2014/main" id="{EB7601A2-E829-3DAB-F150-DE2DFC4D1CC1}"/>
                    </a:ext>
                  </a:extLst>
                </p:cNvPr>
                <p:cNvCxnSpPr>
                  <a:cxnSpLocks noChangeShapeType="1"/>
                  <a:stCxn id="66591" idx="3"/>
                  <a:endCxn id="66589" idx="1"/>
                </p:cNvCxnSpPr>
                <p:nvPr/>
              </p:nvCxnSpPr>
              <p:spPr bwMode="auto">
                <a:xfrm>
                  <a:off x="2234" y="3645"/>
                  <a:ext cx="179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6568" name="Group 47">
                <a:extLst>
                  <a:ext uri="{FF2B5EF4-FFF2-40B4-BE49-F238E27FC236}">
                    <a16:creationId xmlns:a16="http://schemas.microsoft.com/office/drawing/2014/main" id="{D477B88D-6A95-C35D-881F-ADEB5754E7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8950" y="3352801"/>
                <a:ext cx="630238" cy="466725"/>
                <a:chOff x="2413" y="3498"/>
                <a:chExt cx="397" cy="294"/>
              </a:xfrm>
            </p:grpSpPr>
            <p:sp>
              <p:nvSpPr>
                <p:cNvPr id="66589" name="Text Box 48">
                  <a:extLst>
                    <a:ext uri="{FF2B5EF4-FFF2-40B4-BE49-F238E27FC236}">
                      <a16:creationId xmlns:a16="http://schemas.microsoft.com/office/drawing/2014/main" id="{18F27ECB-C310-68AF-36C5-14AFEB5766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13" y="3498"/>
                  <a:ext cx="243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3</a:t>
                  </a:r>
                </a:p>
              </p:txBody>
            </p:sp>
            <p:cxnSp>
              <p:nvCxnSpPr>
                <p:cNvPr id="66590" name="AutoShape 49">
                  <a:extLst>
                    <a:ext uri="{FF2B5EF4-FFF2-40B4-BE49-F238E27FC236}">
                      <a16:creationId xmlns:a16="http://schemas.microsoft.com/office/drawing/2014/main" id="{A1890D3D-C037-02E2-7B97-68353070B630}"/>
                    </a:ext>
                  </a:extLst>
                </p:cNvPr>
                <p:cNvCxnSpPr>
                  <a:cxnSpLocks noChangeShapeType="1"/>
                  <a:stCxn id="66589" idx="3"/>
                  <a:endCxn id="66587" idx="1"/>
                </p:cNvCxnSpPr>
                <p:nvPr/>
              </p:nvCxnSpPr>
              <p:spPr bwMode="auto">
                <a:xfrm>
                  <a:off x="2642" y="3645"/>
                  <a:ext cx="168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6569" name="Group 50">
                <a:extLst>
                  <a:ext uri="{FF2B5EF4-FFF2-40B4-BE49-F238E27FC236}">
                    <a16:creationId xmlns:a16="http://schemas.microsoft.com/office/drawing/2014/main" id="{5FA2798A-FF24-F653-9854-36968922B6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9188" y="3352801"/>
                <a:ext cx="557212" cy="466725"/>
                <a:chOff x="2810" y="3498"/>
                <a:chExt cx="351" cy="294"/>
              </a:xfrm>
            </p:grpSpPr>
            <p:sp>
              <p:nvSpPr>
                <p:cNvPr id="66587" name="Text Box 51">
                  <a:extLst>
                    <a:ext uri="{FF2B5EF4-FFF2-40B4-BE49-F238E27FC236}">
                      <a16:creationId xmlns:a16="http://schemas.microsoft.com/office/drawing/2014/main" id="{6B695ED2-A307-1EB5-5441-029E20E69F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0" y="3498"/>
                  <a:ext cx="243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8</a:t>
                  </a:r>
                </a:p>
              </p:txBody>
            </p:sp>
            <p:cxnSp>
              <p:nvCxnSpPr>
                <p:cNvPr id="66588" name="AutoShape 52">
                  <a:extLst>
                    <a:ext uri="{FF2B5EF4-FFF2-40B4-BE49-F238E27FC236}">
                      <a16:creationId xmlns:a16="http://schemas.microsoft.com/office/drawing/2014/main" id="{77892877-1928-5802-6930-9981BB4F9BC9}"/>
                    </a:ext>
                  </a:extLst>
                </p:cNvPr>
                <p:cNvCxnSpPr>
                  <a:cxnSpLocks noChangeShapeType="1"/>
                  <a:stCxn id="66587" idx="3"/>
                  <a:endCxn id="66585" idx="1"/>
                </p:cNvCxnSpPr>
                <p:nvPr/>
              </p:nvCxnSpPr>
              <p:spPr bwMode="auto">
                <a:xfrm flipV="1">
                  <a:off x="3053" y="3643"/>
                  <a:ext cx="108" cy="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6570" name="Group 53">
                <a:extLst>
                  <a:ext uri="{FF2B5EF4-FFF2-40B4-BE49-F238E27FC236}">
                    <a16:creationId xmlns:a16="http://schemas.microsoft.com/office/drawing/2014/main" id="{A2B5F111-285B-7B8D-B7C0-A67F240A28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86400" y="3352801"/>
                <a:ext cx="869950" cy="461963"/>
                <a:chOff x="3161" y="3498"/>
                <a:chExt cx="548" cy="291"/>
              </a:xfrm>
            </p:grpSpPr>
            <p:sp>
              <p:nvSpPr>
                <p:cNvPr id="66585" name="Text Box 54">
                  <a:extLst>
                    <a:ext uri="{FF2B5EF4-FFF2-40B4-BE49-F238E27FC236}">
                      <a16:creationId xmlns:a16="http://schemas.microsoft.com/office/drawing/2014/main" id="{15FBFB81-85F8-9369-BD7D-0F924C9445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61" y="3498"/>
                  <a:ext cx="384" cy="291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11</a:t>
                  </a:r>
                </a:p>
              </p:txBody>
            </p:sp>
            <p:cxnSp>
              <p:nvCxnSpPr>
                <p:cNvPr id="66586" name="AutoShape 55">
                  <a:extLst>
                    <a:ext uri="{FF2B5EF4-FFF2-40B4-BE49-F238E27FC236}">
                      <a16:creationId xmlns:a16="http://schemas.microsoft.com/office/drawing/2014/main" id="{CDAD30BE-E72D-3980-B7E5-5DE827E069D8}"/>
                    </a:ext>
                  </a:extLst>
                </p:cNvPr>
                <p:cNvCxnSpPr>
                  <a:cxnSpLocks noChangeShapeType="1"/>
                  <a:stCxn id="66585" idx="3"/>
                  <a:endCxn id="66583" idx="1"/>
                </p:cNvCxnSpPr>
                <p:nvPr/>
              </p:nvCxnSpPr>
              <p:spPr bwMode="auto">
                <a:xfrm>
                  <a:off x="3545" y="3643"/>
                  <a:ext cx="164" cy="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6571" name="Group 56">
                <a:extLst>
                  <a:ext uri="{FF2B5EF4-FFF2-40B4-BE49-F238E27FC236}">
                    <a16:creationId xmlns:a16="http://schemas.microsoft.com/office/drawing/2014/main" id="{72CEF695-1B17-F0E2-4D64-8E001BA44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56350" y="3352801"/>
                <a:ext cx="762000" cy="466725"/>
                <a:chOff x="3565" y="2496"/>
                <a:chExt cx="480" cy="294"/>
              </a:xfrm>
            </p:grpSpPr>
            <p:sp>
              <p:nvSpPr>
                <p:cNvPr id="66583" name="Text Box 57">
                  <a:extLst>
                    <a:ext uri="{FF2B5EF4-FFF2-40B4-BE49-F238E27FC236}">
                      <a16:creationId xmlns:a16="http://schemas.microsoft.com/office/drawing/2014/main" id="{6289DD80-1FE1-652E-5AD3-06F506390C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65" y="2496"/>
                  <a:ext cx="371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17</a:t>
                  </a:r>
                </a:p>
              </p:txBody>
            </p:sp>
            <p:cxnSp>
              <p:nvCxnSpPr>
                <p:cNvPr id="66584" name="AutoShape 58">
                  <a:extLst>
                    <a:ext uri="{FF2B5EF4-FFF2-40B4-BE49-F238E27FC236}">
                      <a16:creationId xmlns:a16="http://schemas.microsoft.com/office/drawing/2014/main" id="{CDAE0A94-0233-54D9-84A7-AA8140D50C56}"/>
                    </a:ext>
                  </a:extLst>
                </p:cNvPr>
                <p:cNvCxnSpPr>
                  <a:cxnSpLocks noChangeShapeType="1"/>
                  <a:stCxn id="66583" idx="3"/>
                  <a:endCxn id="66581" idx="1"/>
                </p:cNvCxnSpPr>
                <p:nvPr/>
              </p:nvCxnSpPr>
              <p:spPr bwMode="auto">
                <a:xfrm>
                  <a:off x="3936" y="2643"/>
                  <a:ext cx="109" cy="1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6572" name="Group 59">
                <a:extLst>
                  <a:ext uri="{FF2B5EF4-FFF2-40B4-BE49-F238E27FC236}">
                    <a16:creationId xmlns:a16="http://schemas.microsoft.com/office/drawing/2014/main" id="{9663EA32-3662-3D2E-42DB-C4B64C7E9E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18350" y="3352801"/>
                <a:ext cx="838200" cy="466725"/>
                <a:chOff x="4045" y="3498"/>
                <a:chExt cx="528" cy="294"/>
              </a:xfrm>
            </p:grpSpPr>
            <p:sp>
              <p:nvSpPr>
                <p:cNvPr id="66581" name="Text Box 60">
                  <a:extLst>
                    <a:ext uri="{FF2B5EF4-FFF2-40B4-BE49-F238E27FC236}">
                      <a16:creationId xmlns:a16="http://schemas.microsoft.com/office/drawing/2014/main" id="{B1B0C638-5261-EC04-CB6A-25BF4BEF91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45" y="3498"/>
                  <a:ext cx="364" cy="29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437085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spcBef>
                      <a:spcPct val="20000"/>
                    </a:spcBef>
                    <a:buClr>
                      <a:srgbClr val="357E6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918BA3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2F6E7E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233337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TW" sz="2400">
                      <a:latin typeface="Lucida Sans" panose="020B0602030504020204" pitchFamily="34" charset="0"/>
                      <a:ea typeface="Arial Unicode MS" pitchFamily="34" charset="-128"/>
                    </a:rPr>
                    <a:t>21</a:t>
                  </a:r>
                </a:p>
              </p:txBody>
            </p:sp>
            <p:cxnSp>
              <p:nvCxnSpPr>
                <p:cNvPr id="66582" name="AutoShape 61">
                  <a:extLst>
                    <a:ext uri="{FF2B5EF4-FFF2-40B4-BE49-F238E27FC236}">
                      <a16:creationId xmlns:a16="http://schemas.microsoft.com/office/drawing/2014/main" id="{E1C7E488-931D-5589-4F4C-21C26214230F}"/>
                    </a:ext>
                  </a:extLst>
                </p:cNvPr>
                <p:cNvCxnSpPr>
                  <a:cxnSpLocks noChangeShapeType="1"/>
                  <a:stCxn id="66581" idx="3"/>
                  <a:endCxn id="66565" idx="1"/>
                </p:cNvCxnSpPr>
                <p:nvPr/>
              </p:nvCxnSpPr>
              <p:spPr bwMode="auto">
                <a:xfrm>
                  <a:off x="4409" y="3645"/>
                  <a:ext cx="164" cy="1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6573" name="Group 67">
                <a:extLst>
                  <a:ext uri="{FF2B5EF4-FFF2-40B4-BE49-F238E27FC236}">
                    <a16:creationId xmlns:a16="http://schemas.microsoft.com/office/drawing/2014/main" id="{237C45AD-D76E-7D41-93DC-BD705603E6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8813" y="3351214"/>
                <a:ext cx="4972050" cy="1587"/>
                <a:chOff x="1055" y="1967"/>
                <a:chExt cx="3132" cy="1"/>
              </a:xfrm>
            </p:grpSpPr>
            <p:cxnSp>
              <p:nvCxnSpPr>
                <p:cNvPr id="66579" name="AutoShape 65">
                  <a:extLst>
                    <a:ext uri="{FF2B5EF4-FFF2-40B4-BE49-F238E27FC236}">
                      <a16:creationId xmlns:a16="http://schemas.microsoft.com/office/drawing/2014/main" id="{5CCEB5E2-5B45-0AFA-9C37-97069A141738}"/>
                    </a:ext>
                  </a:extLst>
                </p:cNvPr>
                <p:cNvCxnSpPr>
                  <a:cxnSpLocks noChangeShapeType="1"/>
                  <a:stCxn id="66593" idx="0"/>
                  <a:endCxn id="66585" idx="0"/>
                </p:cNvCxnSpPr>
                <p:nvPr/>
              </p:nvCxnSpPr>
              <p:spPr bwMode="auto">
                <a:xfrm rot="5400000" flipH="1" flipV="1">
                  <a:off x="1871" y="1151"/>
                  <a:ext cx="1" cy="1634"/>
                </a:xfrm>
                <a:prstGeom prst="curvedConnector3">
                  <a:avLst>
                    <a:gd name="adj1" fmla="val 14395468"/>
                  </a:avLst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6580" name="AutoShape 66">
                  <a:extLst>
                    <a:ext uri="{FF2B5EF4-FFF2-40B4-BE49-F238E27FC236}">
                      <a16:creationId xmlns:a16="http://schemas.microsoft.com/office/drawing/2014/main" id="{60D79A6A-2E82-1295-6C99-F1545D34380C}"/>
                    </a:ext>
                  </a:extLst>
                </p:cNvPr>
                <p:cNvCxnSpPr>
                  <a:cxnSpLocks noChangeShapeType="1"/>
                  <a:stCxn id="66585" idx="0"/>
                  <a:endCxn id="66565" idx="0"/>
                </p:cNvCxnSpPr>
                <p:nvPr/>
              </p:nvCxnSpPr>
              <p:spPr bwMode="auto">
                <a:xfrm rot="5400000" flipH="1" flipV="1">
                  <a:off x="3437" y="1219"/>
                  <a:ext cx="1" cy="1498"/>
                </a:xfrm>
                <a:prstGeom prst="curvedConnector3">
                  <a:avLst>
                    <a:gd name="adj1" fmla="val 14395468"/>
                  </a:avLst>
                </a:prstGeom>
                <a:noFill/>
                <a:ln w="9525">
                  <a:solidFill>
                    <a:schemeClr val="folHlink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66574" name="Text Box 70">
                <a:extLst>
                  <a:ext uri="{FF2B5EF4-FFF2-40B4-BE49-F238E27FC236}">
                    <a16:creationId xmlns:a16="http://schemas.microsoft.com/office/drawing/2014/main" id="{2DE2550D-6381-C431-FE6B-22465525D4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5326" y="2981326"/>
                <a:ext cx="50482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000">
                    <a:solidFill>
                      <a:schemeClr val="hlink"/>
                    </a:solidFill>
                    <a:latin typeface="Lucida Sans" panose="020B0602030504020204" pitchFamily="34" charset="0"/>
                    <a:ea typeface="Arial Unicode MS" pitchFamily="34" charset="-128"/>
                  </a:rPr>
                  <a:t>31</a:t>
                </a:r>
              </a:p>
            </p:txBody>
          </p:sp>
          <p:sp>
            <p:nvSpPr>
              <p:cNvPr id="66575" name="Text Box 71">
                <a:extLst>
                  <a:ext uri="{FF2B5EF4-FFF2-40B4-BE49-F238E27FC236}">
                    <a16:creationId xmlns:a16="http://schemas.microsoft.com/office/drawing/2014/main" id="{F6746464-1B46-B81F-9AC5-AC529AB0A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775" y="3032125"/>
                <a:ext cx="509588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000">
                    <a:solidFill>
                      <a:schemeClr val="hlink"/>
                    </a:solidFill>
                    <a:latin typeface="Lucida Sans" panose="020B0602030504020204" pitchFamily="34" charset="0"/>
                    <a:ea typeface="Arial Unicode MS" pitchFamily="34" charset="-128"/>
                  </a:rPr>
                  <a:t>11</a:t>
                </a:r>
              </a:p>
            </p:txBody>
          </p:sp>
          <p:sp>
            <p:nvSpPr>
              <p:cNvPr id="66576" name="Text Box 72">
                <a:extLst>
                  <a:ext uri="{FF2B5EF4-FFF2-40B4-BE49-F238E27FC236}">
                    <a16:creationId xmlns:a16="http://schemas.microsoft.com/office/drawing/2014/main" id="{6848799E-FF1E-133E-3D7E-6C33DFB869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775" y="1676400"/>
                <a:ext cx="509588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437085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357E6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18BA3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2F6E7E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233337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TW" sz="2000">
                    <a:solidFill>
                      <a:schemeClr val="hlink"/>
                    </a:solidFill>
                    <a:latin typeface="Lucida Sans" panose="020B0602030504020204" pitchFamily="34" charset="0"/>
                    <a:ea typeface="Arial Unicode MS" pitchFamily="34" charset="-128"/>
                  </a:rPr>
                  <a:t>41</a:t>
                </a:r>
              </a:p>
            </p:txBody>
          </p:sp>
        </p:grpSp>
        <p:sp>
          <p:nvSpPr>
            <p:cNvPr id="66577" name="Text Box 73">
              <a:extLst>
                <a:ext uri="{FF2B5EF4-FFF2-40B4-BE49-F238E27FC236}">
                  <a16:creationId xmlns:a16="http://schemas.microsoft.com/office/drawing/2014/main" id="{19805617-3BA0-0884-6095-D41372266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1" y="1660526"/>
              <a:ext cx="6651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solidFill>
                    <a:schemeClr val="hlink"/>
                  </a:solidFill>
                  <a:latin typeface="Lucida Sans" panose="020B0602030504020204" pitchFamily="34" charset="0"/>
                  <a:ea typeface="Arial Unicode MS" pitchFamily="34" charset="-128"/>
                </a:rPr>
                <a:t>128</a:t>
              </a:r>
            </a:p>
          </p:txBody>
        </p:sp>
      </p:grpSp>
      <p:sp>
        <p:nvSpPr>
          <p:cNvPr id="66578" name="TextBox 4">
            <a:extLst>
              <a:ext uri="{FF2B5EF4-FFF2-40B4-BE49-F238E27FC236}">
                <a16:creationId xmlns:a16="http://schemas.microsoft.com/office/drawing/2014/main" id="{98E3F7E5-5DA5-8A6E-AD70-CD0AE2F52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DDC57D3-D65E-5213-7F08-60C4E8D0F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798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Query processing with </a:t>
            </a:r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skip pointers</a:t>
            </a:r>
          </a:p>
        </p:txBody>
      </p:sp>
      <p:sp>
        <p:nvSpPr>
          <p:cNvPr id="68611" name="Text Box 5">
            <a:extLst>
              <a:ext uri="{FF2B5EF4-FFF2-40B4-BE49-F238E27FC236}">
                <a16:creationId xmlns:a16="http://schemas.microsoft.com/office/drawing/2014/main" id="{4F7B095C-8B2C-3C50-71DA-11585CE4D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839" y="2057401"/>
            <a:ext cx="769937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128</a:t>
            </a:r>
          </a:p>
        </p:txBody>
      </p:sp>
      <p:grpSp>
        <p:nvGrpSpPr>
          <p:cNvPr id="68612" name="Group 6">
            <a:extLst>
              <a:ext uri="{FF2B5EF4-FFF2-40B4-BE49-F238E27FC236}">
                <a16:creationId xmlns:a16="http://schemas.microsoft.com/office/drawing/2014/main" id="{C34D3257-1971-110D-EE98-3F569C3FBE58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057401"/>
            <a:ext cx="647700" cy="466725"/>
            <a:chOff x="1584" y="3162"/>
            <a:chExt cx="408" cy="294"/>
          </a:xfrm>
        </p:grpSpPr>
        <p:sp>
          <p:nvSpPr>
            <p:cNvPr id="68671" name="Text Box 7">
              <a:extLst>
                <a:ext uri="{FF2B5EF4-FFF2-40B4-BE49-F238E27FC236}">
                  <a16:creationId xmlns:a16="http://schemas.microsoft.com/office/drawing/2014/main" id="{585FDE18-64C2-3DD4-BC5A-ADB678CC8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162"/>
              <a:ext cx="24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2</a:t>
              </a:r>
            </a:p>
          </p:txBody>
        </p:sp>
        <p:cxnSp>
          <p:nvCxnSpPr>
            <p:cNvPr id="68672" name="AutoShape 8">
              <a:extLst>
                <a:ext uri="{FF2B5EF4-FFF2-40B4-BE49-F238E27FC236}">
                  <a16:creationId xmlns:a16="http://schemas.microsoft.com/office/drawing/2014/main" id="{FC2A11EA-2399-9E0F-17B8-71F1470CCF66}"/>
                </a:ext>
              </a:extLst>
            </p:cNvPr>
            <p:cNvCxnSpPr>
              <a:cxnSpLocks noChangeShapeType="1"/>
              <a:stCxn id="68671" idx="3"/>
              <a:endCxn id="68669" idx="1"/>
            </p:cNvCxnSpPr>
            <p:nvPr/>
          </p:nvCxnSpPr>
          <p:spPr bwMode="auto">
            <a:xfrm>
              <a:off x="1813" y="3309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13" name="Group 9">
            <a:extLst>
              <a:ext uri="{FF2B5EF4-FFF2-40B4-BE49-F238E27FC236}">
                <a16:creationId xmlns:a16="http://schemas.microsoft.com/office/drawing/2014/main" id="{8EEAE311-DDBB-40FB-E4A3-EAD92DF527D8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2057401"/>
            <a:ext cx="668338" cy="466725"/>
            <a:chOff x="1992" y="3162"/>
            <a:chExt cx="421" cy="294"/>
          </a:xfrm>
        </p:grpSpPr>
        <p:sp>
          <p:nvSpPr>
            <p:cNvPr id="68669" name="Text Box 10">
              <a:extLst>
                <a:ext uri="{FF2B5EF4-FFF2-40B4-BE49-F238E27FC236}">
                  <a16:creationId xmlns:a16="http://schemas.microsoft.com/office/drawing/2014/main" id="{45D9C930-0B86-CC92-3E23-3B17A9DC1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2" y="3162"/>
              <a:ext cx="24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4</a:t>
              </a:r>
            </a:p>
          </p:txBody>
        </p:sp>
        <p:cxnSp>
          <p:nvCxnSpPr>
            <p:cNvPr id="68670" name="AutoShape 11">
              <a:extLst>
                <a:ext uri="{FF2B5EF4-FFF2-40B4-BE49-F238E27FC236}">
                  <a16:creationId xmlns:a16="http://schemas.microsoft.com/office/drawing/2014/main" id="{A79981C2-9A8A-FBE0-9964-E827E7FBC4DB}"/>
                </a:ext>
              </a:extLst>
            </p:cNvPr>
            <p:cNvCxnSpPr>
              <a:cxnSpLocks noChangeShapeType="1"/>
              <a:stCxn id="68669" idx="3"/>
              <a:endCxn id="68667" idx="1"/>
            </p:cNvCxnSpPr>
            <p:nvPr/>
          </p:nvCxnSpPr>
          <p:spPr bwMode="auto">
            <a:xfrm>
              <a:off x="222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14" name="Group 12">
            <a:extLst>
              <a:ext uri="{FF2B5EF4-FFF2-40B4-BE49-F238E27FC236}">
                <a16:creationId xmlns:a16="http://schemas.microsoft.com/office/drawing/2014/main" id="{813A5B02-DDFF-9DBE-99DC-956E7A62304F}"/>
              </a:ext>
            </a:extLst>
          </p:cNvPr>
          <p:cNvGrpSpPr>
            <a:grpSpLocks/>
          </p:cNvGrpSpPr>
          <p:nvPr/>
        </p:nvGrpSpPr>
        <p:grpSpPr bwMode="auto">
          <a:xfrm>
            <a:off x="4287838" y="2057401"/>
            <a:ext cx="609600" cy="466725"/>
            <a:chOff x="2413" y="3162"/>
            <a:chExt cx="384" cy="294"/>
          </a:xfrm>
        </p:grpSpPr>
        <p:sp>
          <p:nvSpPr>
            <p:cNvPr id="68667" name="Text Box 13">
              <a:extLst>
                <a:ext uri="{FF2B5EF4-FFF2-40B4-BE49-F238E27FC236}">
                  <a16:creationId xmlns:a16="http://schemas.microsoft.com/office/drawing/2014/main" id="{F6E42A40-0166-BD0A-DBB4-8300BCE27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162"/>
              <a:ext cx="24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8</a:t>
              </a:r>
            </a:p>
          </p:txBody>
        </p:sp>
        <p:cxnSp>
          <p:nvCxnSpPr>
            <p:cNvPr id="68668" name="AutoShape 14">
              <a:extLst>
                <a:ext uri="{FF2B5EF4-FFF2-40B4-BE49-F238E27FC236}">
                  <a16:creationId xmlns:a16="http://schemas.microsoft.com/office/drawing/2014/main" id="{8CEC9495-7181-9BF5-1769-E4E4FF4010E9}"/>
                </a:ext>
              </a:extLst>
            </p:cNvPr>
            <p:cNvCxnSpPr>
              <a:cxnSpLocks noChangeShapeType="1"/>
              <a:stCxn id="68667" idx="3"/>
              <a:endCxn id="68665" idx="1"/>
            </p:cNvCxnSpPr>
            <p:nvPr/>
          </p:nvCxnSpPr>
          <p:spPr bwMode="auto">
            <a:xfrm flipV="1">
              <a:off x="2656" y="3307"/>
              <a:ext cx="141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15" name="Group 15">
            <a:extLst>
              <a:ext uri="{FF2B5EF4-FFF2-40B4-BE49-F238E27FC236}">
                <a16:creationId xmlns:a16="http://schemas.microsoft.com/office/drawing/2014/main" id="{B05B9631-D240-71C4-4832-14E4A224F847}"/>
              </a:ext>
            </a:extLst>
          </p:cNvPr>
          <p:cNvGrpSpPr>
            <a:grpSpLocks/>
          </p:cNvGrpSpPr>
          <p:nvPr/>
        </p:nvGrpSpPr>
        <p:grpSpPr bwMode="auto">
          <a:xfrm>
            <a:off x="4897438" y="2057401"/>
            <a:ext cx="762000" cy="461963"/>
            <a:chOff x="2797" y="3162"/>
            <a:chExt cx="480" cy="291"/>
          </a:xfrm>
        </p:grpSpPr>
        <p:sp>
          <p:nvSpPr>
            <p:cNvPr id="68665" name="Text Box 16">
              <a:extLst>
                <a:ext uri="{FF2B5EF4-FFF2-40B4-BE49-F238E27FC236}">
                  <a16:creationId xmlns:a16="http://schemas.microsoft.com/office/drawing/2014/main" id="{22B30516-C6CA-E336-6D58-BE6522623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7" y="3162"/>
              <a:ext cx="362" cy="2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41</a:t>
              </a:r>
            </a:p>
          </p:txBody>
        </p:sp>
        <p:cxnSp>
          <p:nvCxnSpPr>
            <p:cNvPr id="68666" name="AutoShape 17">
              <a:extLst>
                <a:ext uri="{FF2B5EF4-FFF2-40B4-BE49-F238E27FC236}">
                  <a16:creationId xmlns:a16="http://schemas.microsoft.com/office/drawing/2014/main" id="{671AB33C-130F-5B2F-68FA-243543F99639}"/>
                </a:ext>
              </a:extLst>
            </p:cNvPr>
            <p:cNvCxnSpPr>
              <a:cxnSpLocks noChangeShapeType="1"/>
              <a:stCxn id="68665" idx="3"/>
              <a:endCxn id="68663" idx="1"/>
            </p:cNvCxnSpPr>
            <p:nvPr/>
          </p:nvCxnSpPr>
          <p:spPr bwMode="auto">
            <a:xfrm>
              <a:off x="3159" y="3307"/>
              <a:ext cx="118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16" name="Group 18">
            <a:extLst>
              <a:ext uri="{FF2B5EF4-FFF2-40B4-BE49-F238E27FC236}">
                <a16:creationId xmlns:a16="http://schemas.microsoft.com/office/drawing/2014/main" id="{3FCA74ED-101E-6550-9F1E-29F0F95C363C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2057401"/>
            <a:ext cx="838200" cy="461963"/>
            <a:chOff x="3277" y="3162"/>
            <a:chExt cx="528" cy="291"/>
          </a:xfrm>
        </p:grpSpPr>
        <p:sp>
          <p:nvSpPr>
            <p:cNvPr id="68663" name="Text Box 19">
              <a:extLst>
                <a:ext uri="{FF2B5EF4-FFF2-40B4-BE49-F238E27FC236}">
                  <a16:creationId xmlns:a16="http://schemas.microsoft.com/office/drawing/2014/main" id="{D094F582-6437-C59A-3458-4AD24DFB6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7" y="3162"/>
              <a:ext cx="362" cy="2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48</a:t>
              </a:r>
            </a:p>
          </p:txBody>
        </p:sp>
        <p:cxnSp>
          <p:nvCxnSpPr>
            <p:cNvPr id="68664" name="AutoShape 20">
              <a:extLst>
                <a:ext uri="{FF2B5EF4-FFF2-40B4-BE49-F238E27FC236}">
                  <a16:creationId xmlns:a16="http://schemas.microsoft.com/office/drawing/2014/main" id="{5BE82C87-534C-1DC7-3A18-6B0DC154EF32}"/>
                </a:ext>
              </a:extLst>
            </p:cNvPr>
            <p:cNvCxnSpPr>
              <a:cxnSpLocks noChangeShapeType="1"/>
              <a:stCxn id="68663" idx="3"/>
              <a:endCxn id="68661" idx="1"/>
            </p:cNvCxnSpPr>
            <p:nvPr/>
          </p:nvCxnSpPr>
          <p:spPr bwMode="auto">
            <a:xfrm>
              <a:off x="3639" y="3307"/>
              <a:ext cx="166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17" name="Group 21">
            <a:extLst>
              <a:ext uri="{FF2B5EF4-FFF2-40B4-BE49-F238E27FC236}">
                <a16:creationId xmlns:a16="http://schemas.microsoft.com/office/drawing/2014/main" id="{24042FC5-B384-0779-7065-F84F45F418D7}"/>
              </a:ext>
            </a:extLst>
          </p:cNvPr>
          <p:cNvGrpSpPr>
            <a:grpSpLocks/>
          </p:cNvGrpSpPr>
          <p:nvPr/>
        </p:nvGrpSpPr>
        <p:grpSpPr bwMode="auto">
          <a:xfrm>
            <a:off x="6497638" y="2057401"/>
            <a:ext cx="838200" cy="466725"/>
            <a:chOff x="3805" y="3162"/>
            <a:chExt cx="528" cy="294"/>
          </a:xfrm>
        </p:grpSpPr>
        <p:sp>
          <p:nvSpPr>
            <p:cNvPr id="68661" name="Text Box 22">
              <a:extLst>
                <a:ext uri="{FF2B5EF4-FFF2-40B4-BE49-F238E27FC236}">
                  <a16:creationId xmlns:a16="http://schemas.microsoft.com/office/drawing/2014/main" id="{154F35FB-FC75-3BC9-FB29-2EAA6AAF4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5" y="3162"/>
              <a:ext cx="36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64</a:t>
              </a:r>
            </a:p>
          </p:txBody>
        </p:sp>
        <p:cxnSp>
          <p:nvCxnSpPr>
            <p:cNvPr id="68662" name="AutoShape 23">
              <a:extLst>
                <a:ext uri="{FF2B5EF4-FFF2-40B4-BE49-F238E27FC236}">
                  <a16:creationId xmlns:a16="http://schemas.microsoft.com/office/drawing/2014/main" id="{6B06C000-027D-8AB7-67F3-182E7BEE449E}"/>
                </a:ext>
              </a:extLst>
            </p:cNvPr>
            <p:cNvCxnSpPr>
              <a:cxnSpLocks noChangeShapeType="1"/>
              <a:stCxn id="68661" idx="3"/>
              <a:endCxn id="68611" idx="1"/>
            </p:cNvCxnSpPr>
            <p:nvPr/>
          </p:nvCxnSpPr>
          <p:spPr bwMode="auto">
            <a:xfrm>
              <a:off x="414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18" name="Group 24">
            <a:extLst>
              <a:ext uri="{FF2B5EF4-FFF2-40B4-BE49-F238E27FC236}">
                <a16:creationId xmlns:a16="http://schemas.microsoft.com/office/drawing/2014/main" id="{D45D9195-61DF-B4AD-4ED7-83E8854401E9}"/>
              </a:ext>
            </a:extLst>
          </p:cNvPr>
          <p:cNvGrpSpPr>
            <a:grpSpLocks/>
          </p:cNvGrpSpPr>
          <p:nvPr/>
        </p:nvGrpSpPr>
        <p:grpSpPr bwMode="auto">
          <a:xfrm>
            <a:off x="3167064" y="2055814"/>
            <a:ext cx="4556125" cy="1587"/>
            <a:chOff x="1227" y="1817"/>
            <a:chExt cx="2870" cy="1"/>
          </a:xfrm>
        </p:grpSpPr>
        <p:cxnSp>
          <p:nvCxnSpPr>
            <p:cNvPr id="68659" name="AutoShape 25">
              <a:extLst>
                <a:ext uri="{FF2B5EF4-FFF2-40B4-BE49-F238E27FC236}">
                  <a16:creationId xmlns:a16="http://schemas.microsoft.com/office/drawing/2014/main" id="{901CDFF8-19DE-759B-BFE7-B20379885EB5}"/>
                </a:ext>
              </a:extLst>
            </p:cNvPr>
            <p:cNvCxnSpPr>
              <a:cxnSpLocks noChangeShapeType="1"/>
              <a:stCxn id="68671" idx="0"/>
              <a:endCxn id="68665" idx="0"/>
            </p:cNvCxnSpPr>
            <p:nvPr/>
          </p:nvCxnSpPr>
          <p:spPr bwMode="auto">
            <a:xfrm rot="5400000" flipH="1" flipV="1">
              <a:off x="1862" y="1182"/>
              <a:ext cx="1" cy="1272"/>
            </a:xfrm>
            <a:prstGeom prst="curvedConnector3">
              <a:avLst>
                <a:gd name="adj1" fmla="val 14395468"/>
              </a:avLst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60" name="AutoShape 26">
              <a:extLst>
                <a:ext uri="{FF2B5EF4-FFF2-40B4-BE49-F238E27FC236}">
                  <a16:creationId xmlns:a16="http://schemas.microsoft.com/office/drawing/2014/main" id="{CDD8EB61-DD1A-617E-549E-A18920008A95}"/>
                </a:ext>
              </a:extLst>
            </p:cNvPr>
            <p:cNvCxnSpPr>
              <a:cxnSpLocks noChangeShapeType="1"/>
              <a:stCxn id="68665" idx="0"/>
              <a:endCxn id="68611" idx="0"/>
            </p:cNvCxnSpPr>
            <p:nvPr/>
          </p:nvCxnSpPr>
          <p:spPr bwMode="auto">
            <a:xfrm rot="5400000" flipH="1" flipV="1">
              <a:off x="3297" y="1019"/>
              <a:ext cx="1" cy="1598"/>
            </a:xfrm>
            <a:prstGeom prst="curvedConnector3">
              <a:avLst>
                <a:gd name="adj1" fmla="val 14395468"/>
              </a:avLst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8619" name="Text Box 28">
            <a:extLst>
              <a:ext uri="{FF2B5EF4-FFF2-40B4-BE49-F238E27FC236}">
                <a16:creationId xmlns:a16="http://schemas.microsoft.com/office/drawing/2014/main" id="{EC870034-E292-36B2-9DC7-88E79A932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0350" y="3352801"/>
            <a:ext cx="5778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31</a:t>
            </a:r>
          </a:p>
        </p:txBody>
      </p:sp>
      <p:grpSp>
        <p:nvGrpSpPr>
          <p:cNvPr id="68620" name="Group 29">
            <a:extLst>
              <a:ext uri="{FF2B5EF4-FFF2-40B4-BE49-F238E27FC236}">
                <a16:creationId xmlns:a16="http://schemas.microsoft.com/office/drawing/2014/main" id="{F6217F63-B729-B2A8-FC22-335B3C833E27}"/>
              </a:ext>
            </a:extLst>
          </p:cNvPr>
          <p:cNvGrpSpPr>
            <a:grpSpLocks/>
          </p:cNvGrpSpPr>
          <p:nvPr/>
        </p:nvGrpSpPr>
        <p:grpSpPr bwMode="auto">
          <a:xfrm>
            <a:off x="3003550" y="3352801"/>
            <a:ext cx="647700" cy="466725"/>
            <a:chOff x="1597" y="3498"/>
            <a:chExt cx="408" cy="294"/>
          </a:xfrm>
        </p:grpSpPr>
        <p:sp>
          <p:nvSpPr>
            <p:cNvPr id="68657" name="Text Box 30">
              <a:extLst>
                <a:ext uri="{FF2B5EF4-FFF2-40B4-BE49-F238E27FC236}">
                  <a16:creationId xmlns:a16="http://schemas.microsoft.com/office/drawing/2014/main" id="{1D6AEA97-54A3-0B3E-4AE2-861F2A33A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3498"/>
              <a:ext cx="24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1</a:t>
              </a:r>
            </a:p>
          </p:txBody>
        </p:sp>
        <p:cxnSp>
          <p:nvCxnSpPr>
            <p:cNvPr id="68658" name="AutoShape 31">
              <a:extLst>
                <a:ext uri="{FF2B5EF4-FFF2-40B4-BE49-F238E27FC236}">
                  <a16:creationId xmlns:a16="http://schemas.microsoft.com/office/drawing/2014/main" id="{C33F8CE8-A66D-7786-CF5E-55E682D043A9}"/>
                </a:ext>
              </a:extLst>
            </p:cNvPr>
            <p:cNvCxnSpPr>
              <a:cxnSpLocks noChangeShapeType="1"/>
              <a:stCxn id="68657" idx="3"/>
              <a:endCxn id="68655" idx="1"/>
            </p:cNvCxnSpPr>
            <p:nvPr/>
          </p:nvCxnSpPr>
          <p:spPr bwMode="auto">
            <a:xfrm>
              <a:off x="1826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21" name="Group 32">
            <a:extLst>
              <a:ext uri="{FF2B5EF4-FFF2-40B4-BE49-F238E27FC236}">
                <a16:creationId xmlns:a16="http://schemas.microsoft.com/office/drawing/2014/main" id="{1CE808FD-C7ED-0023-1D75-E030B0E921B4}"/>
              </a:ext>
            </a:extLst>
          </p:cNvPr>
          <p:cNvGrpSpPr>
            <a:grpSpLocks/>
          </p:cNvGrpSpPr>
          <p:nvPr/>
        </p:nvGrpSpPr>
        <p:grpSpPr bwMode="auto">
          <a:xfrm>
            <a:off x="3651250" y="3352801"/>
            <a:ext cx="647700" cy="466725"/>
            <a:chOff x="2005" y="3498"/>
            <a:chExt cx="408" cy="294"/>
          </a:xfrm>
        </p:grpSpPr>
        <p:sp>
          <p:nvSpPr>
            <p:cNvPr id="68655" name="Text Box 33">
              <a:extLst>
                <a:ext uri="{FF2B5EF4-FFF2-40B4-BE49-F238E27FC236}">
                  <a16:creationId xmlns:a16="http://schemas.microsoft.com/office/drawing/2014/main" id="{A3EE16D6-0DFD-0B49-A2CF-FE2BD986E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5" y="3498"/>
              <a:ext cx="24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2</a:t>
              </a:r>
            </a:p>
          </p:txBody>
        </p:sp>
        <p:cxnSp>
          <p:nvCxnSpPr>
            <p:cNvPr id="68656" name="AutoShape 34">
              <a:extLst>
                <a:ext uri="{FF2B5EF4-FFF2-40B4-BE49-F238E27FC236}">
                  <a16:creationId xmlns:a16="http://schemas.microsoft.com/office/drawing/2014/main" id="{8E1330C3-81EA-D485-DB0D-3A50F12D00E4}"/>
                </a:ext>
              </a:extLst>
            </p:cNvPr>
            <p:cNvCxnSpPr>
              <a:cxnSpLocks noChangeShapeType="1"/>
              <a:stCxn id="68655" idx="3"/>
              <a:endCxn id="68653" idx="1"/>
            </p:cNvCxnSpPr>
            <p:nvPr/>
          </p:nvCxnSpPr>
          <p:spPr bwMode="auto">
            <a:xfrm>
              <a:off x="2234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22" name="Group 35">
            <a:extLst>
              <a:ext uri="{FF2B5EF4-FFF2-40B4-BE49-F238E27FC236}">
                <a16:creationId xmlns:a16="http://schemas.microsoft.com/office/drawing/2014/main" id="{0DD076DF-0AA4-9B17-9F23-B99313FBC3E3}"/>
              </a:ext>
            </a:extLst>
          </p:cNvPr>
          <p:cNvGrpSpPr>
            <a:grpSpLocks/>
          </p:cNvGrpSpPr>
          <p:nvPr/>
        </p:nvGrpSpPr>
        <p:grpSpPr bwMode="auto">
          <a:xfrm>
            <a:off x="4298950" y="3352801"/>
            <a:ext cx="630238" cy="466725"/>
            <a:chOff x="2413" y="3498"/>
            <a:chExt cx="397" cy="294"/>
          </a:xfrm>
        </p:grpSpPr>
        <p:sp>
          <p:nvSpPr>
            <p:cNvPr id="68653" name="Text Box 36">
              <a:extLst>
                <a:ext uri="{FF2B5EF4-FFF2-40B4-BE49-F238E27FC236}">
                  <a16:creationId xmlns:a16="http://schemas.microsoft.com/office/drawing/2014/main" id="{C7770C3F-5FD7-856E-4538-0C1B7DDE2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98"/>
              <a:ext cx="24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3</a:t>
              </a:r>
            </a:p>
          </p:txBody>
        </p:sp>
        <p:cxnSp>
          <p:nvCxnSpPr>
            <p:cNvPr id="68654" name="AutoShape 37">
              <a:extLst>
                <a:ext uri="{FF2B5EF4-FFF2-40B4-BE49-F238E27FC236}">
                  <a16:creationId xmlns:a16="http://schemas.microsoft.com/office/drawing/2014/main" id="{D60B12EC-4082-87DA-5C35-BE28E65BCDF7}"/>
                </a:ext>
              </a:extLst>
            </p:cNvPr>
            <p:cNvCxnSpPr>
              <a:cxnSpLocks noChangeShapeType="1"/>
              <a:stCxn id="68653" idx="3"/>
              <a:endCxn id="68651" idx="1"/>
            </p:cNvCxnSpPr>
            <p:nvPr/>
          </p:nvCxnSpPr>
          <p:spPr bwMode="auto">
            <a:xfrm>
              <a:off x="2642" y="3645"/>
              <a:ext cx="16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23" name="Group 38">
            <a:extLst>
              <a:ext uri="{FF2B5EF4-FFF2-40B4-BE49-F238E27FC236}">
                <a16:creationId xmlns:a16="http://schemas.microsoft.com/office/drawing/2014/main" id="{B1470334-5483-5D2D-DBC5-955A04FD1135}"/>
              </a:ext>
            </a:extLst>
          </p:cNvPr>
          <p:cNvGrpSpPr>
            <a:grpSpLocks/>
          </p:cNvGrpSpPr>
          <p:nvPr/>
        </p:nvGrpSpPr>
        <p:grpSpPr bwMode="auto">
          <a:xfrm>
            <a:off x="4929189" y="3352801"/>
            <a:ext cx="606425" cy="466725"/>
            <a:chOff x="2810" y="3498"/>
            <a:chExt cx="382" cy="294"/>
          </a:xfrm>
        </p:grpSpPr>
        <p:sp>
          <p:nvSpPr>
            <p:cNvPr id="68651" name="Text Box 39">
              <a:extLst>
                <a:ext uri="{FF2B5EF4-FFF2-40B4-BE49-F238E27FC236}">
                  <a16:creationId xmlns:a16="http://schemas.microsoft.com/office/drawing/2014/main" id="{E6408412-22E6-790C-F8A6-36EB88A1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0" y="3498"/>
              <a:ext cx="243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8</a:t>
              </a:r>
            </a:p>
          </p:txBody>
        </p:sp>
        <p:cxnSp>
          <p:nvCxnSpPr>
            <p:cNvPr id="68652" name="AutoShape 40">
              <a:extLst>
                <a:ext uri="{FF2B5EF4-FFF2-40B4-BE49-F238E27FC236}">
                  <a16:creationId xmlns:a16="http://schemas.microsoft.com/office/drawing/2014/main" id="{D12AAF8E-643F-79B6-F537-45618D35E494}"/>
                </a:ext>
              </a:extLst>
            </p:cNvPr>
            <p:cNvCxnSpPr>
              <a:cxnSpLocks noChangeShapeType="1"/>
              <a:stCxn id="68651" idx="3"/>
              <a:endCxn id="68649" idx="1"/>
            </p:cNvCxnSpPr>
            <p:nvPr/>
          </p:nvCxnSpPr>
          <p:spPr bwMode="auto">
            <a:xfrm flipV="1">
              <a:off x="3053" y="3643"/>
              <a:ext cx="139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24" name="Group 41">
            <a:extLst>
              <a:ext uri="{FF2B5EF4-FFF2-40B4-BE49-F238E27FC236}">
                <a16:creationId xmlns:a16="http://schemas.microsoft.com/office/drawing/2014/main" id="{2D168DFC-A81E-A674-74E8-A2594315D396}"/>
              </a:ext>
            </a:extLst>
          </p:cNvPr>
          <p:cNvGrpSpPr>
            <a:grpSpLocks/>
          </p:cNvGrpSpPr>
          <p:nvPr/>
        </p:nvGrpSpPr>
        <p:grpSpPr bwMode="auto">
          <a:xfrm>
            <a:off x="5535614" y="3352801"/>
            <a:ext cx="820737" cy="461963"/>
            <a:chOff x="3192" y="3498"/>
            <a:chExt cx="517" cy="291"/>
          </a:xfrm>
        </p:grpSpPr>
        <p:sp>
          <p:nvSpPr>
            <p:cNvPr id="68649" name="Text Box 42">
              <a:extLst>
                <a:ext uri="{FF2B5EF4-FFF2-40B4-BE49-F238E27FC236}">
                  <a16:creationId xmlns:a16="http://schemas.microsoft.com/office/drawing/2014/main" id="{BBECACC9-FB0C-16DA-A73E-0467F9D2F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2" y="3498"/>
              <a:ext cx="362" cy="29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11</a:t>
              </a:r>
            </a:p>
          </p:txBody>
        </p:sp>
        <p:cxnSp>
          <p:nvCxnSpPr>
            <p:cNvPr id="68650" name="AutoShape 43">
              <a:extLst>
                <a:ext uri="{FF2B5EF4-FFF2-40B4-BE49-F238E27FC236}">
                  <a16:creationId xmlns:a16="http://schemas.microsoft.com/office/drawing/2014/main" id="{D8AB8FE4-F2B3-8D31-FE3B-C75CFF464356}"/>
                </a:ext>
              </a:extLst>
            </p:cNvPr>
            <p:cNvCxnSpPr>
              <a:cxnSpLocks noChangeShapeType="1"/>
              <a:stCxn id="68649" idx="3"/>
              <a:endCxn id="68647" idx="1"/>
            </p:cNvCxnSpPr>
            <p:nvPr/>
          </p:nvCxnSpPr>
          <p:spPr bwMode="auto">
            <a:xfrm>
              <a:off x="3554" y="3643"/>
              <a:ext cx="155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25" name="Group 44">
            <a:extLst>
              <a:ext uri="{FF2B5EF4-FFF2-40B4-BE49-F238E27FC236}">
                <a16:creationId xmlns:a16="http://schemas.microsoft.com/office/drawing/2014/main" id="{457F5609-47B9-D52E-22F8-CBC16C1B8A8C}"/>
              </a:ext>
            </a:extLst>
          </p:cNvPr>
          <p:cNvGrpSpPr>
            <a:grpSpLocks/>
          </p:cNvGrpSpPr>
          <p:nvPr/>
        </p:nvGrpSpPr>
        <p:grpSpPr bwMode="auto">
          <a:xfrm>
            <a:off x="6356350" y="3352801"/>
            <a:ext cx="762000" cy="466725"/>
            <a:chOff x="3565" y="2496"/>
            <a:chExt cx="480" cy="294"/>
          </a:xfrm>
        </p:grpSpPr>
        <p:sp>
          <p:nvSpPr>
            <p:cNvPr id="68647" name="Text Box 45">
              <a:extLst>
                <a:ext uri="{FF2B5EF4-FFF2-40B4-BE49-F238E27FC236}">
                  <a16:creationId xmlns:a16="http://schemas.microsoft.com/office/drawing/2014/main" id="{D2FCA826-CFCA-6082-2F53-80C89DAB8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2496"/>
              <a:ext cx="371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17</a:t>
              </a:r>
            </a:p>
          </p:txBody>
        </p:sp>
        <p:cxnSp>
          <p:nvCxnSpPr>
            <p:cNvPr id="68648" name="AutoShape 46">
              <a:extLst>
                <a:ext uri="{FF2B5EF4-FFF2-40B4-BE49-F238E27FC236}">
                  <a16:creationId xmlns:a16="http://schemas.microsoft.com/office/drawing/2014/main" id="{9FF55A9E-6C9D-EF17-1613-B00602A82E3A}"/>
                </a:ext>
              </a:extLst>
            </p:cNvPr>
            <p:cNvCxnSpPr>
              <a:cxnSpLocks noChangeShapeType="1"/>
              <a:stCxn id="68647" idx="3"/>
              <a:endCxn id="68645" idx="1"/>
            </p:cNvCxnSpPr>
            <p:nvPr/>
          </p:nvCxnSpPr>
          <p:spPr bwMode="auto">
            <a:xfrm>
              <a:off x="3936" y="2643"/>
              <a:ext cx="109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26" name="Group 47">
            <a:extLst>
              <a:ext uri="{FF2B5EF4-FFF2-40B4-BE49-F238E27FC236}">
                <a16:creationId xmlns:a16="http://schemas.microsoft.com/office/drawing/2014/main" id="{4AEB2B1B-883C-6CD2-A915-801CD0F1BAD2}"/>
              </a:ext>
            </a:extLst>
          </p:cNvPr>
          <p:cNvGrpSpPr>
            <a:grpSpLocks/>
          </p:cNvGrpSpPr>
          <p:nvPr/>
        </p:nvGrpSpPr>
        <p:grpSpPr bwMode="auto">
          <a:xfrm>
            <a:off x="7118350" y="3352801"/>
            <a:ext cx="838200" cy="466725"/>
            <a:chOff x="4045" y="3498"/>
            <a:chExt cx="528" cy="294"/>
          </a:xfrm>
        </p:grpSpPr>
        <p:sp>
          <p:nvSpPr>
            <p:cNvPr id="68645" name="Text Box 48">
              <a:extLst>
                <a:ext uri="{FF2B5EF4-FFF2-40B4-BE49-F238E27FC236}">
                  <a16:creationId xmlns:a16="http://schemas.microsoft.com/office/drawing/2014/main" id="{AA4FCA42-8C33-750F-E67B-EE39AA025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" y="3498"/>
              <a:ext cx="36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Arial Unicode MS" pitchFamily="34" charset="-128"/>
                </a:rPr>
                <a:t>21</a:t>
              </a:r>
            </a:p>
          </p:txBody>
        </p:sp>
        <p:cxnSp>
          <p:nvCxnSpPr>
            <p:cNvPr id="68646" name="AutoShape 49">
              <a:extLst>
                <a:ext uri="{FF2B5EF4-FFF2-40B4-BE49-F238E27FC236}">
                  <a16:creationId xmlns:a16="http://schemas.microsoft.com/office/drawing/2014/main" id="{12BBD993-A238-CBA6-76E7-6C842D356F6D}"/>
                </a:ext>
              </a:extLst>
            </p:cNvPr>
            <p:cNvCxnSpPr>
              <a:cxnSpLocks noChangeShapeType="1"/>
              <a:stCxn id="68645" idx="3"/>
              <a:endCxn id="68619" idx="1"/>
            </p:cNvCxnSpPr>
            <p:nvPr/>
          </p:nvCxnSpPr>
          <p:spPr bwMode="auto">
            <a:xfrm>
              <a:off x="4409" y="3645"/>
              <a:ext cx="164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8627" name="Group 50">
            <a:extLst>
              <a:ext uri="{FF2B5EF4-FFF2-40B4-BE49-F238E27FC236}">
                <a16:creationId xmlns:a16="http://schemas.microsoft.com/office/drawing/2014/main" id="{3CF1594F-0AC8-3EB9-E88B-F6ED02EB0B77}"/>
              </a:ext>
            </a:extLst>
          </p:cNvPr>
          <p:cNvGrpSpPr>
            <a:grpSpLocks/>
          </p:cNvGrpSpPr>
          <p:nvPr/>
        </p:nvGrpSpPr>
        <p:grpSpPr bwMode="auto">
          <a:xfrm>
            <a:off x="3198813" y="3351214"/>
            <a:ext cx="4972050" cy="1587"/>
            <a:chOff x="1055" y="1967"/>
            <a:chExt cx="3132" cy="1"/>
          </a:xfrm>
        </p:grpSpPr>
        <p:cxnSp>
          <p:nvCxnSpPr>
            <p:cNvPr id="68643" name="AutoShape 51">
              <a:extLst>
                <a:ext uri="{FF2B5EF4-FFF2-40B4-BE49-F238E27FC236}">
                  <a16:creationId xmlns:a16="http://schemas.microsoft.com/office/drawing/2014/main" id="{1206436F-8026-2259-582D-8776CF900B59}"/>
                </a:ext>
              </a:extLst>
            </p:cNvPr>
            <p:cNvCxnSpPr>
              <a:cxnSpLocks noChangeShapeType="1"/>
              <a:stCxn id="68657" idx="0"/>
              <a:endCxn id="68649" idx="0"/>
            </p:cNvCxnSpPr>
            <p:nvPr/>
          </p:nvCxnSpPr>
          <p:spPr bwMode="auto">
            <a:xfrm rot="5400000" flipH="1" flipV="1">
              <a:off x="1881" y="1141"/>
              <a:ext cx="1" cy="1654"/>
            </a:xfrm>
            <a:prstGeom prst="curvedConnector3">
              <a:avLst>
                <a:gd name="adj1" fmla="val 14395468"/>
              </a:avLst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44" name="AutoShape 52">
              <a:extLst>
                <a:ext uri="{FF2B5EF4-FFF2-40B4-BE49-F238E27FC236}">
                  <a16:creationId xmlns:a16="http://schemas.microsoft.com/office/drawing/2014/main" id="{A7945B5B-29CD-1D56-426F-33E4BE53CA3C}"/>
                </a:ext>
              </a:extLst>
            </p:cNvPr>
            <p:cNvCxnSpPr>
              <a:cxnSpLocks noChangeShapeType="1"/>
              <a:stCxn id="68649" idx="0"/>
              <a:endCxn id="68619" idx="0"/>
            </p:cNvCxnSpPr>
            <p:nvPr/>
          </p:nvCxnSpPr>
          <p:spPr bwMode="auto">
            <a:xfrm rot="5400000" flipH="1" flipV="1">
              <a:off x="3447" y="1229"/>
              <a:ext cx="1" cy="1478"/>
            </a:xfrm>
            <a:prstGeom prst="curvedConnector3">
              <a:avLst>
                <a:gd name="adj1" fmla="val 14395468"/>
              </a:avLst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8628" name="Text Box 53">
            <a:extLst>
              <a:ext uri="{FF2B5EF4-FFF2-40B4-BE49-F238E27FC236}">
                <a16:creationId xmlns:a16="http://schemas.microsoft.com/office/drawing/2014/main" id="{98AA7F1C-E767-529A-A8A3-F5B133039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6" y="2981326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chemeClr val="hlink"/>
                </a:solidFill>
                <a:latin typeface="Lucida Sans" panose="020B0602030504020204" pitchFamily="34" charset="0"/>
                <a:ea typeface="Arial Unicode MS" pitchFamily="34" charset="-128"/>
              </a:rPr>
              <a:t>31</a:t>
            </a:r>
          </a:p>
        </p:txBody>
      </p:sp>
      <p:sp>
        <p:nvSpPr>
          <p:cNvPr id="68629" name="Text Box 54">
            <a:extLst>
              <a:ext uri="{FF2B5EF4-FFF2-40B4-BE49-F238E27FC236}">
                <a16:creationId xmlns:a16="http://schemas.microsoft.com/office/drawing/2014/main" id="{1E69D2D2-D001-667C-A228-06FC7CA90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775" y="3032125"/>
            <a:ext cx="509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chemeClr val="hlink"/>
                </a:solidFill>
                <a:latin typeface="Lucida Sans" panose="020B0602030504020204" pitchFamily="34" charset="0"/>
                <a:ea typeface="Arial Unicode MS" pitchFamily="34" charset="-128"/>
              </a:rPr>
              <a:t>11</a:t>
            </a:r>
          </a:p>
        </p:txBody>
      </p:sp>
      <p:sp>
        <p:nvSpPr>
          <p:cNvPr id="68630" name="Text Box 55">
            <a:extLst>
              <a:ext uri="{FF2B5EF4-FFF2-40B4-BE49-F238E27FC236}">
                <a16:creationId xmlns:a16="http://schemas.microsoft.com/office/drawing/2014/main" id="{EF2C6449-A641-1D30-D5D0-7A76713AA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2775" y="1676400"/>
            <a:ext cx="509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chemeClr val="hlink"/>
                </a:solidFill>
                <a:latin typeface="Lucida Sans" panose="020B0602030504020204" pitchFamily="34" charset="0"/>
                <a:ea typeface="Arial Unicode MS" pitchFamily="34" charset="-128"/>
              </a:rPr>
              <a:t>41</a:t>
            </a:r>
          </a:p>
        </p:txBody>
      </p:sp>
      <p:sp>
        <p:nvSpPr>
          <p:cNvPr id="68631" name="Text Box 56">
            <a:extLst>
              <a:ext uri="{FF2B5EF4-FFF2-40B4-BE49-F238E27FC236}">
                <a16:creationId xmlns:a16="http://schemas.microsoft.com/office/drawing/2014/main" id="{2D8E25B2-A2D6-9457-2417-953F1A2BB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1" y="1660526"/>
            <a:ext cx="665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chemeClr val="hlink"/>
                </a:solidFill>
                <a:latin typeface="Lucida Sans" panose="020B0602030504020204" pitchFamily="34" charset="0"/>
                <a:ea typeface="Arial Unicode MS" pitchFamily="34" charset="-128"/>
              </a:rPr>
              <a:t>128</a:t>
            </a:r>
          </a:p>
        </p:txBody>
      </p:sp>
      <p:sp>
        <p:nvSpPr>
          <p:cNvPr id="68632" name="Rectangle 57">
            <a:extLst>
              <a:ext uri="{FF2B5EF4-FFF2-40B4-BE49-F238E27FC236}">
                <a16:creationId xmlns:a16="http://schemas.microsoft.com/office/drawing/2014/main" id="{7EF5EAF1-EDC3-42C9-F93A-C4C96A9F8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352800"/>
            <a:ext cx="381000" cy="457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68633" name="Rectangle 59">
            <a:extLst>
              <a:ext uri="{FF2B5EF4-FFF2-40B4-BE49-F238E27FC236}">
                <a16:creationId xmlns:a16="http://schemas.microsoft.com/office/drawing/2014/main" id="{8C449E7A-96DC-34E3-12B8-8F4052C72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1" y="2055169"/>
            <a:ext cx="384969" cy="46166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68634" name="Text Box 60">
            <a:extLst>
              <a:ext uri="{FF2B5EF4-FFF2-40B4-BE49-F238E27FC236}">
                <a16:creationId xmlns:a16="http://schemas.microsoft.com/office/drawing/2014/main" id="{5883A38B-899E-2EB5-C4DA-29C639C77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280" y="4239808"/>
            <a:ext cx="92506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A5002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Suppose we’ve stepped through the lists until we process 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8 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on each list.</a:t>
            </a:r>
          </a:p>
        </p:txBody>
      </p:sp>
      <p:sp>
        <p:nvSpPr>
          <p:cNvPr id="68635" name="Text Box 63">
            <a:extLst>
              <a:ext uri="{FF2B5EF4-FFF2-40B4-BE49-F238E27FC236}">
                <a16:creationId xmlns:a16="http://schemas.microsoft.com/office/drawing/2014/main" id="{30ADFA1D-D427-C6AA-2ED7-AB2F6A9D1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472" y="4911965"/>
            <a:ext cx="65650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We then have 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41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and 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11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on the lower.  </a:t>
            </a:r>
            <a:r>
              <a:rPr lang="en-US" altLang="zh-TW" sz="2400" b="1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11</a:t>
            </a:r>
            <a:r>
              <a:rPr lang="en-US" altLang="zh-TW" sz="24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is smaller.</a:t>
            </a:r>
          </a:p>
        </p:txBody>
      </p:sp>
      <p:sp>
        <p:nvSpPr>
          <p:cNvPr id="49185" name="Rectangle 64">
            <a:extLst>
              <a:ext uri="{FF2B5EF4-FFF2-40B4-BE49-F238E27FC236}">
                <a16:creationId xmlns:a16="http://schemas.microsoft.com/office/drawing/2014/main" id="{938EDF61-B784-59A7-6B79-A7606EE47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1" y="2055169"/>
            <a:ext cx="587375" cy="46166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68637" name="Text Box 66">
            <a:extLst>
              <a:ext uri="{FF2B5EF4-FFF2-40B4-BE49-F238E27FC236}">
                <a16:creationId xmlns:a16="http://schemas.microsoft.com/office/drawing/2014/main" id="{988F21FA-3504-8207-8828-93FAA2716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450" y="58277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grpSp>
        <p:nvGrpSpPr>
          <p:cNvPr id="17" name="Group 69">
            <a:extLst>
              <a:ext uri="{FF2B5EF4-FFF2-40B4-BE49-F238E27FC236}">
                <a16:creationId xmlns:a16="http://schemas.microsoft.com/office/drawing/2014/main" id="{894B98F7-57DD-3B1A-C1CA-DC6A9412B6BC}"/>
              </a:ext>
            </a:extLst>
          </p:cNvPr>
          <p:cNvGrpSpPr>
            <a:grpSpLocks/>
          </p:cNvGrpSpPr>
          <p:nvPr/>
        </p:nvGrpSpPr>
        <p:grpSpPr bwMode="auto">
          <a:xfrm>
            <a:off x="1096962" y="3351214"/>
            <a:ext cx="10058401" cy="2998788"/>
            <a:chOff x="-423" y="2111"/>
            <a:chExt cx="6336" cy="1889"/>
          </a:xfrm>
        </p:grpSpPr>
        <p:sp>
          <p:nvSpPr>
            <p:cNvPr id="68641" name="Text Box 67">
              <a:extLst>
                <a:ext uri="{FF2B5EF4-FFF2-40B4-BE49-F238E27FC236}">
                  <a16:creationId xmlns:a16="http://schemas.microsoft.com/office/drawing/2014/main" id="{9D888C99-7572-7D30-AEAF-76D270EF4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23" y="3477"/>
              <a:ext cx="633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solidFill>
                    <a:srgbClr val="00B050"/>
                  </a:solidFill>
                  <a:latin typeface="Times New Roman" panose="02020603050405020304" pitchFamily="18" charset="0"/>
                  <a:ea typeface="Arial Unicode MS" pitchFamily="34" charset="-128"/>
                  <a:cs typeface="Times New Roman" panose="02020603050405020304" pitchFamily="18" charset="0"/>
                </a:rPr>
                <a:t>But the skip successor of </a:t>
              </a:r>
              <a:r>
                <a:rPr lang="en-US" altLang="zh-TW" sz="2400" b="1" dirty="0">
                  <a:solidFill>
                    <a:srgbClr val="00B050"/>
                  </a:solidFill>
                  <a:latin typeface="Times New Roman" panose="02020603050405020304" pitchFamily="18" charset="0"/>
                  <a:ea typeface="Arial Unicode MS" pitchFamily="34" charset="-128"/>
                  <a:cs typeface="Times New Roman" panose="02020603050405020304" pitchFamily="18" charset="0"/>
                </a:rPr>
                <a:t>11</a:t>
              </a:r>
              <a:r>
                <a:rPr lang="en-US" altLang="zh-TW" sz="2400" dirty="0">
                  <a:solidFill>
                    <a:srgbClr val="00B050"/>
                  </a:solidFill>
                  <a:latin typeface="Times New Roman" panose="02020603050405020304" pitchFamily="18" charset="0"/>
                  <a:ea typeface="Arial Unicode MS" pitchFamily="34" charset="-128"/>
                  <a:cs typeface="Times New Roman" panose="02020603050405020304" pitchFamily="18" charset="0"/>
                </a:rPr>
                <a:t> on the lower list is </a:t>
              </a:r>
              <a:r>
                <a:rPr lang="en-US" altLang="zh-TW" sz="2400" b="1" dirty="0">
                  <a:solidFill>
                    <a:srgbClr val="00B050"/>
                  </a:solidFill>
                  <a:latin typeface="Times New Roman" panose="02020603050405020304" pitchFamily="18" charset="0"/>
                  <a:ea typeface="Arial Unicode MS" pitchFamily="34" charset="-128"/>
                  <a:cs typeface="Times New Roman" panose="02020603050405020304" pitchFamily="18" charset="0"/>
                </a:rPr>
                <a:t>31</a:t>
              </a:r>
              <a:r>
                <a:rPr lang="en-US" altLang="zh-TW" sz="2400" dirty="0">
                  <a:solidFill>
                    <a:srgbClr val="00B050"/>
                  </a:solidFill>
                  <a:latin typeface="Times New Roman" panose="02020603050405020304" pitchFamily="18" charset="0"/>
                  <a:ea typeface="Arial Unicode MS" pitchFamily="34" charset="-128"/>
                  <a:cs typeface="Times New Roman" panose="02020603050405020304" pitchFamily="18" charset="0"/>
                </a:rPr>
                <a:t>, so we can skip ahead past the intervening postings.</a:t>
              </a:r>
            </a:p>
          </p:txBody>
        </p:sp>
        <p:sp>
          <p:nvSpPr>
            <p:cNvPr id="68642" name="Rectangle 68">
              <a:extLst>
                <a:ext uri="{FF2B5EF4-FFF2-40B4-BE49-F238E27FC236}">
                  <a16:creationId xmlns:a16="http://schemas.microsoft.com/office/drawing/2014/main" id="{7090BBD1-F5F8-FF93-4156-112FAE690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111"/>
              <a:ext cx="1334" cy="291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Arial Unicode MS" pitchFamily="34" charset="-128"/>
              </a:endParaRPr>
            </a:p>
          </p:txBody>
        </p:sp>
      </p:grpSp>
      <p:sp>
        <p:nvSpPr>
          <p:cNvPr id="68639" name="TextBox 4">
            <a:extLst>
              <a:ext uri="{FF2B5EF4-FFF2-40B4-BE49-F238E27FC236}">
                <a16:creationId xmlns:a16="http://schemas.microsoft.com/office/drawing/2014/main" id="{E3741A25-A764-2FD1-71EE-14A809195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749D03C-40FB-DDC8-13F9-A70E26FE5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1" y="3350569"/>
            <a:ext cx="623887" cy="46166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85" grpId="0" animBg="1"/>
      <p:bldP spid="6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30FEE238-8C80-C358-E186-CF127EB03CE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7280" y="286604"/>
            <a:ext cx="10716348" cy="732900"/>
          </a:xfrm>
        </p:spPr>
        <p:txBody>
          <a:bodyPr>
            <a:no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Postings lists intersection with </a:t>
            </a:r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skip pointers</a:t>
            </a:r>
          </a:p>
        </p:txBody>
      </p:sp>
      <p:pic>
        <p:nvPicPr>
          <p:cNvPr id="70659" name="Picture 7" descr="246.png">
            <a:extLst>
              <a:ext uri="{FF2B5EF4-FFF2-40B4-BE49-F238E27FC236}">
                <a16:creationId xmlns:a16="http://schemas.microsoft.com/office/drawing/2014/main" id="{DD8A5904-4962-AAD0-F20F-51B16D87E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856" y="1787331"/>
            <a:ext cx="7522288" cy="4440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F167A18-564D-D87D-E0C7-3D9E448F89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7067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Where do we place skips?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1311990E-FE71-899A-FC67-698C32483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Tradeoff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More skips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zh-TW" dirty="0">
                <a:ea typeface="ＭＳ Ｐゴシック" panose="020B0600070205080204" pitchFamily="34" charset="-128"/>
              </a:rPr>
              <a:t>shorter skip spans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 </a:t>
            </a:r>
            <a:r>
              <a:rPr lang="en-US" altLang="zh-TW" dirty="0">
                <a:ea typeface="ＭＳ Ｐゴシック" panose="020B0600070205080204" pitchFamily="34" charset="-128"/>
              </a:rPr>
              <a:t>more likely to skip. But lots of comparisons to skip pointers.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Fewer skips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zh-TW" dirty="0">
                <a:ea typeface="ＭＳ Ｐゴシック" panose="020B0600070205080204" pitchFamily="34" charset="-128"/>
              </a:rPr>
              <a:t>few pointer comparison, but then long skip spans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 </a:t>
            </a:r>
            <a:r>
              <a:rPr lang="en-US" altLang="zh-TW" dirty="0">
                <a:ea typeface="ＭＳ Ｐゴシック" panose="020B0600070205080204" pitchFamily="34" charset="-128"/>
              </a:rPr>
              <a:t>few successful skips.</a:t>
            </a:r>
          </a:p>
        </p:txBody>
      </p:sp>
      <p:sp>
        <p:nvSpPr>
          <p:cNvPr id="72737" name="TextBox 4">
            <a:extLst>
              <a:ext uri="{FF2B5EF4-FFF2-40B4-BE49-F238E27FC236}">
                <a16:creationId xmlns:a16="http://schemas.microsoft.com/office/drawing/2014/main" id="{3A94A682-288B-D22C-1C44-3D76936D5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FAC465-5591-5BF8-BC1A-3BDB3DD43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274" y="4597947"/>
            <a:ext cx="6088727" cy="16767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C2D71F3-B493-8D2C-2A20-D2EB1B339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Placing skips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F0F1B06-9EEE-88B2-99BA-E2FEAAB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6588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Simple heuristic: for postings of length </a:t>
            </a:r>
            <a:r>
              <a:rPr lang="en-US" altLang="zh-TW" i="1" dirty="0">
                <a:ea typeface="ＭＳ Ｐゴシック" panose="020B0600070205080204" pitchFamily="34" charset="-128"/>
              </a:rPr>
              <a:t>L</a:t>
            </a:r>
            <a:r>
              <a:rPr lang="en-US" altLang="zh-TW" dirty="0">
                <a:ea typeface="ＭＳ Ｐゴシック" panose="020B0600070205080204" pitchFamily="34" charset="-128"/>
              </a:rPr>
              <a:t>, use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</a:t>
            </a:r>
            <a:r>
              <a:rPr lang="en-US" altLang="zh-TW" i="1" dirty="0">
                <a:ea typeface="ＭＳ Ｐゴシック" panose="020B0600070205080204" pitchFamily="34" charset="-128"/>
              </a:rPr>
              <a:t>L</a:t>
            </a:r>
            <a:r>
              <a:rPr lang="en-US" altLang="zh-TW" dirty="0">
                <a:ea typeface="ＭＳ Ｐゴシック" panose="020B0600070205080204" pitchFamily="34" charset="-128"/>
              </a:rPr>
              <a:t> evenly-spaced skip pointers.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Easy if the index is relatively static; harder if </a:t>
            </a:r>
            <a:r>
              <a:rPr lang="en-US" altLang="zh-TW" i="1" dirty="0">
                <a:ea typeface="ＭＳ Ｐゴシック" panose="020B0600070205080204" pitchFamily="34" charset="-128"/>
              </a:rPr>
              <a:t>L</a:t>
            </a:r>
            <a:r>
              <a:rPr lang="en-US" altLang="zh-TW" dirty="0">
                <a:ea typeface="ＭＳ Ｐゴシック" panose="020B0600070205080204" pitchFamily="34" charset="-128"/>
              </a:rPr>
              <a:t> keeps changing because of updates.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This definitely used to help; with modern hardware it may not (</a:t>
            </a:r>
            <a:r>
              <a:rPr lang="en-US" altLang="zh-TW" dirty="0" err="1">
                <a:ea typeface="ＭＳ Ｐゴシック" panose="020B0600070205080204" pitchFamily="34" charset="-128"/>
              </a:rPr>
              <a:t>Bahle</a:t>
            </a:r>
            <a:r>
              <a:rPr lang="en-US" altLang="zh-TW" dirty="0">
                <a:ea typeface="ＭＳ Ｐゴシック" panose="020B0600070205080204" pitchFamily="34" charset="-128"/>
              </a:rPr>
              <a:t> et al. 2002) unless you’re memory-based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 I/O cost of loading a bigger postings list can outweigh the gains from quicker in memory merging!</a:t>
            </a:r>
          </a:p>
        </p:txBody>
      </p:sp>
      <p:sp>
        <p:nvSpPr>
          <p:cNvPr id="74756" name="TextBox 4">
            <a:extLst>
              <a:ext uri="{FF2B5EF4-FFF2-40B4-BE49-F238E27FC236}">
                <a16:creationId xmlns:a16="http://schemas.microsoft.com/office/drawing/2014/main" id="{63CC63AE-A58F-7CC2-BC32-74513383F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>
            <a:extLst>
              <a:ext uri="{FF2B5EF4-FFF2-40B4-BE49-F238E27FC236}">
                <a16:creationId xmlns:a16="http://schemas.microsoft.com/office/drawing/2014/main" id="{46432D88-8366-A60A-67B4-933AB1B5B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ea typeface="ＭＳ Ｐゴシック" charset="-128"/>
                <a:cs typeface="ＭＳ Ｐゴシック" charset="-128"/>
              </a:rPr>
              <a:t>Phrase queries </a:t>
            </a:r>
            <a:r>
              <a:rPr lang="en-US" dirty="0">
                <a:solidFill>
                  <a:srgbClr val="00B050"/>
                </a:solidFill>
                <a:ea typeface="ＭＳ Ｐゴシック" charset="-128"/>
                <a:cs typeface="ＭＳ Ｐゴシック" charset="-128"/>
              </a:rPr>
              <a:t>and</a:t>
            </a:r>
            <a:r>
              <a:rPr lang="en-US" dirty="0">
                <a:solidFill>
                  <a:srgbClr val="FF0000"/>
                </a:solidFill>
                <a:ea typeface="ＭＳ Ｐゴシック" charset="-128"/>
                <a:cs typeface="ＭＳ Ｐゴシック" charset="-128"/>
              </a:rPr>
              <a:t> positional indexes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2959B-DC0A-1090-2ACA-7C0910084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charset="2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CFA34B1-84C7-2ACF-4BF7-C61738CEC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Phrase queries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A8B8F531-56FD-33AF-ED79-3CBA7BFA7F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0281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Want to be able to answer queries such as “</a:t>
            </a:r>
            <a:r>
              <a:rPr lang="en-US" altLang="zh-TW" b="1" i="1" dirty="0" err="1">
                <a:ea typeface="ＭＳ Ｐゴシック" panose="020B0600070205080204" pitchFamily="34" charset="-128"/>
              </a:rPr>
              <a:t>stanford</a:t>
            </a:r>
            <a:r>
              <a:rPr lang="en-US" altLang="zh-TW" b="1" i="1" dirty="0">
                <a:ea typeface="ＭＳ Ｐゴシック" panose="020B0600070205080204" pitchFamily="34" charset="-128"/>
              </a:rPr>
              <a:t> university” </a:t>
            </a:r>
            <a:r>
              <a:rPr lang="en-US" altLang="zh-TW" dirty="0">
                <a:ea typeface="ＭＳ Ｐゴシック" panose="020B0600070205080204" pitchFamily="34" charset="-128"/>
              </a:rPr>
              <a:t>– as a phrase</a:t>
            </a:r>
            <a:endParaRPr lang="en-US" altLang="zh-TW" b="1" i="1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Thus the sentence </a:t>
            </a:r>
            <a:r>
              <a:rPr lang="en-US" altLang="zh-TW" i="1" dirty="0">
                <a:ea typeface="ＭＳ Ｐゴシック" panose="020B0600070205080204" pitchFamily="34" charset="-128"/>
              </a:rPr>
              <a:t>“I went to university at Stanford”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is not a match</a:t>
            </a:r>
            <a:r>
              <a:rPr lang="en-US" altLang="zh-TW" dirty="0">
                <a:ea typeface="ＭＳ Ｐゴシック" panose="020B0600070205080204" pitchFamily="34" charset="-128"/>
              </a:rPr>
              <a:t>. 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this, it no longer suffices to store only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&lt;</a:t>
            </a:r>
            <a:r>
              <a:rPr lang="en-US" altLang="zh-TW" i="1" dirty="0">
                <a:ea typeface="ＭＳ Ｐゴシック" panose="020B0600070205080204" pitchFamily="34" charset="-128"/>
              </a:rPr>
              <a:t>term </a:t>
            </a:r>
            <a:r>
              <a:rPr lang="en-US" altLang="zh-TW" dirty="0">
                <a:ea typeface="ＭＳ Ｐゴシック" panose="020B0600070205080204" pitchFamily="34" charset="-128"/>
              </a:rPr>
              <a:t>: </a:t>
            </a:r>
            <a:r>
              <a:rPr lang="en-US" altLang="zh-TW" i="1" dirty="0">
                <a:ea typeface="ＭＳ Ｐゴシック" panose="020B0600070205080204" pitchFamily="34" charset="-128"/>
              </a:rPr>
              <a:t>docs</a:t>
            </a:r>
            <a:r>
              <a:rPr lang="en-US" altLang="zh-TW" dirty="0">
                <a:ea typeface="ＭＳ Ｐゴシック" panose="020B0600070205080204" pitchFamily="34" charset="-128"/>
              </a:rPr>
              <a:t>&gt; entries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TW" altLang="en-US" b="1" dirty="0">
              <a:ea typeface="ＭＳ Ｐゴシック" panose="020B0600070205080204" pitchFamily="34" charset="-128"/>
            </a:endParaRPr>
          </a:p>
        </p:txBody>
      </p:sp>
      <p:sp>
        <p:nvSpPr>
          <p:cNvPr id="78852" name="TextBox 4">
            <a:extLst>
              <a:ext uri="{FF2B5EF4-FFF2-40B4-BE49-F238E27FC236}">
                <a16:creationId xmlns:a16="http://schemas.microsoft.com/office/drawing/2014/main" id="{371B1EEC-CDBA-9076-5181-F5EACF39C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5411066-FD57-52B8-F4CF-A5FB174A1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590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 first attempt: </a:t>
            </a:r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Biword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indexes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AE8D5E4-1255-94A2-5E67-96A8A9DA0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Index </a:t>
            </a:r>
            <a:r>
              <a:rPr lang="en-US" altLang="zh-TW" dirty="0">
                <a:solidFill>
                  <a:schemeClr val="hlink"/>
                </a:solidFill>
                <a:ea typeface="ＭＳ Ｐゴシック" panose="020B0600070205080204" pitchFamily="34" charset="-128"/>
              </a:rPr>
              <a:t>every consecutive pair</a:t>
            </a:r>
            <a:r>
              <a:rPr lang="en-US" altLang="zh-TW" dirty="0">
                <a:ea typeface="ＭＳ Ｐゴシック" panose="020B0600070205080204" pitchFamily="34" charset="-128"/>
              </a:rPr>
              <a:t> of terms in the text as a phrase.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For example the text “Friends, Romans, Countrymen” would generate the </a:t>
            </a:r>
            <a:r>
              <a:rPr lang="en-US" altLang="zh-TW" dirty="0" err="1">
                <a:ea typeface="ＭＳ Ｐゴシック" panose="020B0600070205080204" pitchFamily="34" charset="-128"/>
              </a:rPr>
              <a:t>biwords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2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friends romans</a:t>
            </a:r>
          </a:p>
          <a:p>
            <a:pPr lvl="2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romans countrymen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Each of these </a:t>
            </a:r>
            <a:r>
              <a:rPr lang="en-US" altLang="zh-TW" dirty="0" err="1">
                <a:ea typeface="ＭＳ Ｐゴシック" panose="020B0600070205080204" pitchFamily="34" charset="-128"/>
              </a:rPr>
              <a:t>biwords</a:t>
            </a:r>
            <a:r>
              <a:rPr lang="en-US" altLang="zh-TW" dirty="0">
                <a:ea typeface="ＭＳ Ｐゴシック" panose="020B0600070205080204" pitchFamily="34" charset="-128"/>
              </a:rPr>
              <a:t> is now a dictionary term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Two-word phrase query-processing is now immediate.</a:t>
            </a:r>
          </a:p>
        </p:txBody>
      </p:sp>
      <p:sp>
        <p:nvSpPr>
          <p:cNvPr id="80900" name="TextBox 4">
            <a:extLst>
              <a:ext uri="{FF2B5EF4-FFF2-40B4-BE49-F238E27FC236}">
                <a16:creationId xmlns:a16="http://schemas.microsoft.com/office/drawing/2014/main" id="{4C7BD925-26AE-A6A5-A3AB-F2ADF096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EE26DD76-84BE-BDBC-7D27-6C1173525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Longer phrase queries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BB8EAE7-3DC2-DECD-A88A-2EA0D8883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Longer phrases are processed as we did with wild-cards: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 err="1">
                <a:ea typeface="ＭＳ Ｐゴシック" panose="020B0600070205080204" pitchFamily="34" charset="-128"/>
              </a:rPr>
              <a:t>stanford</a:t>
            </a:r>
            <a:r>
              <a:rPr lang="en-US" altLang="zh-TW" b="1" i="1" dirty="0">
                <a:ea typeface="ＭＳ Ｐゴシック" panose="020B0600070205080204" pitchFamily="34" charset="-128"/>
              </a:rPr>
              <a:t> university palo alto </a:t>
            </a:r>
            <a:r>
              <a:rPr lang="en-US" altLang="zh-TW" dirty="0">
                <a:ea typeface="ＭＳ Ｐゴシック" panose="020B0600070205080204" pitchFamily="34" charset="-128"/>
              </a:rPr>
              <a:t>can be broken into the Boolean query on </a:t>
            </a:r>
            <a:r>
              <a:rPr lang="en-US" altLang="zh-TW" dirty="0" err="1">
                <a:ea typeface="ＭＳ Ｐゴシック" panose="020B0600070205080204" pitchFamily="34" charset="-128"/>
              </a:rPr>
              <a:t>biwords</a:t>
            </a:r>
            <a:r>
              <a:rPr lang="en-US" altLang="zh-TW" dirty="0">
                <a:ea typeface="ＭＳ Ｐゴシック" panose="020B0600070205080204" pitchFamily="34" charset="-128"/>
              </a:rPr>
              <a:t>: </a:t>
            </a:r>
            <a:r>
              <a:rPr lang="en-US" altLang="zh-TW" b="1" i="1" dirty="0" err="1">
                <a:ea typeface="ＭＳ Ｐゴシック" panose="020B0600070205080204" pitchFamily="34" charset="-128"/>
              </a:rPr>
              <a:t>stanford</a:t>
            </a:r>
            <a:r>
              <a:rPr lang="en-US" altLang="zh-TW" b="1" i="1" dirty="0">
                <a:ea typeface="ＭＳ Ｐゴシック" panose="020B0600070205080204" pitchFamily="34" charset="-128"/>
              </a:rPr>
              <a:t> university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b="1" i="1" dirty="0">
                <a:ea typeface="ＭＳ Ｐゴシック" panose="020B0600070205080204" pitchFamily="34" charset="-128"/>
              </a:rPr>
              <a:t> university palo </a:t>
            </a:r>
            <a:r>
              <a:rPr lang="en-US" altLang="zh-TW" i="1" dirty="0">
                <a:ea typeface="ＭＳ Ｐゴシック" panose="020B0600070205080204" pitchFamily="34" charset="-128"/>
              </a:rPr>
              <a:t>AND</a:t>
            </a:r>
            <a:r>
              <a:rPr lang="en-US" altLang="zh-TW" b="1" i="1" dirty="0">
                <a:ea typeface="ＭＳ Ｐゴシック" panose="020B0600070205080204" pitchFamily="34" charset="-128"/>
              </a:rPr>
              <a:t> palo alto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Without the docs</a:t>
            </a:r>
            <a:r>
              <a:rPr lang="en-US" altLang="zh-TW" dirty="0">
                <a:ea typeface="ＭＳ Ｐゴシック" panose="020B0600070205080204" pitchFamily="34" charset="-128"/>
              </a:rPr>
              <a:t>, we cannot verify that the docs matching the above Boolean query do contain the phrase.</a:t>
            </a:r>
          </a:p>
        </p:txBody>
      </p:sp>
      <p:sp>
        <p:nvSpPr>
          <p:cNvPr id="82949" name="TextBox 4">
            <a:extLst>
              <a:ext uri="{FF2B5EF4-FFF2-40B4-BE49-F238E27FC236}">
                <a16:creationId xmlns:a16="http://schemas.microsoft.com/office/drawing/2014/main" id="{0BDE522E-5685-84E0-9374-0127EA54B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FDAADDF-080D-394C-FF9A-2C7883D8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Extended </a:t>
            </a:r>
            <a:r>
              <a:rPr lang="en-US" altLang="zh-TW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biwords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17C1FB4-6731-6AE4-599A-7E35778BA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5536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ＭＳ Ｐゴシック" panose="020B0600070205080204" pitchFamily="34" charset="-128"/>
              </a:rPr>
              <a:t> Parse the indexed text and perform part-of-speech-tagging (POST).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ＭＳ Ｐゴシック" panose="020B0600070205080204" pitchFamily="34" charset="-128"/>
              </a:rPr>
              <a:t>Bucket the terms into (say) Nouns (N) and articles/prepositions (X).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ＭＳ Ｐゴシック" panose="020B0600070205080204" pitchFamily="34" charset="-128"/>
              </a:rPr>
              <a:t>Call any string of terms of the form </a:t>
            </a:r>
            <a:r>
              <a:rPr lang="en-US" altLang="zh-TW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NX*N</a:t>
            </a:r>
            <a:r>
              <a:rPr lang="en-US" altLang="zh-TW" sz="2000" dirty="0">
                <a:ea typeface="ＭＳ Ｐゴシック" panose="020B0600070205080204" pitchFamily="34" charset="-128"/>
              </a:rPr>
              <a:t> an </a:t>
            </a:r>
            <a:r>
              <a:rPr lang="en-US" altLang="zh-TW" sz="2000" u="sng" dirty="0">
                <a:ea typeface="ＭＳ Ｐゴシック" panose="020B0600070205080204" pitchFamily="34" charset="-128"/>
              </a:rPr>
              <a:t>extended </a:t>
            </a:r>
            <a:r>
              <a:rPr lang="en-US" altLang="zh-TW" sz="2000" u="sng" dirty="0" err="1">
                <a:ea typeface="ＭＳ Ｐゴシック" panose="020B0600070205080204" pitchFamily="34" charset="-128"/>
              </a:rPr>
              <a:t>biword</a:t>
            </a:r>
            <a:r>
              <a:rPr lang="en-US" altLang="zh-TW" sz="2000" dirty="0">
                <a:ea typeface="ＭＳ Ｐゴシック" panose="020B0600070205080204" pitchFamily="34" charset="-128"/>
              </a:rPr>
              <a:t>.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Each such extended </a:t>
            </a:r>
            <a:r>
              <a:rPr lang="en-US" altLang="zh-TW" dirty="0" err="1">
                <a:solidFill>
                  <a:srgbClr val="00B050"/>
                </a:solidFill>
                <a:ea typeface="ＭＳ Ｐゴシック" panose="020B0600070205080204" pitchFamily="34" charset="-128"/>
              </a:rPr>
              <a:t>biword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is now made a term in the dictionary.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ＭＳ Ｐゴシック" panose="020B0600070205080204" pitchFamily="34" charset="-128"/>
              </a:rPr>
              <a:t>Example:  </a:t>
            </a:r>
            <a:r>
              <a:rPr lang="en-US" altLang="zh-TW" sz="2000" b="1" i="1" dirty="0">
                <a:ea typeface="ＭＳ Ｐゴシック" panose="020B0600070205080204" pitchFamily="34" charset="-128"/>
              </a:rPr>
              <a:t>catcher in the rye </a:t>
            </a:r>
            <a:r>
              <a:rPr lang="en-US" altLang="zh-TW" sz="2000" b="1" dirty="0">
                <a:ea typeface="ＭＳ Ｐゴシック" panose="020B0600070205080204" pitchFamily="34" charset="-128"/>
              </a:rPr>
              <a:t>(</a:t>
            </a:r>
            <a:r>
              <a:rPr lang="en-US" altLang="zh-TW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XX</a:t>
            </a:r>
            <a:r>
              <a:rPr lang="en-US" altLang="zh-TW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zh-TW" b="1" dirty="0">
                <a:ea typeface="ＭＳ Ｐゴシック" panose="020B0600070205080204" pitchFamily="34" charset="-128"/>
              </a:rPr>
              <a:t>)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ＭＳ Ｐゴシック" panose="020B0600070205080204" pitchFamily="34" charset="-128"/>
              </a:rPr>
              <a:t> Query processing: parse it into N’s and X’s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Segment query into enhanced </a:t>
            </a:r>
            <a:r>
              <a:rPr lang="en-US" altLang="zh-TW" dirty="0" err="1">
                <a:ea typeface="ＭＳ Ｐゴシック" panose="020B0600070205080204" pitchFamily="34" charset="-128"/>
              </a:rPr>
              <a:t>biwords</a:t>
            </a:r>
            <a:r>
              <a:rPr lang="en-US" altLang="zh-TW" dirty="0">
                <a:ea typeface="ＭＳ Ｐゴシック" panose="020B0600070205080204" pitchFamily="34" charset="-128"/>
              </a:rPr>
              <a:t> and Look up it in index.</a:t>
            </a:r>
          </a:p>
        </p:txBody>
      </p:sp>
      <p:sp>
        <p:nvSpPr>
          <p:cNvPr id="84996" name="TextBox 4">
            <a:extLst>
              <a:ext uri="{FF2B5EF4-FFF2-40B4-BE49-F238E27FC236}">
                <a16:creationId xmlns:a16="http://schemas.microsoft.com/office/drawing/2014/main" id="{521203FE-76CF-11F3-9560-B1BC4F78B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07D27306-611A-6ABA-4A58-4CE0EA8D9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90106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Solution 2: Positional indexes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6084D09-C35A-635B-0B9A-3AA354B3A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 the postings, store, for each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term </a:t>
            </a:r>
            <a:r>
              <a:rPr lang="en-US" altLang="zh-TW" dirty="0">
                <a:ea typeface="ＭＳ Ｐゴシック" panose="020B0600070205080204" pitchFamily="34" charset="-128"/>
              </a:rPr>
              <a:t>the position(s) in which tokens of it appear.</a:t>
            </a:r>
          </a:p>
          <a:p>
            <a:pPr marL="201168" lvl="1" indent="0" algn="just" eaLnBrk="1" hangingPunct="1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&lt;</a:t>
            </a:r>
            <a:r>
              <a:rPr lang="en-US" altLang="zh-TW" b="1" i="1" dirty="0">
                <a:ea typeface="ＭＳ Ｐゴシック" panose="020B0600070205080204" pitchFamily="34" charset="-128"/>
              </a:rPr>
              <a:t>term</a:t>
            </a:r>
            <a:r>
              <a:rPr lang="en-US" altLang="zh-TW" i="1" dirty="0">
                <a:ea typeface="ＭＳ Ｐゴシック" panose="020B0600070205080204" pitchFamily="34" charset="-128"/>
              </a:rPr>
              <a:t>, </a:t>
            </a:r>
            <a:r>
              <a:rPr lang="en-US" altLang="zh-TW" dirty="0">
                <a:ea typeface="ＭＳ Ｐゴシック" panose="020B0600070205080204" pitchFamily="34" charset="-128"/>
              </a:rPr>
              <a:t>number of docs containing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term</a:t>
            </a:r>
            <a:r>
              <a:rPr lang="en-US" altLang="zh-TW" dirty="0">
                <a:ea typeface="ＭＳ Ｐゴシック" panose="020B0600070205080204" pitchFamily="34" charset="-128"/>
              </a:rPr>
              <a:t>;</a:t>
            </a:r>
          </a:p>
          <a:p>
            <a:pPr marL="201168" lvl="1" indent="0" algn="just" eaLnBrk="1" hangingPunct="1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doc1</a:t>
            </a:r>
            <a:r>
              <a:rPr lang="en-US" altLang="zh-TW" dirty="0">
                <a:ea typeface="ＭＳ Ｐゴシック" panose="020B0600070205080204" pitchFamily="34" charset="-128"/>
              </a:rPr>
              <a:t>: position1, position2 … ;</a:t>
            </a:r>
          </a:p>
          <a:p>
            <a:pPr marL="201168" lvl="1" indent="0" algn="just" eaLnBrk="1" hangingPunct="1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TW" i="1" dirty="0">
                <a:ea typeface="ＭＳ Ｐゴシック" panose="020B0600070205080204" pitchFamily="34" charset="-128"/>
              </a:rPr>
              <a:t>doc2</a:t>
            </a:r>
            <a:r>
              <a:rPr lang="en-US" altLang="zh-TW" dirty="0">
                <a:ea typeface="ＭＳ Ｐゴシック" panose="020B0600070205080204" pitchFamily="34" charset="-128"/>
              </a:rPr>
              <a:t>: position1, position2 … ;</a:t>
            </a:r>
          </a:p>
          <a:p>
            <a:pPr marL="201168" lvl="1" indent="0" algn="just" eaLnBrk="1" hangingPunct="1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etc.&gt;</a:t>
            </a:r>
          </a:p>
        </p:txBody>
      </p:sp>
      <p:sp>
        <p:nvSpPr>
          <p:cNvPr id="89092" name="TextBox 4">
            <a:extLst>
              <a:ext uri="{FF2B5EF4-FFF2-40B4-BE49-F238E27FC236}">
                <a16:creationId xmlns:a16="http://schemas.microsoft.com/office/drawing/2014/main" id="{58871E69-987F-8770-4120-FECE9BC4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6BD71F9-AD4F-937D-1626-0834EB663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7494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Positional index example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06612224-D6D2-8327-6A9D-B2EE8413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19600"/>
            <a:ext cx="7772400" cy="22098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For phrase queries, we use a merge algorithm recursively at the document level</a:t>
            </a:r>
          </a:p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But we now need to deal with more than just equality</a:t>
            </a:r>
          </a:p>
        </p:txBody>
      </p:sp>
      <p:sp>
        <p:nvSpPr>
          <p:cNvPr id="91140" name="Text Box 4">
            <a:extLst>
              <a:ext uri="{FF2B5EF4-FFF2-40B4-BE49-F238E27FC236}">
                <a16:creationId xmlns:a16="http://schemas.microsoft.com/office/drawing/2014/main" id="{8CFACE95-3AC2-F4CB-6FFC-A10F79C1F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905001"/>
            <a:ext cx="5410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</a:rPr>
              <a:t>&lt;</a:t>
            </a:r>
            <a:r>
              <a:rPr lang="en-US" altLang="zh-TW" b="1" i="1" dirty="0">
                <a:latin typeface="Times New Roman" panose="02020603050405020304" pitchFamily="18" charset="0"/>
                <a:ea typeface="Arial Unicode MS" pitchFamily="34" charset="-128"/>
              </a:rPr>
              <a:t>be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</a:rPr>
              <a:t>: 993427;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i="1" dirty="0">
                <a:solidFill>
                  <a:srgbClr val="A40508"/>
                </a:solidFill>
                <a:latin typeface="Times New Roman" panose="02020603050405020304" pitchFamily="18" charset="0"/>
                <a:ea typeface="Arial Unicode MS" pitchFamily="34" charset="-128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</a:rPr>
              <a:t>: 7, 18, 33, 72, 86, 231;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i="1" dirty="0">
                <a:solidFill>
                  <a:srgbClr val="A40508"/>
                </a:solidFill>
                <a:latin typeface="Times New Roman" panose="02020603050405020304" pitchFamily="18" charset="0"/>
                <a:ea typeface="Arial Unicode MS" pitchFamily="34" charset="-128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</a:rPr>
              <a:t>: 3, 149;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i="1" dirty="0">
                <a:solidFill>
                  <a:srgbClr val="A40508"/>
                </a:solidFill>
                <a:latin typeface="Times New Roman" panose="02020603050405020304" pitchFamily="18" charset="0"/>
                <a:ea typeface="Arial Unicode MS" pitchFamily="34" charset="-128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</a:rPr>
              <a:t>: 17, 191, 291, 430, 434;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i="1" dirty="0">
                <a:solidFill>
                  <a:srgbClr val="A40508"/>
                </a:solidFill>
                <a:latin typeface="Times New Roman" panose="02020603050405020304" pitchFamily="18" charset="0"/>
                <a:ea typeface="Arial Unicode MS" pitchFamily="34" charset="-128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ea typeface="Arial Unicode MS" pitchFamily="34" charset="-128"/>
              </a:rPr>
              <a:t>: 363, 367, …&gt;</a:t>
            </a:r>
          </a:p>
        </p:txBody>
      </p:sp>
      <p:sp>
        <p:nvSpPr>
          <p:cNvPr id="91141" name="AutoShape 5">
            <a:extLst>
              <a:ext uri="{FF2B5EF4-FFF2-40B4-BE49-F238E27FC236}">
                <a16:creationId xmlns:a16="http://schemas.microsoft.com/office/drawing/2014/main" id="{7F054C77-5BC5-4333-91F5-E86B56BF5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1" y="2438400"/>
            <a:ext cx="4113213" cy="1371600"/>
          </a:xfrm>
          <a:prstGeom prst="leftArrowCallout">
            <a:avLst>
              <a:gd name="adj1" fmla="val 25000"/>
              <a:gd name="adj2" fmla="val 25000"/>
              <a:gd name="adj3" fmla="val 49981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Arial Unicode MS" pitchFamily="34" charset="-128"/>
              </a:rPr>
              <a:t>Which of docs </a:t>
            </a:r>
            <a:r>
              <a:rPr lang="en-US" altLang="zh-TW" sz="2400">
                <a:solidFill>
                  <a:srgbClr val="A40508"/>
                </a:solidFill>
                <a:latin typeface="Times New Roman" panose="02020603050405020304" pitchFamily="18" charset="0"/>
                <a:ea typeface="Arial Unicode MS" pitchFamily="34" charset="-128"/>
              </a:rPr>
              <a:t>1,2,4,5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Times New Roman" panose="02020603050405020304" pitchFamily="18" charset="0"/>
                <a:ea typeface="Arial Unicode MS" pitchFamily="34" charset="-128"/>
              </a:rPr>
              <a:t>could contain “</a:t>
            </a:r>
            <a:r>
              <a:rPr lang="en-US" altLang="zh-TW" sz="2400" b="1" i="1">
                <a:latin typeface="Times New Roman" panose="02020603050405020304" pitchFamily="18" charset="0"/>
                <a:ea typeface="Arial Unicode MS" pitchFamily="34" charset="-128"/>
              </a:rPr>
              <a:t>to be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TW" sz="2400" b="1" i="1">
                <a:latin typeface="Times New Roman" panose="02020603050405020304" pitchFamily="18" charset="0"/>
                <a:ea typeface="Arial Unicode MS" pitchFamily="34" charset="-128"/>
              </a:rPr>
              <a:t>or not to be</a:t>
            </a:r>
            <a:r>
              <a:rPr lang="en-US" altLang="zh-TW" sz="2400">
                <a:latin typeface="Times New Roman" panose="02020603050405020304" pitchFamily="18" charset="0"/>
                <a:ea typeface="Arial Unicode MS" pitchFamily="34" charset="-128"/>
              </a:rPr>
              <a:t>”?</a:t>
            </a:r>
          </a:p>
        </p:txBody>
      </p:sp>
      <p:sp>
        <p:nvSpPr>
          <p:cNvPr id="91142" name="TextBox 4">
            <a:extLst>
              <a:ext uri="{FF2B5EF4-FFF2-40B4-BE49-F238E27FC236}">
                <a16:creationId xmlns:a16="http://schemas.microsoft.com/office/drawing/2014/main" id="{F485CCEB-0F09-D73C-9899-71400C833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03C72AD7-D1D5-C928-7A19-376EB23F6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Processing a phrase query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D46CDD4-18B8-D297-B095-F37AA0EA9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Extract inverted index entries for each distinct term: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to, be, or, not.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Merge their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doc:position</a:t>
            </a:r>
            <a:r>
              <a:rPr lang="en-US" altLang="zh-TW" dirty="0">
                <a:ea typeface="ＭＳ Ｐゴシック" panose="020B0600070205080204" pitchFamily="34" charset="-128"/>
              </a:rPr>
              <a:t> lists to enumerate all positions with “</a:t>
            </a:r>
            <a:r>
              <a:rPr lang="en-US" altLang="zh-TW" b="1" i="1" dirty="0">
                <a:ea typeface="ＭＳ Ｐゴシック" panose="020B0600070205080204" pitchFamily="34" charset="-128"/>
              </a:rPr>
              <a:t>to be or not to be</a:t>
            </a:r>
            <a:r>
              <a:rPr lang="en-US" altLang="zh-TW" dirty="0">
                <a:ea typeface="ＭＳ Ｐゴシック" panose="020B0600070205080204" pitchFamily="34" charset="-128"/>
              </a:rPr>
              <a:t>”.</a:t>
            </a:r>
          </a:p>
          <a:p>
            <a:pPr lvl="1" algn="just" eaLnBrk="1" hangingPunct="1">
              <a:lnSpc>
                <a:spcPct val="130000"/>
              </a:lnSpc>
              <a:spcBef>
                <a:spcPct val="5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to</a:t>
            </a:r>
            <a:r>
              <a:rPr lang="en-US" altLang="zh-TW" i="1" dirty="0">
                <a:ea typeface="ＭＳ Ｐゴシック" panose="020B0600070205080204" pitchFamily="34" charset="-128"/>
              </a:rPr>
              <a:t>: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2</a:t>
            </a:r>
            <a:r>
              <a:rPr lang="en-US" altLang="zh-TW" sz="2400" dirty="0">
                <a:ea typeface="ＭＳ Ｐゴシック" panose="020B0600070205080204" pitchFamily="34" charset="-128"/>
              </a:rPr>
              <a:t>:1,17,74,222,551;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i="1" dirty="0">
                <a:solidFill>
                  <a:srgbClr val="990033"/>
                </a:solidFill>
                <a:ea typeface="ＭＳ Ｐゴシック" panose="020B0600070205080204" pitchFamily="34" charset="-128"/>
              </a:rPr>
              <a:t>4</a:t>
            </a:r>
            <a:r>
              <a:rPr lang="en-US" altLang="zh-TW" sz="2400" dirty="0">
                <a:solidFill>
                  <a:srgbClr val="990033"/>
                </a:solidFill>
                <a:ea typeface="ＭＳ Ｐゴシック" panose="020B0600070205080204" pitchFamily="34" charset="-128"/>
              </a:rPr>
              <a:t>:8,16,190,429,433;</a:t>
            </a:r>
            <a:r>
              <a:rPr lang="en-US" altLang="zh-TW" sz="2400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7</a:t>
            </a:r>
            <a:r>
              <a:rPr lang="en-US" altLang="zh-TW" sz="2400" dirty="0">
                <a:ea typeface="ＭＳ Ｐゴシック" panose="020B0600070205080204" pitchFamily="34" charset="-128"/>
              </a:rPr>
              <a:t>:13,23,191; ...</a:t>
            </a:r>
          </a:p>
          <a:p>
            <a:pPr lvl="1" algn="just" eaLnBrk="1" hangingPunct="1">
              <a:lnSpc>
                <a:spcPct val="130000"/>
              </a:lnSpc>
              <a:spcBef>
                <a:spcPct val="5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be: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1</a:t>
            </a:r>
            <a:r>
              <a:rPr lang="en-US" altLang="zh-TW" sz="2400" dirty="0">
                <a:ea typeface="ＭＳ Ｐゴシック" panose="020B0600070205080204" pitchFamily="34" charset="-128"/>
              </a:rPr>
              <a:t>:17,19; </a:t>
            </a:r>
            <a:r>
              <a:rPr lang="en-US" altLang="zh-TW" sz="2400" i="1" dirty="0">
                <a:solidFill>
                  <a:srgbClr val="990033"/>
                </a:solidFill>
                <a:ea typeface="ＭＳ Ｐゴシック" panose="020B0600070205080204" pitchFamily="34" charset="-128"/>
              </a:rPr>
              <a:t>4</a:t>
            </a:r>
            <a:r>
              <a:rPr lang="en-US" altLang="zh-TW" sz="2400" dirty="0">
                <a:solidFill>
                  <a:srgbClr val="990033"/>
                </a:solidFill>
                <a:ea typeface="ＭＳ Ｐゴシック" panose="020B0600070205080204" pitchFamily="34" charset="-128"/>
              </a:rPr>
              <a:t>:17,191,291,430,434;</a:t>
            </a:r>
            <a:r>
              <a:rPr lang="en-US" altLang="zh-TW" sz="2400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5</a:t>
            </a:r>
            <a:r>
              <a:rPr lang="en-US" altLang="zh-TW" sz="2400" dirty="0">
                <a:ea typeface="ＭＳ Ｐゴシック" panose="020B0600070205080204" pitchFamily="34" charset="-128"/>
              </a:rPr>
              <a:t>:14,19,101; ...</a:t>
            </a:r>
          </a:p>
          <a:p>
            <a:pPr algn="just" eaLnBrk="1" hangingPunct="1">
              <a:lnSpc>
                <a:spcPct val="130000"/>
              </a:lnSpc>
              <a:spcBef>
                <a:spcPct val="5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Same general method for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proximity searches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  <a:endParaRPr lang="en-US" altLang="zh-TW" b="1" i="1" dirty="0">
              <a:ea typeface="ＭＳ Ｐゴシック" panose="020B0600070205080204" pitchFamily="34" charset="-128"/>
            </a:endParaRPr>
          </a:p>
        </p:txBody>
      </p:sp>
      <p:sp>
        <p:nvSpPr>
          <p:cNvPr id="93188" name="TextBox 4">
            <a:extLst>
              <a:ext uri="{FF2B5EF4-FFF2-40B4-BE49-F238E27FC236}">
                <a16:creationId xmlns:a16="http://schemas.microsoft.com/office/drawing/2014/main" id="{C52F43F3-6776-4422-F637-069B50EE8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29AD2233-97B0-F256-1A1A-18AF068DD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Proximity queries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92FD1A45-2ACD-F0C0-9B18-9FA0F67ED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2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 LIMIT! /3 STATUTE /3 FEDERAL /2 TORT 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cs typeface="Arial" panose="020B0604020202020204" pitchFamily="34" charset="0"/>
              </a:rPr>
              <a:t>Again, here, /</a:t>
            </a:r>
            <a:r>
              <a:rPr lang="en-US" altLang="zh-TW" i="1" dirty="0"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  <a:cs typeface="Arial" panose="020B0604020202020204" pitchFamily="34" charset="0"/>
              </a:rPr>
              <a:t> means “within </a:t>
            </a:r>
            <a:r>
              <a:rPr lang="en-US" altLang="zh-TW" i="1" dirty="0"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  <a:cs typeface="Arial" panose="020B0604020202020204" pitchFamily="34" charset="0"/>
              </a:rPr>
              <a:t> words of”.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  <a:cs typeface="Arial" panose="020B0604020202020204" pitchFamily="34" charset="0"/>
              </a:rPr>
              <a:t> Clearly, positional indexes can be used for such queries; </a:t>
            </a:r>
            <a:r>
              <a:rPr lang="en-US" altLang="zh-TW" i="1" dirty="0" err="1">
                <a:solidFill>
                  <a:srgbClr val="00B05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biword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 indexes cannot</a:t>
            </a:r>
            <a:r>
              <a:rPr lang="en-US" altLang="zh-TW" dirty="0"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5236" name="TextBox 4">
            <a:extLst>
              <a:ext uri="{FF2B5EF4-FFF2-40B4-BE49-F238E27FC236}">
                <a16:creationId xmlns:a16="http://schemas.microsoft.com/office/drawing/2014/main" id="{8453C519-B1AF-810E-1518-BCA070390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1DF00006-EFD0-DFB1-EAC2-0A09CDB8F2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7280" y="286604"/>
            <a:ext cx="10058400" cy="73290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Proximity intersection</a:t>
            </a:r>
          </a:p>
        </p:txBody>
      </p:sp>
      <p:pic>
        <p:nvPicPr>
          <p:cNvPr id="97283" name="Picture 7" descr="259.png">
            <a:extLst>
              <a:ext uri="{FF2B5EF4-FFF2-40B4-BE49-F238E27FC236}">
                <a16:creationId xmlns:a16="http://schemas.microsoft.com/office/drawing/2014/main" id="{0A84D7FA-FB19-6606-5399-F68F4A87E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844" y="1486174"/>
            <a:ext cx="4786312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468417A9-F86C-1629-05AB-E5F9DEE4F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88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Positional index size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4CD29ED-6138-4BA8-C450-E88003E93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419600"/>
            <a:ext cx="7772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A50021"/>
              </a:buClr>
              <a:buSzPct val="60000"/>
              <a:buFont typeface="Wingdings" panose="05000000000000000000" pitchFamily="2" charset="2"/>
              <a:buChar char="n"/>
            </a:pPr>
            <a:endParaRPr lang="zh-TW" altLang="en-US" sz="26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3B334B5A-1C6D-CC1E-85EA-BD298AAD6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positional index expands postings storage </a:t>
            </a:r>
            <a:r>
              <a:rPr lang="en-US" altLang="zh-TW" i="1" dirty="0">
                <a:ea typeface="ＭＳ Ｐゴシック" panose="020B0600070205080204" pitchFamily="34" charset="-128"/>
              </a:rPr>
              <a:t>substantially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Nevertheless, a positional index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is now standardly used</a:t>
            </a:r>
            <a:r>
              <a:rPr lang="en-US" altLang="zh-TW" dirty="0">
                <a:ea typeface="ＭＳ Ｐゴシック" panose="020B0600070205080204" pitchFamily="34" charset="-128"/>
              </a:rPr>
              <a:t> because of the power and usefulness of phrase and proximity queries … whether used explicitly or implicitly in a ranking retrieval system.</a:t>
            </a:r>
          </a:p>
        </p:txBody>
      </p:sp>
      <p:sp>
        <p:nvSpPr>
          <p:cNvPr id="99333" name="TextBox 4">
            <a:extLst>
              <a:ext uri="{FF2B5EF4-FFF2-40B4-BE49-F238E27FC236}">
                <a16:creationId xmlns:a16="http://schemas.microsoft.com/office/drawing/2014/main" id="{280013B7-0377-311A-3276-0EBD67908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1163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2.4.2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770</TotalTime>
  <Words>1778</Words>
  <Application>Microsoft Office PowerPoint</Application>
  <PresentationFormat>Widescreen</PresentationFormat>
  <Paragraphs>264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ＭＳ Ｐゴシック</vt:lpstr>
      <vt:lpstr>Arial</vt:lpstr>
      <vt:lpstr>Calibri</vt:lpstr>
      <vt:lpstr>Calibri Light</vt:lpstr>
      <vt:lpstr>Courier New</vt:lpstr>
      <vt:lpstr>Lucida Sans</vt:lpstr>
      <vt:lpstr>Symbol</vt:lpstr>
      <vt:lpstr>Times New Roman</vt:lpstr>
      <vt:lpstr>Wingdings</vt:lpstr>
      <vt:lpstr>Retrospect</vt:lpstr>
      <vt:lpstr>Information Retrieval</vt:lpstr>
      <vt:lpstr>Parsing a document</vt:lpstr>
      <vt:lpstr>Complications: Format/language</vt:lpstr>
      <vt:lpstr>Tokenization</vt:lpstr>
      <vt:lpstr>Tokenization</vt:lpstr>
      <vt:lpstr>Numbers</vt:lpstr>
      <vt:lpstr>Tokenization: language issues</vt:lpstr>
      <vt:lpstr>Stop words</vt:lpstr>
      <vt:lpstr>Normalization to terms</vt:lpstr>
      <vt:lpstr>Case folding</vt:lpstr>
      <vt:lpstr>Thesauri and soundex</vt:lpstr>
      <vt:lpstr>Lemmatization</vt:lpstr>
      <vt:lpstr>Stemming</vt:lpstr>
      <vt:lpstr>Faster postings merges: Skip pointers/Skip lists</vt:lpstr>
      <vt:lpstr>Recall basic merge</vt:lpstr>
      <vt:lpstr>Augment postings with skip pointers (at indexing time)</vt:lpstr>
      <vt:lpstr>Query processing with skip pointers</vt:lpstr>
      <vt:lpstr>Postings lists intersection with skip pointers</vt:lpstr>
      <vt:lpstr>Where do we place skips?</vt:lpstr>
      <vt:lpstr>Placing skips</vt:lpstr>
      <vt:lpstr>Phrase queries and positional indexes</vt:lpstr>
      <vt:lpstr>Phrase queries</vt:lpstr>
      <vt:lpstr>A first attempt: Biword indexes</vt:lpstr>
      <vt:lpstr>Longer phrase queries</vt:lpstr>
      <vt:lpstr>Extended biwords</vt:lpstr>
      <vt:lpstr>Solution 2: Positional indexes</vt:lpstr>
      <vt:lpstr>Positional index example</vt:lpstr>
      <vt:lpstr>Processing a phrase query</vt:lpstr>
      <vt:lpstr>Proximity queries</vt:lpstr>
      <vt:lpstr>Proximity intersection</vt:lpstr>
      <vt:lpstr>Positional index size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Web  and Data Mining</dc:title>
  <dc:creator>Quoc Dinh Truong</dc:creator>
  <cp:lastModifiedBy>Quoc Dinh Truong</cp:lastModifiedBy>
  <cp:revision>170</cp:revision>
  <dcterms:created xsi:type="dcterms:W3CDTF">2019-10-28T15:55:27Z</dcterms:created>
  <dcterms:modified xsi:type="dcterms:W3CDTF">2026-02-25T08:59:07Z</dcterms:modified>
</cp:coreProperties>
</file>